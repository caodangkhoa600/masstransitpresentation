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74" r:id="rId2"/>
  </p:sldMasterIdLst>
  <p:notesMasterIdLst>
    <p:notesMasterId r:id="rId43"/>
  </p:notesMasterIdLst>
  <p:sldIdLst>
    <p:sldId id="291" r:id="rId3"/>
    <p:sldId id="258" r:id="rId4"/>
    <p:sldId id="259" r:id="rId5"/>
    <p:sldId id="260" r:id="rId6"/>
    <p:sldId id="261" r:id="rId7"/>
    <p:sldId id="279" r:id="rId8"/>
    <p:sldId id="319" r:id="rId9"/>
    <p:sldId id="322" r:id="rId10"/>
    <p:sldId id="323" r:id="rId11"/>
    <p:sldId id="324" r:id="rId12"/>
    <p:sldId id="341" r:id="rId13"/>
    <p:sldId id="337" r:id="rId14"/>
    <p:sldId id="342" r:id="rId15"/>
    <p:sldId id="343" r:id="rId16"/>
    <p:sldId id="344" r:id="rId17"/>
    <p:sldId id="346" r:id="rId18"/>
    <p:sldId id="357" r:id="rId19"/>
    <p:sldId id="352" r:id="rId20"/>
    <p:sldId id="353" r:id="rId21"/>
    <p:sldId id="354" r:id="rId22"/>
    <p:sldId id="274" r:id="rId23"/>
    <p:sldId id="266" r:id="rId24"/>
    <p:sldId id="275" r:id="rId25"/>
    <p:sldId id="273" r:id="rId26"/>
    <p:sldId id="269" r:id="rId27"/>
    <p:sldId id="288" r:id="rId28"/>
    <p:sldId id="314" r:id="rId29"/>
    <p:sldId id="312" r:id="rId30"/>
    <p:sldId id="304" r:id="rId31"/>
    <p:sldId id="294" r:id="rId32"/>
    <p:sldId id="315" r:id="rId33"/>
    <p:sldId id="306" r:id="rId34"/>
    <p:sldId id="307" r:id="rId35"/>
    <p:sldId id="308" r:id="rId36"/>
    <p:sldId id="309" r:id="rId37"/>
    <p:sldId id="316" r:id="rId38"/>
    <p:sldId id="270" r:id="rId39"/>
    <p:sldId id="267" r:id="rId40"/>
    <p:sldId id="317" r:id="rId41"/>
    <p:sldId id="277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631C5A-1C44-43A2-8CD5-DBA9B3FCE99E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BEA256-5092-482B-BA31-42FEE81CA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92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325A1-5BD9-F6F5-D460-599F4791A8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EBBFE0-1714-6A9D-A9C5-C2092BFF7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B7958-E529-798D-8486-42684668F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CAC81-5008-C6BE-10A0-18BB380F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5D559-CCD5-8891-301B-D8738213A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77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C4A0-0414-4C44-9771-01079C76D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D5D2A-2792-82CB-6B14-963E4D273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66557-6780-FF91-1E61-1EA98D914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22F69-7F2A-3735-32FD-0DDDCD7AB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801A6-69FF-5FAB-78DA-3A45A9EE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046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00E86-533F-07E7-1263-2E77A8038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ADA4B-D66F-067B-0902-97CB05676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9571A-9AB2-080C-2F87-68E31DBD1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2EA96-4269-9ECE-B7B1-031110D7F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EE299-D356-0B26-B45D-22DE3707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4FF73-C83A-0EC4-17CA-95EB8735E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53B88-1C4E-DAC5-8D4C-68A225FF0B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862FAB-C7CD-49B8-59F1-9E2E8072C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87227E-8197-45DB-A11D-42ABBAC09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8125E1-2F24-7D04-5E7D-8A78ED4AB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A498D-2AD3-5A6D-86FD-6CC972175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596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4F059-3D98-5103-116A-2451D88AB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7602E-AF4E-2744-2E50-1CE747691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064FF-C24D-E80E-2862-AF4D3C2DF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AAC92D-73C2-45BB-F647-7EFE91CD05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5FB71-CA79-8A85-1D3C-C2EFB78A62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66DD43-998A-EFB8-DA3A-4606C4E76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94DAD6-B7B5-2590-D701-1F03590B7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66CF48-53F5-1058-2A96-8CF11E3F8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09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04F32-F4DC-E25C-F6E1-2EB58A6FA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78FFF6-3A45-46A3-5F95-29D075A90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FFB6AA-DE82-1916-CBDF-061672233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BB0C9D-6D29-C1B8-F6AD-B12DB22A8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650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0B7F5-FFEF-5FEB-009C-E5B10ACA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AC706-7731-9DD1-CCB4-2A395B487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C94BEF-2BDF-BB05-6B64-3FA66E7C1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AB7CD-DE94-4C81-EC05-D478297E3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294663-6804-ED8C-45F7-CB4BC22B0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9ADDCB-923B-278C-C22F-09A50B25B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64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A61ED-C343-9165-D82C-0EDF66EDE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896B6D-45E3-9A66-9A0C-1FAEA7A98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C01A16-F9B5-1FCA-2664-D6E1521E94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2B18AC-417A-820F-91C3-BA3B2EC70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C2AF18-EF7C-E648-F7D3-A5FC0770D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82E83-5EAB-C0BC-073E-9B924FE89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04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62B28-1127-C4B2-731D-24FECD9EF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0CDBFB-514E-A5D8-DC39-92CCF2ECBD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56B21-F43A-E4E9-F2CB-01F5DA317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320B9E-228C-C829-1993-42C36CDEF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8AD62-1BBC-3F92-9C1F-15D10EA60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658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7E8294-F920-8376-ED42-2B97BFF70B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DD5FE-256A-DF00-01FD-4B1FCD260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20FDCB-2C47-5758-C703-737A8C8D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11F9A-4262-6252-DF94-CA118BFD9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C56C1-D96B-010B-82B7-BC6EF1F94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158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4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0EF082-4CB7-FBD0-C331-DDAE1C8DB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5E7F1-5D27-52AC-BF58-8A5209FC9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2DB72-0AF5-073A-7220-904E46218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A76FC4-8E05-4A38-8859-27ED204A1698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18BC8-B5E7-F537-F09E-E107305DE2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2157C-12B3-306D-FDB5-001491B91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BB3FE-6D66-4514-AF32-8D419E46FA06}" type="slidenum">
              <a:rPr lang="en-US" smtClean="0"/>
              <a:t>‹#›</a:t>
            </a:fld>
            <a:endParaRPr lang="en-US"/>
          </a:p>
        </p:txBody>
      </p:sp>
      <p:sp>
        <p:nvSpPr>
          <p:cNvPr id="901" name="AccentBar"/>
          <p:cNvSpPr>
            <a:spLocks noGrp="1"/>
          </p:cNvSpPr>
          <p:nvPr>
            <p:ph type="body" sz="quarter" idx="1"/>
          </p:nvPr>
        </p:nvSpPr>
        <p:spPr>
          <a:xfrm>
            <a:off x="0" y="6096000"/>
            <a:ext cx="9144000" cy="57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2" name="LeftStrip"/>
          <p:cNvSpPr>
            <a:spLocks noGrp="1"/>
          </p:cNvSpPr>
          <p:nvPr/>
        </p:nvSpPr>
        <p:spPr>
          <a:xfrm>
            <a:off x="0" y="0"/>
            <a:ext cx="2880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3074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8" r:id="rId7"/>
    <p:sldLayoutId id="2147483669" r:id="rId8"/>
    <p:sldLayoutId id="2147483670" r:id="rId9"/>
    <p:sldLayoutId id="2147483671" r:id="rId10"/>
    <p:sldLayoutId id="21474836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8EDF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B0BEC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3" name="Shape 1"/>
          <p:cNvSpPr/>
          <p:nvPr/>
        </p:nvSpPr>
        <p:spPr>
          <a:xfrm>
            <a:off x="609600" y="0"/>
            <a:ext cx="115824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8778240" y="3657600"/>
            <a:ext cx="4876800" cy="4876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5" name="Shape 3"/>
          <p:cNvSpPr/>
          <p:nvPr/>
        </p:nvSpPr>
        <p:spPr>
          <a:xfrm>
            <a:off x="10363200" y="-975360"/>
            <a:ext cx="3413760" cy="3413760"/>
          </a:xfrm>
          <a:prstGeom prst="ellipse">
            <a:avLst/>
          </a:prstGeom>
          <a:solidFill>
            <a:srgbClr val="2DD4BF">
              <a:alpha val="1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6" name="Shape 4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7" name="Text 5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0F172A"/>
                </a:solidFill>
              </a:rPr>
              <a:t>DEVELOPER TRAINING</a:t>
            </a:r>
          </a:p>
        </p:txBody>
      </p:sp>
      <p:sp>
        <p:nvSpPr>
          <p:cNvPr id="8" name="Text 6"/>
          <p:cNvSpPr/>
          <p:nvPr/>
        </p:nvSpPr>
        <p:spPr>
          <a:xfrm>
            <a:off x="975360" y="1682496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RabbitMQ &amp;</a:t>
            </a:r>
          </a:p>
        </p:txBody>
      </p:sp>
      <p:sp>
        <p:nvSpPr>
          <p:cNvPr id="9" name="Text 7"/>
          <p:cNvSpPr/>
          <p:nvPr/>
        </p:nvSpPr>
        <p:spPr>
          <a:xfrm>
            <a:off x="975360" y="2499360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MassTransit</a:t>
            </a:r>
          </a:p>
        </p:txBody>
      </p:sp>
      <p:sp>
        <p:nvSpPr>
          <p:cNvPr id="10" name="Text 8"/>
          <p:cNvSpPr/>
          <p:nvPr/>
        </p:nvSpPr>
        <p:spPr>
          <a:xfrm>
            <a:off x="975360" y="3316224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2DD4BF"/>
                </a:solidFill>
                <a:latin typeface="Calibri" pitchFamily="34" charset="0"/>
              </a:rPr>
              <a:t>Deep Dive</a:t>
            </a:r>
          </a:p>
        </p:txBody>
      </p:sp>
      <p:sp>
        <p:nvSpPr>
          <p:cNvPr id="11" name="Text 9"/>
          <p:cNvSpPr/>
          <p:nvPr/>
        </p:nvSpPr>
        <p:spPr>
          <a:xfrm>
            <a:off x="975360" y="4328160"/>
            <a:ext cx="9753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dirty="0">
                <a:solidFill>
                  <a:srgbClr val="94A3B8"/>
                </a:solidFill>
              </a:rPr>
              <a:t>Message Brokers · Event-Driven Architecture · .NET Integration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975360" y="4974336"/>
            <a:ext cx="7315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975360" y="5145024"/>
            <a:ext cx="975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64748B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80807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764F-4671-96A7-B14E-C2CAD292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7129C-CD9E-BC75-FAE0-B8A5E1829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What is </a:t>
            </a:r>
            <a:r>
              <a:rPr lang="en-US" sz="1800" dirty="0" err="1"/>
              <a:t>MassTransit</a:t>
            </a:r>
            <a:r>
              <a:rPr lang="en-US" sz="1800" dirty="0"/>
              <a:t>?
RabbitMQ Overview &amp; Architecture
Messages &amp; Contracts
Producers &amp; Consumers
RabbitMQ Topology
Message Patterns (Send / Publish / Request-Response)
Reliability: Retries, Redelivery &amp; Outbox
Sagas &amp; State Machines
Configuration &amp; Setup
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40130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BFB17-5577-7ECA-8B4E-4A1C0BCF8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What is MassTransit?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F0408-26D6-8613-5700-C5DAFB4F5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Distributed application framework for .NET
Abstracts message broker complexity — RabbitMQ, Azure Service Bus, Amazon SQS, ActiveMQ, SQL
Defines a consistent programming model across transports
More than an abstraction — it defines operational patterns:
     Retries &amp; delayed redelivery
     Outbox for at-least-once delivery
     Scheduling, workflows, unit test harness
Battle-tested: 15+ years, most popular .NET messaging framework
v9 (</a:t>
            </a:r>
            <a:r>
              <a:rPr lang="en-US" sz="1600" dirty="0" err="1"/>
              <a:t>Massient</a:t>
            </a:r>
            <a:r>
              <a:rPr lang="en-US" sz="1600" dirty="0"/>
              <a:t>): commercial product with full support</a:t>
            </a:r>
          </a:p>
        </p:txBody>
      </p:sp>
    </p:spTree>
    <p:extLst>
      <p:ext uri="{BB962C8B-B14F-4D97-AF65-F5344CB8AC3E}">
        <p14:creationId xmlns:p14="http://schemas.microsoft.com/office/powerpoint/2010/main" val="2583840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0B112-3FA7-A26A-8BB3-63BE80613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RabbitMQ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5CA21-F0EC-184A-5A65-4100416D2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/>
              <a:t>Open-source message broker implementing AMQP
Lightweight — runs on-premises or in the cloud
High availability: distributed &amp; federated configurations
Key features:
     Exchanges — routing agents directing messages to queues
     Queues — durable storage for incoming messages
     Bindings — rules linking exchanges to queues
     Plugins — management UI, delayed exchange, federation
Management UI at http://localhost:15672 (guest / guest)
MassTransit fully supports RabbitMQ including advanced features</a:t>
            </a:r>
          </a:p>
        </p:txBody>
      </p:sp>
    </p:spTree>
    <p:extLst>
      <p:ext uri="{BB962C8B-B14F-4D97-AF65-F5344CB8AC3E}">
        <p14:creationId xmlns:p14="http://schemas.microsoft.com/office/powerpoint/2010/main" val="867693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77A30-D4E3-DABF-99BA-EC5089000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Messages &amp; Contracts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21F6C-1F06-6973-4CA5-D31E3C8D6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message is a contract — defined as a .NET class or interface
Contracts define stable ports between services; implementations evolve independently
Two primary message types:
     Commands — tell a service to do something (verb-noun: </a:t>
            </a:r>
            <a:r>
              <a:rPr lang="en-US" sz="1600" dirty="0" err="1"/>
              <a:t>SubmitOrder</a:t>
            </a:r>
            <a:r>
              <a:rPr lang="en-US" sz="1600" dirty="0"/>
              <a:t>, </a:t>
            </a:r>
            <a:r>
              <a:rPr lang="en-US" sz="1600" dirty="0" err="1"/>
              <a:t>ProcessPayment</a:t>
            </a:r>
            <a:r>
              <a:rPr lang="en-US" sz="1600" dirty="0"/>
              <a:t>)
               → sent to a specific endpoint (queue)
     Events — signal that something happened (</a:t>
            </a:r>
            <a:r>
              <a:rPr lang="en-US" sz="1600" dirty="0" err="1"/>
              <a:t>OrderSubmitted</a:t>
            </a:r>
            <a:r>
              <a:rPr lang="en-US" sz="1600" dirty="0"/>
              <a:t>, </a:t>
            </a:r>
            <a:r>
              <a:rPr lang="en-US" sz="1600" dirty="0" err="1"/>
              <a:t>PaymentProcessed</a:t>
            </a:r>
            <a:r>
              <a:rPr lang="en-US" sz="1600" dirty="0"/>
              <a:t>)
               → published to all interested consumers
Keep message contracts in a shared assembly for consistency
Messages are serialized (JSON by default) and routed by </a:t>
            </a:r>
            <a:r>
              <a:rPr lang="en-US" sz="1600" dirty="0" err="1"/>
              <a:t>MassTransit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8625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64C72-59F2-71BF-A678-F3E9C3FE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Producers &amp; Consumers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D206-9A1A-D280-7630-9E34B4D6DF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Producer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Sends or publishes messages via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IBus</a:t>
            </a:r>
            <a:r>
              <a:rPr lang="en-US" sz="1400" dirty="0">
                <a:solidFill>
                  <a:srgbClr val="B0BEC5"/>
                </a:solidFill>
              </a:rPr>
              <a:t> or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IPublishEndpoint</a:t>
            </a:r>
          </a:p>
          <a:p>
            <a:pPr>
              <a:spcBef>
                <a:spcPts val="6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bus.Publish&lt;OrderSubmitted&gt;(new { });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endpoint.Send&lt;SubmitOrder&gt;(new { });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Decoupled from consumers — does not know who handles the message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Messages are buffered before sending for higher throughput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E5086-3562-015D-A1EC-7EDC9D44C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778000"/>
            <a:ext cx="5181600" cy="4699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Consumer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Implements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IConsumer&lt;TMessage&gt;</a:t>
            </a:r>
          </a:p>
          <a:p>
            <a:pPr>
              <a:spcBef>
                <a:spcPts val="600"/>
              </a:spcBef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public class OrderConsumer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: IConsumer&lt;SubmitOrder&gt;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{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public async Task Consume(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  ConsumeContext&lt;SubmitOrder&gt; ctx)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{  </a:t>
            </a:r>
            <a:r>
              <a:rPr lang="en-US" sz="1200" dirty="0">
                <a:solidFill>
                  <a:srgbClr val="F7B731"/>
                </a:solidFill>
                <a:latin typeface="Cascadia Code"/>
              </a:rPr>
              <a:t>// handle message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 }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}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Registered via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AddConsumer&lt;T&gt;()</a:t>
            </a:r>
          </a:p>
          <a:p>
            <a:pPr>
              <a:spcBef>
                <a:spcPts val="2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MassTransit handles concurrency, retries, and error routing</a:t>
            </a:r>
          </a:p>
        </p:txBody>
      </p:sp>
    </p:spTree>
    <p:extLst>
      <p:ext uri="{BB962C8B-B14F-4D97-AF65-F5344CB8AC3E}">
        <p14:creationId xmlns:p14="http://schemas.microsoft.com/office/powerpoint/2010/main" val="205228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04D1E-7D2D-7FF6-283B-4CA2725EA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Publish vs Send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E6BA6-DDC7-48F7-4117-760A7A7B27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Publish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Broadcast to </a:t>
            </a:r>
            <a:r>
              <a:rPr lang="en-US" sz="1400" dirty="0">
                <a:solidFill>
                  <a:srgbClr val="00C9A7"/>
                </a:solidFill>
              </a:rPr>
              <a:t>all subscribers</a:t>
            </a:r>
            <a:r>
              <a:rPr lang="en-US" sz="1400" dirty="0">
                <a:solidFill>
                  <a:srgbClr val="B0BEC5"/>
                </a:solidFill>
              </a:rPr>
              <a:t> of the message type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Uses a </a:t>
            </a:r>
            <a:r>
              <a:rPr lang="en-US" sz="1400" dirty="0">
                <a:solidFill>
                  <a:srgbClr val="00C9A7"/>
                </a:solidFill>
                <a:latin typeface="Cascadia Code"/>
              </a:rPr>
              <a:t>fanout</a:t>
            </a:r>
            <a:r>
              <a:rPr lang="en-US" sz="1400" dirty="0">
                <a:solidFill>
                  <a:srgbClr val="B0BEC5"/>
                </a:solidFill>
              </a:rPr>
              <a:t> exchange in RabbitMQ — zero or more consumers receive it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No destination required — MassTransit routes automatically</a:t>
            </a:r>
          </a:p>
          <a:p>
            <a:pPr>
              <a:spcBef>
                <a:spcPts val="5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// via IBus or IPublishEndpoint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bus.Publish&lt;OrderPlaced&gt;(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new { OrderId = id });</a:t>
            </a:r>
          </a:p>
          <a:p>
            <a:pPr>
              <a:spcBef>
                <a:spcPts val="5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Use for </a:t>
            </a:r>
            <a:r>
              <a:rPr lang="en-US" sz="1400" b="1" dirty="0">
                <a:solidFill>
                  <a:srgbClr val="FFC000"/>
                </a:solidFill>
              </a:rPr>
              <a:t>events</a:t>
            </a:r>
            <a:r>
              <a:rPr lang="en-US" sz="1400" dirty="0">
                <a:solidFill>
                  <a:srgbClr val="B0BEC5"/>
                </a:solidFill>
              </a:rPr>
              <a:t> — something that happened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7BFB8-2F15-922F-987F-C18FE25A701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FF6B35"/>
                </a:solidFill>
              </a:rPr>
              <a:t>Send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Targets a </a:t>
            </a:r>
            <a:r>
              <a:rPr lang="en-US" sz="1400" dirty="0">
                <a:solidFill>
                  <a:srgbClr val="00C9A7"/>
                </a:solidFill>
              </a:rPr>
              <a:t>specific endpoint</a:t>
            </a:r>
            <a:r>
              <a:rPr lang="en-US" sz="1400" dirty="0">
                <a:solidFill>
                  <a:srgbClr val="B0BEC5"/>
                </a:solidFill>
              </a:rPr>
              <a:t> (queue address)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Routes to a single known consumer queue — direct exchange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Caller must know the destination URI</a:t>
            </a:r>
          </a:p>
          <a:p>
            <a:pPr>
              <a:spcBef>
                <a:spcPts val="5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var ep = await bus.GetSendEndpoint(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new Uri("queue:order-service"));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await ep.Send&lt;SubmitOrder&gt;(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new { OrderId = id });</a:t>
            </a:r>
          </a:p>
          <a:p>
            <a:pPr>
              <a:spcBef>
                <a:spcPts val="5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Use for </a:t>
            </a:r>
            <a:r>
              <a:rPr lang="en-US" sz="1400" b="1" dirty="0">
                <a:solidFill>
                  <a:srgbClr val="FFC000"/>
                </a:solidFill>
              </a:rPr>
              <a:t>commands</a:t>
            </a:r>
            <a:r>
              <a:rPr lang="en-US" sz="1400" dirty="0">
                <a:solidFill>
                  <a:srgbClr val="B0BEC5"/>
                </a:solidFill>
              </a:rPr>
              <a:t> — a request to do something</a:t>
            </a:r>
          </a:p>
        </p:txBody>
      </p:sp>
    </p:spTree>
    <p:extLst>
      <p:ext uri="{BB962C8B-B14F-4D97-AF65-F5344CB8AC3E}">
        <p14:creationId xmlns:p14="http://schemas.microsoft.com/office/powerpoint/2010/main" val="1417110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2ECE7-5DA6-D435-14DE-20F10233A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When to Use Publish vs Send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93E74-4D2D-61E1-EF1D-BF3367D6E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600" b="1" dirty="0">
                <a:solidFill>
                  <a:srgbClr val="FF6B35"/>
                </a:solidFill>
              </a:rPr>
              <a:t>Publish  </a:t>
            </a:r>
            <a:r>
              <a:rPr lang="en-US" sz="1400" dirty="0">
                <a:solidFill>
                  <a:srgbClr val="B0BEC5"/>
                </a:solidFill>
              </a:rPr>
              <a:t>— use when you are raising an </a:t>
            </a:r>
            <a:r>
              <a:rPr lang="en-US" sz="1400" b="1" dirty="0">
                <a:solidFill>
                  <a:srgbClr val="FFC000"/>
                </a:solidFill>
              </a:rPr>
              <a:t>event</a:t>
            </a:r>
            <a:r>
              <a:rPr lang="en-US" sz="1400" dirty="0">
                <a:solidFill>
                  <a:srgbClr val="B0BEC5"/>
                </a:solidFill>
              </a:rPr>
              <a:t> (something that already happened)</a:t>
            </a:r>
          </a:p>
          <a:p>
            <a:pPr>
              <a:spcBef>
                <a:spcPts val="3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OrderPlaced, PaymentProcessed, StockReserved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Multiple services can react independently; sender is fully decoupled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If no consumer is subscribed, the message is silently dropped</a:t>
            </a:r>
          </a:p>
          <a:p>
            <a:pPr>
              <a:spcBef>
                <a:spcPts val="9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Send  </a:t>
            </a:r>
            <a:r>
              <a:rPr lang="en-US" sz="1400" dirty="0">
                <a:solidFill>
                  <a:srgbClr val="B0BEC5"/>
                </a:solidFill>
              </a:rPr>
              <a:t>— use when you are issuing a </a:t>
            </a:r>
            <a:r>
              <a:rPr lang="en-US" sz="1400" b="1" dirty="0">
                <a:solidFill>
                  <a:srgbClr val="FFC000"/>
                </a:solidFill>
              </a:rPr>
              <a:t>command</a:t>
            </a:r>
            <a:r>
              <a:rPr lang="en-US" sz="1400" dirty="0">
                <a:solidFill>
                  <a:srgbClr val="B0BEC5"/>
                </a:solidFill>
              </a:rPr>
              <a:t> (an instruction to do something)</a:t>
            </a:r>
          </a:p>
          <a:p>
            <a:pPr>
              <a:spcBef>
                <a:spcPts val="300"/>
              </a:spcBef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SubmitOrder, CancelReservation, SendConfirmationEmail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Exactly one consumer handles it; sender knows the target queue</a:t>
            </a:r>
          </a:p>
          <a:p>
            <a:pPr>
              <a:spcBef>
                <a:spcPts val="300"/>
              </a:spcBef>
              <a:buNone/>
            </a:pPr>
            <a:r>
              <a:rPr lang="en-US" sz="1400" dirty="0">
                <a:solidFill>
                  <a:srgbClr val="B0BEC5"/>
                </a:solidFill>
              </a:rPr>
              <a:t>Fails if the queue does not exist — routing is explicit, not automatic</a:t>
            </a:r>
          </a:p>
          <a:p>
            <a:pPr>
              <a:spcBef>
                <a:spcPts val="900"/>
              </a:spcBef>
              <a:buNone/>
            </a:pPr>
            <a:r>
              <a:rPr lang="en-US" sz="1400" b="1" dirty="0">
                <a:solidFill>
                  <a:srgbClr val="A5A5A5"/>
                </a:solidFill>
              </a:rPr>
              <a:t>Rule of thumb: </a:t>
            </a:r>
            <a:r>
              <a:rPr lang="en-US" sz="1400" dirty="0">
                <a:solidFill>
                  <a:srgbClr val="B0BEC5"/>
                </a:solidFill>
              </a:rPr>
              <a:t>name events in </a:t>
            </a:r>
            <a:r>
              <a:rPr lang="en-US" sz="1400" b="1" dirty="0">
                <a:solidFill>
                  <a:srgbClr val="00C9A7"/>
                </a:solidFill>
              </a:rPr>
              <a:t>past tense</a:t>
            </a:r>
            <a:r>
              <a:rPr lang="en-US" sz="1400" dirty="0">
                <a:solidFill>
                  <a:srgbClr val="B0BEC5"/>
                </a:solidFill>
              </a:rPr>
              <a:t>, commands in </a:t>
            </a:r>
            <a:r>
              <a:rPr lang="en-US" sz="1400" b="1" dirty="0">
                <a:solidFill>
                  <a:srgbClr val="00C9A7"/>
                </a:solidFill>
              </a:rPr>
              <a:t>imperative</a:t>
            </a:r>
          </a:p>
        </p:txBody>
      </p:sp>
    </p:spTree>
    <p:extLst>
      <p:ext uri="{BB962C8B-B14F-4D97-AF65-F5344CB8AC3E}">
        <p14:creationId xmlns:p14="http://schemas.microsoft.com/office/powerpoint/2010/main" val="3520689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9DD21F-643D-7239-42F2-CAC51F5A0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653" y="68263"/>
            <a:ext cx="9741268" cy="67214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05916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314359-CA22-C385-CEA3-C66A82DE3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86021"/>
            <a:ext cx="12192000" cy="1085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37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64C72-59F2-71BF-A678-F3E9C3FE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FF6B35"/>
                </a:solidFill>
              </a:rPr>
              <a:t>PUBLISH — Event (fan-out)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D206-9A1A-D280-7630-9E34B4D6DF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00" dirty="0">
                <a:solidFill>
                  <a:srgbClr val="0F1923"/>
                </a:solidFill>
              </a:rPr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E5086-3562-015D-A1EC-7EDC9D44C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778000"/>
            <a:ext cx="5181600" cy="4699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500" b="1" dirty="0">
                <a:solidFill>
                  <a:srgbClr val="5B9BD5"/>
                </a:solidFill>
              </a:rPr>
              <a:t>How it works</a:t>
            </a:r>
          </a:p>
          <a:p>
            <a:pPr>
              <a:spcBef>
                <a:spcPts val="4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1.  MassTransit creates a fanout exchange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named after the message type</a:t>
            </a:r>
          </a:p>
          <a:p>
            <a:pPr>
              <a:spcBef>
                <a:spcPts val="3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2.  RabbitMQ delivers a copy to every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queue bound to that exchange</a:t>
            </a:r>
          </a:p>
          <a:p>
            <a:pPr>
              <a:spcBef>
                <a:spcPts val="3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3.  Each consumer reads from its own queue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independently — fully decoupled</a:t>
            </a:r>
          </a:p>
          <a:p>
            <a:pPr>
              <a:spcBef>
                <a:spcPts val="300"/>
              </a:spcBef>
              <a:buNone/>
            </a:pPr>
            <a:r>
              <a:rPr lang="en-US" sz="1200" dirty="0">
                <a:solidFill>
                  <a:srgbClr val="B0BEC5"/>
                </a:solidFill>
              </a:rPr>
              <a:t>4.  Zero subscribers: message dropped</a:t>
            </a:r>
          </a:p>
          <a:p>
            <a:pPr>
              <a:buNone/>
            </a:pPr>
            <a:r>
              <a:rPr lang="en-US" sz="1150" dirty="0">
                <a:solidFill>
                  <a:srgbClr val="718096"/>
                </a:solidFill>
              </a:rPr>
              <a:t>    silently — no exception thrown</a:t>
            </a:r>
          </a:p>
          <a:p>
            <a:pPr>
              <a:spcBef>
                <a:spcPts val="500"/>
              </a:spcBef>
              <a:buNone/>
            </a:pPr>
            <a:r>
              <a:rPr lang="en-US" sz="1300" b="1" dirty="0">
                <a:solidFill>
                  <a:srgbClr val="FFC000"/>
                </a:solidFill>
              </a:rPr>
              <a:t>Use for: events (past-tense names)</a:t>
            </a:r>
          </a:p>
          <a:p>
            <a:pPr>
              <a:buNone/>
            </a:pPr>
            <a:r>
              <a:rPr lang="en-US" sz="1150" dirty="0">
                <a:solidFill>
                  <a:srgbClr val="A0AEC0"/>
                </a:solidFill>
                <a:latin typeface="Cascadia Code"/>
              </a:rPr>
              <a:t>OrderPlaced, UserRegistered</a:t>
            </a:r>
          </a:p>
        </p:txBody>
      </p:sp>
      <p:sp>
        <p:nvSpPr>
          <p:cNvPr id="101" name="pub_code"/>
          <p:cNvSpPr>
            <a:spLocks noGrp="1"/>
          </p:cNvSpPr>
          <p:nvPr/>
        </p:nvSpPr>
        <p:spPr>
          <a:xfrm>
            <a:off x="1841500" y="1879600"/>
            <a:ext cx="3048000" cy="584200"/>
          </a:xfrm>
          <a:prstGeom prst="rect">
            <a:avLst/>
          </a:prstGeom>
          <a:solidFill>
            <a:srgbClr val="1E253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6B35"/>
                </a:solidFill>
                <a:latin typeface="Consolas"/>
              </a:rPr>
              <a:t>bus.Publish&lt;OrderPlaced&gt;(evt)</a:t>
            </a:r>
          </a:p>
        </p:txBody>
      </p:sp>
      <p:sp>
        <p:nvSpPr>
          <p:cNvPr id="102" name="stem1"/>
          <p:cNvSpPr>
            <a:spLocks noGrp="1"/>
          </p:cNvSpPr>
          <p:nvPr/>
        </p:nvSpPr>
        <p:spPr>
          <a:xfrm>
            <a:off x="3340100" y="24638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3" name="ah1"/>
          <p:cNvSpPr>
            <a:spLocks noGrp="1"/>
          </p:cNvSpPr>
          <p:nvPr/>
        </p:nvSpPr>
        <p:spPr>
          <a:xfrm>
            <a:off x="3302000" y="26670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4" name="exchange"/>
          <p:cNvSpPr>
            <a:spLocks noGrp="1"/>
          </p:cNvSpPr>
          <p:nvPr/>
        </p:nvSpPr>
        <p:spPr>
          <a:xfrm>
            <a:off x="1651000" y="2743200"/>
            <a:ext cx="3429000" cy="482600"/>
          </a:xfrm>
          <a:prstGeom prst="rect">
            <a:avLst/>
          </a:prstGeom>
          <a:solidFill>
            <a:srgbClr val="4472C4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/>
              </a:rPr>
              <a:t>Exchange (Topic / Fan-out)</a:t>
            </a:r>
          </a:p>
        </p:txBody>
      </p:sp>
      <p:sp>
        <p:nvSpPr>
          <p:cNvPr id="105" name="stem2"/>
          <p:cNvSpPr>
            <a:spLocks noGrp="1"/>
          </p:cNvSpPr>
          <p:nvPr/>
        </p:nvSpPr>
        <p:spPr>
          <a:xfrm>
            <a:off x="3340100" y="32258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6" name="hline"/>
          <p:cNvSpPr>
            <a:spLocks noGrp="1"/>
          </p:cNvSpPr>
          <p:nvPr/>
        </p:nvSpPr>
        <p:spPr>
          <a:xfrm>
            <a:off x="1968500" y="3454400"/>
            <a:ext cx="2794000" cy="508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7" name="stem_L"/>
          <p:cNvSpPr>
            <a:spLocks noGrp="1"/>
          </p:cNvSpPr>
          <p:nvPr/>
        </p:nvSpPr>
        <p:spPr>
          <a:xfrm>
            <a:off x="1993900" y="35052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8" name="ah_L"/>
          <p:cNvSpPr>
            <a:spLocks noGrp="1"/>
          </p:cNvSpPr>
          <p:nvPr/>
        </p:nvSpPr>
        <p:spPr>
          <a:xfrm>
            <a:off x="1930400" y="37211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09" name="stem_C"/>
          <p:cNvSpPr>
            <a:spLocks noGrp="1"/>
          </p:cNvSpPr>
          <p:nvPr/>
        </p:nvSpPr>
        <p:spPr>
          <a:xfrm>
            <a:off x="3340100" y="35052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0" name="ah_C"/>
          <p:cNvSpPr>
            <a:spLocks noGrp="1"/>
          </p:cNvSpPr>
          <p:nvPr/>
        </p:nvSpPr>
        <p:spPr>
          <a:xfrm>
            <a:off x="3302000" y="37211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1" name="stem_R"/>
          <p:cNvSpPr>
            <a:spLocks noGrp="1"/>
          </p:cNvSpPr>
          <p:nvPr/>
        </p:nvSpPr>
        <p:spPr>
          <a:xfrm>
            <a:off x="4737100" y="35052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2" name="ah_R"/>
          <p:cNvSpPr>
            <a:spLocks noGrp="1"/>
          </p:cNvSpPr>
          <p:nvPr/>
        </p:nvSpPr>
        <p:spPr>
          <a:xfrm>
            <a:off x="4673600" y="37211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3" name="q1"/>
          <p:cNvSpPr>
            <a:spLocks noGrp="1"/>
          </p:cNvSpPr>
          <p:nvPr/>
        </p:nvSpPr>
        <p:spPr>
          <a:xfrm>
            <a:off x="1397000" y="3797300"/>
            <a:ext cx="1219200" cy="3810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 A</a:t>
            </a:r>
          </a:p>
        </p:txBody>
      </p:sp>
      <p:sp>
        <p:nvSpPr>
          <p:cNvPr id="114" name="q2"/>
          <p:cNvSpPr>
            <a:spLocks noGrp="1"/>
          </p:cNvSpPr>
          <p:nvPr/>
        </p:nvSpPr>
        <p:spPr>
          <a:xfrm>
            <a:off x="2755900" y="3797300"/>
            <a:ext cx="1219200" cy="3810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 B</a:t>
            </a:r>
          </a:p>
        </p:txBody>
      </p:sp>
      <p:sp>
        <p:nvSpPr>
          <p:cNvPr id="115" name="q3"/>
          <p:cNvSpPr>
            <a:spLocks noGrp="1"/>
          </p:cNvSpPr>
          <p:nvPr/>
        </p:nvSpPr>
        <p:spPr>
          <a:xfrm>
            <a:off x="4114800" y="3797300"/>
            <a:ext cx="1219200" cy="3810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 C</a:t>
            </a:r>
          </a:p>
        </p:txBody>
      </p:sp>
      <p:sp>
        <p:nvSpPr>
          <p:cNvPr id="116" name="stem_Lc"/>
          <p:cNvSpPr>
            <a:spLocks noGrp="1"/>
          </p:cNvSpPr>
          <p:nvPr/>
        </p:nvSpPr>
        <p:spPr>
          <a:xfrm>
            <a:off x="1993900" y="41783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7" name="ah_Lc"/>
          <p:cNvSpPr>
            <a:spLocks noGrp="1"/>
          </p:cNvSpPr>
          <p:nvPr/>
        </p:nvSpPr>
        <p:spPr>
          <a:xfrm>
            <a:off x="1930400" y="43942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8" name="stem_Cc"/>
          <p:cNvSpPr>
            <a:spLocks noGrp="1"/>
          </p:cNvSpPr>
          <p:nvPr/>
        </p:nvSpPr>
        <p:spPr>
          <a:xfrm>
            <a:off x="3340100" y="41783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19" name="ah_Cc"/>
          <p:cNvSpPr>
            <a:spLocks noGrp="1"/>
          </p:cNvSpPr>
          <p:nvPr/>
        </p:nvSpPr>
        <p:spPr>
          <a:xfrm>
            <a:off x="3302000" y="43942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20" name="stem_Rc"/>
          <p:cNvSpPr>
            <a:spLocks noGrp="1"/>
          </p:cNvSpPr>
          <p:nvPr/>
        </p:nvSpPr>
        <p:spPr>
          <a:xfrm>
            <a:off x="4737100" y="4178300"/>
            <a:ext cx="50800" cy="2540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21" name="ah_Rc"/>
          <p:cNvSpPr>
            <a:spLocks noGrp="1"/>
          </p:cNvSpPr>
          <p:nvPr/>
        </p:nvSpPr>
        <p:spPr>
          <a:xfrm>
            <a:off x="4673600" y="43942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122" name="c1"/>
          <p:cNvSpPr>
            <a:spLocks noGrp="1"/>
          </p:cNvSpPr>
          <p:nvPr/>
        </p:nvSpPr>
        <p:spPr>
          <a:xfrm>
            <a:off x="1397000" y="44704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onsolas"/>
              </a:rPr>
              <a:t>Consumer 1</a:t>
            </a:r>
          </a:p>
        </p:txBody>
      </p:sp>
      <p:sp>
        <p:nvSpPr>
          <p:cNvPr id="123" name="c2"/>
          <p:cNvSpPr>
            <a:spLocks noGrp="1"/>
          </p:cNvSpPr>
          <p:nvPr/>
        </p:nvSpPr>
        <p:spPr>
          <a:xfrm>
            <a:off x="2755900" y="44704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onsolas"/>
              </a:rPr>
              <a:t>Consumer 2</a:t>
            </a:r>
          </a:p>
        </p:txBody>
      </p:sp>
      <p:sp>
        <p:nvSpPr>
          <p:cNvPr id="124" name="c3"/>
          <p:cNvSpPr>
            <a:spLocks noGrp="1"/>
          </p:cNvSpPr>
          <p:nvPr/>
        </p:nvSpPr>
        <p:spPr>
          <a:xfrm>
            <a:off x="4114800" y="44704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onsolas"/>
              </a:rPr>
              <a:t>Consumer 3</a:t>
            </a:r>
          </a:p>
        </p:txBody>
      </p:sp>
      <p:sp>
        <p:nvSpPr>
          <p:cNvPr id="125" name="label_all"/>
          <p:cNvSpPr>
            <a:spLocks noGrp="1"/>
          </p:cNvSpPr>
          <p:nvPr/>
        </p:nvSpPr>
        <p:spPr>
          <a:xfrm>
            <a:off x="1651000" y="4978400"/>
            <a:ext cx="3429000" cy="304800"/>
          </a:xfrm>
          <a:prstGeom prst="rect">
            <a:avLst/>
          </a:prstGeom>
          <a:solidFill>
            <a:srgbClr val="0F192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C000"/>
                </a:solidFill>
                <a:latin typeface="Consolas"/>
              </a:rPr>
              <a:t>ALL consumers receive a copy</a:t>
            </a:r>
          </a:p>
        </p:txBody>
      </p:sp>
    </p:spTree>
    <p:extLst>
      <p:ext uri="{BB962C8B-B14F-4D97-AF65-F5344CB8AC3E}">
        <p14:creationId xmlns:p14="http://schemas.microsoft.com/office/powerpoint/2010/main" val="4248601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D9A39-FFFE-7018-E839-7FE8C3E66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en-US" sz="3200" b="1" dirty="0">
                <a:solidFill>
                  <a:srgbClr val="FF6B35"/>
                </a:solidFill>
              </a:rPr>
              <a:t>SEND — Command (point-to-point)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CE0D4-AEC4-B05A-F852-E90B6586F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00" dirty="0">
                <a:solidFill>
                  <a:srgbClr val="0F1923"/>
                </a:solidFill>
              </a:rPr>
              <a:t> </a:t>
            </a:r>
          </a:p>
        </p:txBody>
      </p:sp>
      <p:sp>
        <p:nvSpPr>
          <p:cNvPr id="201" name="send_code"/>
          <p:cNvSpPr>
            <a:spLocks noGrp="1"/>
          </p:cNvSpPr>
          <p:nvPr/>
        </p:nvSpPr>
        <p:spPr>
          <a:xfrm>
            <a:off x="1346200" y="1930400"/>
            <a:ext cx="3276600" cy="584200"/>
          </a:xfrm>
          <a:prstGeom prst="rect">
            <a:avLst/>
          </a:prstGeom>
          <a:solidFill>
            <a:srgbClr val="1E253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6B35"/>
                </a:solidFill>
                <a:latin typeface="Consolas"/>
              </a:rPr>
              <a:t>bus.Send&lt;ProcessOrder&gt;(cmd)</a:t>
            </a:r>
          </a:p>
        </p:txBody>
      </p:sp>
      <p:sp>
        <p:nvSpPr>
          <p:cNvPr id="202" name="send_stem1"/>
          <p:cNvSpPr>
            <a:spLocks noGrp="1"/>
          </p:cNvSpPr>
          <p:nvPr/>
        </p:nvSpPr>
        <p:spPr>
          <a:xfrm>
            <a:off x="2959100" y="25146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3" name="send_ah1"/>
          <p:cNvSpPr>
            <a:spLocks noGrp="1"/>
          </p:cNvSpPr>
          <p:nvPr/>
        </p:nvSpPr>
        <p:spPr>
          <a:xfrm>
            <a:off x="2921000" y="27686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4" name="send_exch"/>
          <p:cNvSpPr>
            <a:spLocks noGrp="1"/>
          </p:cNvSpPr>
          <p:nvPr/>
        </p:nvSpPr>
        <p:spPr>
          <a:xfrm>
            <a:off x="1397000" y="2844800"/>
            <a:ext cx="3175000" cy="482600"/>
          </a:xfrm>
          <a:prstGeom prst="rect">
            <a:avLst/>
          </a:prstGeom>
          <a:solidFill>
            <a:srgbClr val="4472C4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Direct Exchange (named queue)</a:t>
            </a:r>
          </a:p>
        </p:txBody>
      </p:sp>
      <p:sp>
        <p:nvSpPr>
          <p:cNvPr id="205" name="send_stem2"/>
          <p:cNvSpPr>
            <a:spLocks noGrp="1"/>
          </p:cNvSpPr>
          <p:nvPr/>
        </p:nvSpPr>
        <p:spPr>
          <a:xfrm>
            <a:off x="2959100" y="33274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6" name="send_ah2"/>
          <p:cNvSpPr>
            <a:spLocks noGrp="1"/>
          </p:cNvSpPr>
          <p:nvPr/>
        </p:nvSpPr>
        <p:spPr>
          <a:xfrm>
            <a:off x="2921000" y="3581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7" name="send_queue"/>
          <p:cNvSpPr>
            <a:spLocks noGrp="1"/>
          </p:cNvSpPr>
          <p:nvPr/>
        </p:nvSpPr>
        <p:spPr>
          <a:xfrm>
            <a:off x="1879600" y="3657600"/>
            <a:ext cx="2209800" cy="431800"/>
          </a:xfrm>
          <a:prstGeom prst="rect">
            <a:avLst/>
          </a:prstGeom>
          <a:solidFill>
            <a:srgbClr val="1E2B3C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B0BEC5"/>
                </a:solidFill>
                <a:latin typeface="Consolas"/>
              </a:rPr>
              <a:t>Queue: order-processor</a:t>
            </a:r>
          </a:p>
        </p:txBody>
      </p:sp>
      <p:sp>
        <p:nvSpPr>
          <p:cNvPr id="208" name="send_stem3"/>
          <p:cNvSpPr>
            <a:spLocks noGrp="1"/>
          </p:cNvSpPr>
          <p:nvPr/>
        </p:nvSpPr>
        <p:spPr>
          <a:xfrm>
            <a:off x="2959100" y="40894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09" name="send_ah3"/>
          <p:cNvSpPr>
            <a:spLocks noGrp="1"/>
          </p:cNvSpPr>
          <p:nvPr/>
        </p:nvSpPr>
        <p:spPr>
          <a:xfrm>
            <a:off x="2921000" y="4343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210" name="send_consumer"/>
          <p:cNvSpPr>
            <a:spLocks noGrp="1"/>
          </p:cNvSpPr>
          <p:nvPr/>
        </p:nvSpPr>
        <p:spPr>
          <a:xfrm>
            <a:off x="1879600" y="4419600"/>
            <a:ext cx="2209800" cy="431800"/>
          </a:xfrm>
          <a:prstGeom prst="rect">
            <a:avLst/>
          </a:prstGeom>
          <a:solidFill>
            <a:srgbClr val="00C9A7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0F1923"/>
                </a:solidFill>
                <a:latin typeface="Calibri"/>
              </a:rPr>
              <a:t>Consumer (ONE instance)</a:t>
            </a:r>
          </a:p>
        </p:txBody>
      </p:sp>
      <p:sp>
        <p:nvSpPr>
          <p:cNvPr id="211" name="send_label"/>
          <p:cNvSpPr>
            <a:spLocks noGrp="1"/>
          </p:cNvSpPr>
          <p:nvPr/>
        </p:nvSpPr>
        <p:spPr>
          <a:xfrm>
            <a:off x="1397000" y="5003800"/>
            <a:ext cx="3175000" cy="304800"/>
          </a:xfrm>
          <a:prstGeom prst="rect">
            <a:avLst/>
          </a:prstGeom>
          <a:solidFill>
            <a:srgbClr val="0F192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C000"/>
                </a:solidFill>
                <a:latin typeface="Calibri"/>
              </a:rPr>
              <a:t>EXACTLY ONE consumer receives it</a:t>
            </a:r>
          </a:p>
        </p:txBody>
      </p:sp>
      <p:sp>
        <p:nvSpPr>
          <p:cNvPr id="220" name="send_howto"/>
          <p:cNvSpPr txBox="1">
            <a:spLocks noGrp="1"/>
          </p:cNvSpPr>
          <p:nvPr/>
        </p:nvSpPr>
        <p:spPr>
          <a:xfrm>
            <a:off x="6223000" y="1879600"/>
            <a:ext cx="4699000" cy="4191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FF6B35"/>
                </a:solidFill>
              </a:rPr>
              <a:t>How it works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1.  Sender specifies an endpoint address</a:t>
            </a:r>
          </a:p>
          <a:p>
            <a:pPr>
              <a:spcBef>
                <a:spcPts val="100"/>
              </a:spcBef>
              <a:buNone/>
            </a:pPr>
            <a:r>
              <a:rPr lang="en-US" sz="900" b="0" dirty="0">
                <a:solidFill>
                  <a:srgbClr val="718096"/>
                </a:solidFill>
              </a:rPr>
              <a:t>    (queue name or URI)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2.  Message routed to that exact queue</a:t>
            </a:r>
          </a:p>
          <a:p>
            <a:pPr>
              <a:spcBef>
                <a:spcPts val="100"/>
              </a:spcBef>
              <a:buNone/>
            </a:pPr>
            <a:r>
              <a:rPr lang="en-US" sz="900" b="0" dirty="0">
                <a:solidFill>
                  <a:srgbClr val="718096"/>
                </a:solidFill>
              </a:rPr>
              <a:t>    via a direct exchange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3.  Exactly ONE consumer processes it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4.  If queue missing → exception thrown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FFFFFF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FFC000"/>
                </a:solidFill>
              </a:rPr>
              <a:t>Use for: commands (imperative names)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00C9A7"/>
                </a:solidFill>
              </a:rPr>
              <a:t>ProcessOrder, SendInvoice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00C9A7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B0BEC5"/>
                </a:solidFill>
              </a:rPr>
              <a:t>Key difference vs Publish: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Must have a registered consumer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Throws if endpoint not found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One message = one handler</a:t>
            </a:r>
          </a:p>
        </p:txBody>
      </p:sp>
    </p:spTree>
    <p:extLst>
      <p:ext uri="{BB962C8B-B14F-4D97-AF65-F5344CB8AC3E}">
        <p14:creationId xmlns:p14="http://schemas.microsoft.com/office/powerpoint/2010/main" val="618812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73C8B-7B46-508E-6708-103A59FA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en-US" sz="3200" b="1" dirty="0">
                <a:solidFill>
                  <a:srgbClr val="FF6B35"/>
                </a:solidFill>
              </a:rPr>
              <a:t>Competing Consumers — Scale-out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EE600-2E83-387E-9C32-C191358D9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59639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00" dirty="0">
                <a:solidFill>
                  <a:srgbClr val="0F1923"/>
                </a:solidFill>
              </a:rPr>
              <a:t> </a:t>
            </a:r>
          </a:p>
        </p:txBody>
      </p:sp>
      <p:sp>
        <p:nvSpPr>
          <p:cNvPr id="301" name="cc_code"/>
          <p:cNvSpPr>
            <a:spLocks noGrp="1"/>
          </p:cNvSpPr>
          <p:nvPr/>
        </p:nvSpPr>
        <p:spPr>
          <a:xfrm>
            <a:off x="1346200" y="1930400"/>
            <a:ext cx="3276600" cy="584200"/>
          </a:xfrm>
          <a:prstGeom prst="rect">
            <a:avLst/>
          </a:prstGeom>
          <a:solidFill>
            <a:srgbClr val="1E253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6B35"/>
                </a:solidFill>
                <a:latin typeface="Consolas"/>
              </a:rPr>
              <a:t>bus.Publish&lt;OrderPlaced&gt;(evt)</a:t>
            </a:r>
          </a:p>
        </p:txBody>
      </p:sp>
      <p:sp>
        <p:nvSpPr>
          <p:cNvPr id="302" name="cc_stem1"/>
          <p:cNvSpPr>
            <a:spLocks noGrp="1"/>
          </p:cNvSpPr>
          <p:nvPr/>
        </p:nvSpPr>
        <p:spPr>
          <a:xfrm>
            <a:off x="2959100" y="25146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3" name="cc_ah1"/>
          <p:cNvSpPr>
            <a:spLocks noGrp="1"/>
          </p:cNvSpPr>
          <p:nvPr/>
        </p:nvSpPr>
        <p:spPr>
          <a:xfrm>
            <a:off x="2921000" y="27686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4" name="cc_exch"/>
          <p:cNvSpPr>
            <a:spLocks noGrp="1"/>
          </p:cNvSpPr>
          <p:nvPr/>
        </p:nvSpPr>
        <p:spPr>
          <a:xfrm>
            <a:off x="1397000" y="2844800"/>
            <a:ext cx="3175000" cy="482600"/>
          </a:xfrm>
          <a:prstGeom prst="rect">
            <a:avLst/>
          </a:prstGeom>
          <a:solidFill>
            <a:srgbClr val="4472C4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Exchange (Fan-out)</a:t>
            </a:r>
          </a:p>
        </p:txBody>
      </p:sp>
      <p:sp>
        <p:nvSpPr>
          <p:cNvPr id="305" name="cc_stem2"/>
          <p:cNvSpPr>
            <a:spLocks noGrp="1"/>
          </p:cNvSpPr>
          <p:nvPr/>
        </p:nvSpPr>
        <p:spPr>
          <a:xfrm>
            <a:off x="2959100" y="3327400"/>
            <a:ext cx="50800" cy="2794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6" name="cc_ah2"/>
          <p:cNvSpPr>
            <a:spLocks noGrp="1"/>
          </p:cNvSpPr>
          <p:nvPr/>
        </p:nvSpPr>
        <p:spPr>
          <a:xfrm>
            <a:off x="2921000" y="3581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7" name="cc_queue"/>
          <p:cNvSpPr>
            <a:spLocks noGrp="1"/>
          </p:cNvSpPr>
          <p:nvPr/>
        </p:nvSpPr>
        <p:spPr>
          <a:xfrm>
            <a:off x="1651000" y="3657600"/>
            <a:ext cx="2667000" cy="482600"/>
          </a:xfrm>
          <a:prstGeom prst="rect">
            <a:avLst/>
          </a:prstGeom>
          <a:solidFill>
            <a:srgbClr val="FFC000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1" dirty="0">
                <a:solidFill>
                  <a:srgbClr val="0F1923"/>
                </a:solidFill>
                <a:latin typeface="Calibri"/>
              </a:rPr>
              <a:t>Shared Queue (order-processor)</a:t>
            </a:r>
          </a:p>
        </p:txBody>
      </p:sp>
      <p:sp>
        <p:nvSpPr>
          <p:cNvPr id="308" name="cc_stemQ"/>
          <p:cNvSpPr>
            <a:spLocks noGrp="1"/>
          </p:cNvSpPr>
          <p:nvPr/>
        </p:nvSpPr>
        <p:spPr>
          <a:xfrm>
            <a:off x="2959100" y="4140200"/>
            <a:ext cx="50800" cy="2032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09" name="cc_hline"/>
          <p:cNvSpPr>
            <a:spLocks noGrp="1"/>
          </p:cNvSpPr>
          <p:nvPr/>
        </p:nvSpPr>
        <p:spPr>
          <a:xfrm>
            <a:off x="1778000" y="4343400"/>
            <a:ext cx="2413000" cy="508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0" name="cc_stemL"/>
          <p:cNvSpPr>
            <a:spLocks noGrp="1"/>
          </p:cNvSpPr>
          <p:nvPr/>
        </p:nvSpPr>
        <p:spPr>
          <a:xfrm>
            <a:off x="1803400" y="43942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1" name="cc_ahL"/>
          <p:cNvSpPr>
            <a:spLocks noGrp="1"/>
          </p:cNvSpPr>
          <p:nvPr/>
        </p:nvSpPr>
        <p:spPr>
          <a:xfrm>
            <a:off x="1739900" y="4597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2" name="cc_stemC"/>
          <p:cNvSpPr>
            <a:spLocks noGrp="1"/>
          </p:cNvSpPr>
          <p:nvPr/>
        </p:nvSpPr>
        <p:spPr>
          <a:xfrm>
            <a:off x="2959100" y="43942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3" name="cc_ahC"/>
          <p:cNvSpPr>
            <a:spLocks noGrp="1"/>
          </p:cNvSpPr>
          <p:nvPr/>
        </p:nvSpPr>
        <p:spPr>
          <a:xfrm>
            <a:off x="2921000" y="4597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4" name="cc_stemR"/>
          <p:cNvSpPr>
            <a:spLocks noGrp="1"/>
          </p:cNvSpPr>
          <p:nvPr/>
        </p:nvSpPr>
        <p:spPr>
          <a:xfrm>
            <a:off x="4165600" y="4394200"/>
            <a:ext cx="50800" cy="228600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5" name="cc_ahR"/>
          <p:cNvSpPr>
            <a:spLocks noGrp="1"/>
          </p:cNvSpPr>
          <p:nvPr/>
        </p:nvSpPr>
        <p:spPr>
          <a:xfrm>
            <a:off x="4102100" y="4597400"/>
            <a:ext cx="127000" cy="76200"/>
          </a:xfrm>
          <a:prstGeom prst="triangle">
            <a:avLst/>
          </a:prstGeom>
          <a:solidFill>
            <a:srgbClr val="718096"/>
          </a:solidFill>
          <a:ln>
            <a:noFill/>
          </a:ln>
        </p:spPr>
        <p:txBody>
          <a:bodyPr/>
          <a:lstStyle/>
          <a:p>
            <a:pPr>
              <a:buNone/>
            </a:pPr>
            <a:r>
              <a:rPr lang="en-US" sz="100" dirty="0"/>
              <a:t> </a:t>
            </a:r>
          </a:p>
        </p:txBody>
      </p:sp>
      <p:sp>
        <p:nvSpPr>
          <p:cNvPr id="316" name="cc_c1"/>
          <p:cNvSpPr>
            <a:spLocks noGrp="1"/>
          </p:cNvSpPr>
          <p:nvPr/>
        </p:nvSpPr>
        <p:spPr>
          <a:xfrm>
            <a:off x="1117600" y="46736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alibri"/>
              </a:rPr>
              <a:t>Consumer 1</a:t>
            </a:r>
          </a:p>
        </p:txBody>
      </p:sp>
      <p:sp>
        <p:nvSpPr>
          <p:cNvPr id="317" name="cc_c2"/>
          <p:cNvSpPr>
            <a:spLocks noGrp="1"/>
          </p:cNvSpPr>
          <p:nvPr/>
        </p:nvSpPr>
        <p:spPr>
          <a:xfrm>
            <a:off x="2425700" y="46736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alibri"/>
              </a:rPr>
              <a:t>Consumer 2</a:t>
            </a:r>
          </a:p>
        </p:txBody>
      </p:sp>
      <p:sp>
        <p:nvSpPr>
          <p:cNvPr id="318" name="cc_c3"/>
          <p:cNvSpPr>
            <a:spLocks noGrp="1"/>
          </p:cNvSpPr>
          <p:nvPr/>
        </p:nvSpPr>
        <p:spPr>
          <a:xfrm>
            <a:off x="3746500" y="4673600"/>
            <a:ext cx="1219200" cy="381000"/>
          </a:xfrm>
          <a:prstGeom prst="rect">
            <a:avLst/>
          </a:prstGeom>
          <a:solidFill>
            <a:srgbClr val="2E7D32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  <a:latin typeface="Calibri"/>
              </a:rPr>
              <a:t>Consumer 3</a:t>
            </a:r>
          </a:p>
        </p:txBody>
      </p:sp>
      <p:sp>
        <p:nvSpPr>
          <p:cNvPr id="319" name="cc_label"/>
          <p:cNvSpPr>
            <a:spLocks noGrp="1"/>
          </p:cNvSpPr>
          <p:nvPr/>
        </p:nvSpPr>
        <p:spPr>
          <a:xfrm>
            <a:off x="1397000" y="5181600"/>
            <a:ext cx="3175000" cy="330200"/>
          </a:xfrm>
          <a:prstGeom prst="rect">
            <a:avLst/>
          </a:prstGeom>
          <a:solidFill>
            <a:srgbClr val="0F1923"/>
          </a:solidFill>
          <a:ln w="9525">
            <a:solidFill>
              <a:srgbClr val="718096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900" b="0" dirty="0">
                <a:solidFill>
                  <a:srgbClr val="FFC000"/>
                </a:solidFill>
                <a:latin typeface="Calibri"/>
              </a:rPr>
              <a:t>ONLY ONE consumer processes each msg</a:t>
            </a:r>
          </a:p>
        </p:txBody>
      </p:sp>
      <p:sp>
        <p:nvSpPr>
          <p:cNvPr id="330" name="cc_text"/>
          <p:cNvSpPr txBox="1">
            <a:spLocks noGrp="1"/>
          </p:cNvSpPr>
          <p:nvPr/>
        </p:nvSpPr>
        <p:spPr>
          <a:xfrm>
            <a:off x="6223000" y="1879600"/>
            <a:ext cx="469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FF6B35"/>
                </a:solidFill>
              </a:rPr>
              <a:t>How it works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1.  All instances subscribe to same queue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2.  RabbitMQ delivers each message once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3.  First consumer to pull gets the msg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FFFFFF"/>
                </a:solidFill>
              </a:rPr>
              <a:t>4.  Others never see that message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FFFFFF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FFC000"/>
                </a:solidFill>
              </a:rPr>
              <a:t>Why this matters for scaling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3 instances = 3x message throughput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No duplicates, no coordination needed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B0BEC5"/>
                </a:solidFill>
              </a:rPr>
              <a:t>• MassTransit sets this up automatically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B0BEC5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B0BEC5"/>
                </a:solidFill>
              </a:rPr>
              <a:t>vs Publish fan-out: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718096"/>
                </a:solidFill>
              </a:rPr>
              <a:t>• Fan-out: ALL consumers get a copy</a:t>
            </a:r>
          </a:p>
          <a:p>
            <a:pPr>
              <a:spcBef>
                <a:spcPts val="100"/>
              </a:spcBef>
              <a:buNone/>
            </a:pPr>
            <a:r>
              <a:rPr lang="en-US" sz="1000" b="0" dirty="0">
                <a:solidFill>
                  <a:srgbClr val="718096"/>
                </a:solidFill>
              </a:rPr>
              <a:t>• Competing: ONE consumer gets it</a:t>
            </a:r>
          </a:p>
          <a:p>
            <a:pPr>
              <a:spcBef>
                <a:spcPts val="100"/>
              </a:spcBef>
              <a:buNone/>
            </a:pPr>
            <a:endParaRPr lang="en-US" sz="1000" b="0" dirty="0">
              <a:solidFill>
                <a:srgbClr val="718096"/>
              </a:solidFill>
            </a:endParaRPr>
          </a:p>
          <a:p>
            <a:pPr>
              <a:spcBef>
                <a:spcPts val="100"/>
              </a:spcBef>
              <a:buNone/>
            </a:pPr>
            <a:r>
              <a:rPr lang="en-US" sz="1000" b="1" dirty="0">
                <a:solidFill>
                  <a:srgbClr val="00C9A7"/>
                </a:solidFill>
              </a:rPr>
              <a:t>Horizontal scale = add more instances</a:t>
            </a:r>
          </a:p>
        </p:txBody>
      </p:sp>
    </p:spTree>
    <p:extLst>
      <p:ext uri="{BB962C8B-B14F-4D97-AF65-F5344CB8AC3E}">
        <p14:creationId xmlns:p14="http://schemas.microsoft.com/office/powerpoint/2010/main" val="106340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059BB69-0D9A-4BA2-84D2-688BA9C9148A}"/>
              </a:ext>
            </a:extLst>
          </p:cNvPr>
          <p:cNvSpPr txBox="1"/>
          <p:nvPr/>
        </p:nvSpPr>
        <p:spPr>
          <a:xfrm>
            <a:off x="838200" y="304800"/>
            <a:ext cx="105156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200" b="1">
                <a:solidFill>
                  <a:srgbClr val="FF6B35"/>
                </a:solidFill>
              </a:rPr>
              <a:t>Request / Response Pattern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8D2481-B859-4902-9C85-8CBFFA664B91}"/>
              </a:ext>
            </a:extLst>
          </p:cNvPr>
          <p:cNvSpPr txBox="1"/>
          <p:nvPr/>
        </p:nvSpPr>
        <p:spPr>
          <a:xfrm>
            <a:off x="838200" y="1092200"/>
            <a:ext cx="635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B0BEC5"/>
                </a:solidFill>
              </a:rPr>
              <a:t>MassTransit — IRequestClient&lt;T&gt;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4F75FE-A10B-45C4-AD56-144C1E0C63FD}"/>
              </a:ext>
            </a:extLst>
          </p:cNvPr>
          <p:cNvSpPr txBox="1"/>
          <p:nvPr/>
        </p:nvSpPr>
        <p:spPr>
          <a:xfrm>
            <a:off x="838200" y="1651000"/>
            <a:ext cx="482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6B35"/>
                </a:solidFill>
              </a:rPr>
              <a:t>What is it?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99423-4DB6-4AB6-B840-FA2F3179680D}"/>
              </a:ext>
            </a:extLst>
          </p:cNvPr>
          <p:cNvSpPr txBox="1"/>
          <p:nvPr/>
        </p:nvSpPr>
        <p:spPr>
          <a:xfrm>
            <a:off x="838200" y="2057400"/>
            <a:ext cx="4826000" cy="1320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FFFFF"/>
                </a:solidFill>
              </a:rPr>
              <a:t>A messaging pattern where one service sends a request to another and waits for a response — like a function call, but over the network.
MassTransit creates a temporary reply queue automatically. The caller simply awaits a Task.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A17962-4925-4482-A972-363DC22BB02F}"/>
              </a:ext>
            </a:extLst>
          </p:cNvPr>
          <p:cNvSpPr txBox="1"/>
          <p:nvPr/>
        </p:nvSpPr>
        <p:spPr>
          <a:xfrm>
            <a:off x="838200" y="35052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C000"/>
                </a:solidFill>
              </a:rPr>
              <a:t>Benefits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6CF914-7133-4519-B6D7-3F54445A2429}"/>
              </a:ext>
            </a:extLst>
          </p:cNvPr>
          <p:cNvSpPr txBox="1"/>
          <p:nvPr/>
        </p:nvSpPr>
        <p:spPr>
          <a:xfrm>
            <a:off x="838200" y="3835400"/>
            <a:ext cx="228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B0BEC5"/>
                </a:solidFill>
              </a:rPr>
              <a:t>✔  Loose coupling
✔  Location transparency
✔  Async / await friendly
✔  Auto Fault&lt;T&gt; on error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7171F6-25CB-416E-9ACA-DDEA05BA8310}"/>
              </a:ext>
            </a:extLst>
          </p:cNvPr>
          <p:cNvSpPr txBox="1"/>
          <p:nvPr/>
        </p:nvSpPr>
        <p:spPr>
          <a:xfrm>
            <a:off x="3378200" y="35052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C000"/>
                </a:solidFill>
              </a:rPr>
              <a:t>Watch out for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8AD628-C098-4984-B2B8-A3143E91F4F3}"/>
              </a:ext>
            </a:extLst>
          </p:cNvPr>
          <p:cNvSpPr txBox="1"/>
          <p:nvPr/>
        </p:nvSpPr>
        <p:spPr>
          <a:xfrm>
            <a:off x="3378200" y="3835400"/>
            <a:ext cx="228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B0BEC5"/>
                </a:solidFill>
              </a:rPr>
              <a:t>⚠  Added network latency
⚠  Timeout if bus not started
⚠  Default timeout: 30 s
⚠  Avoid for fire-and-forget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BC59BF-558A-4F7D-95F6-16E4C837A79D}"/>
              </a:ext>
            </a:extLst>
          </p:cNvPr>
          <p:cNvSpPr txBox="1"/>
          <p:nvPr/>
        </p:nvSpPr>
        <p:spPr>
          <a:xfrm>
            <a:off x="6477000" y="1651000"/>
            <a:ext cx="48768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6B35"/>
                </a:solidFill>
              </a:rPr>
              <a:t>How it flows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06D8D98-2B1E-4E85-B425-364D75BACB5B}"/>
              </a:ext>
            </a:extLst>
          </p:cNvPr>
          <p:cNvSpPr/>
          <p:nvPr/>
        </p:nvSpPr>
        <p:spPr>
          <a:xfrm>
            <a:off x="6502400" y="2133600"/>
            <a:ext cx="3048000" cy="4572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CC65EF-FF88-4380-95A0-34B99E19EA8A}"/>
              </a:ext>
            </a:extLst>
          </p:cNvPr>
          <p:cNvSpPr txBox="1"/>
          <p:nvPr/>
        </p:nvSpPr>
        <p:spPr>
          <a:xfrm>
            <a:off x="6604000" y="2133600"/>
            <a:ext cx="28448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</a:rPr>
              <a:t>① Requester: </a:t>
            </a:r>
            <a:r>
              <a:rPr lang="en-US" sz="1200" dirty="0" err="1">
                <a:solidFill>
                  <a:srgbClr val="FFFFFF"/>
                </a:solidFill>
              </a:rPr>
              <a:t>IRequestClient.GetResponse</a:t>
            </a:r>
            <a:r>
              <a:rPr lang="en-US" sz="1200" dirty="0">
                <a:solidFill>
                  <a:srgbClr val="FFFFFF"/>
                </a:solidFill>
              </a:rPr>
              <a:t>()</a:t>
            </a: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5DACFB81-AB72-45D4-8C0E-3B6EA291A472}"/>
              </a:ext>
            </a:extLst>
          </p:cNvPr>
          <p:cNvSpPr/>
          <p:nvPr/>
        </p:nvSpPr>
        <p:spPr>
          <a:xfrm>
            <a:off x="7874000" y="2641600"/>
            <a:ext cx="304800" cy="177800"/>
          </a:xfrm>
          <a:prstGeom prst="downArrow">
            <a:avLst/>
          </a:prstGeom>
          <a:solidFill>
            <a:srgbClr val="71809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4AA7C20-584E-4F6B-A8E3-CE901C18A4F7}"/>
              </a:ext>
            </a:extLst>
          </p:cNvPr>
          <p:cNvSpPr/>
          <p:nvPr/>
        </p:nvSpPr>
        <p:spPr>
          <a:xfrm>
            <a:off x="6502400" y="2870200"/>
            <a:ext cx="3048000" cy="457200"/>
          </a:xfrm>
          <a:prstGeom prst="roundRect">
            <a:avLst/>
          </a:prstGeom>
          <a:solidFill>
            <a:srgbClr val="44546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7BBC2B-9A5E-4698-AAF7-939C4EDCE98C}"/>
              </a:ext>
            </a:extLst>
          </p:cNvPr>
          <p:cNvSpPr txBox="1"/>
          <p:nvPr/>
        </p:nvSpPr>
        <p:spPr>
          <a:xfrm>
            <a:off x="6604000" y="2895600"/>
            <a:ext cx="28448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</a:rPr>
              <a:t>② </a:t>
            </a:r>
            <a:r>
              <a:rPr lang="en-US" sz="1200" dirty="0" err="1">
                <a:solidFill>
                  <a:srgbClr val="FFFFFF"/>
                </a:solidFill>
              </a:rPr>
              <a:t>MassTransit</a:t>
            </a:r>
            <a:r>
              <a:rPr lang="en-US" sz="1200" dirty="0">
                <a:solidFill>
                  <a:srgbClr val="FFFFFF"/>
                </a:solidFill>
              </a:rPr>
              <a:t> routes to consumer queue</a:t>
            </a: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180BC607-17F7-420A-9F15-6F0B049B29EC}"/>
              </a:ext>
            </a:extLst>
          </p:cNvPr>
          <p:cNvSpPr/>
          <p:nvPr/>
        </p:nvSpPr>
        <p:spPr>
          <a:xfrm>
            <a:off x="7874000" y="3378200"/>
            <a:ext cx="304800" cy="177800"/>
          </a:xfrm>
          <a:prstGeom prst="downArrow">
            <a:avLst/>
          </a:prstGeom>
          <a:solidFill>
            <a:srgbClr val="71809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94BCD7B-1BF1-44D2-BF93-F2670996B391}"/>
              </a:ext>
            </a:extLst>
          </p:cNvPr>
          <p:cNvSpPr/>
          <p:nvPr/>
        </p:nvSpPr>
        <p:spPr>
          <a:xfrm>
            <a:off x="6502400" y="3606800"/>
            <a:ext cx="3048000" cy="457200"/>
          </a:xfrm>
          <a:prstGeom prst="roundRect">
            <a:avLst/>
          </a:prstGeom>
          <a:solidFill>
            <a:srgbClr val="5B9BD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CFF4D3-4FBA-43BD-86B3-83376B1D9FF0}"/>
              </a:ext>
            </a:extLst>
          </p:cNvPr>
          <p:cNvSpPr txBox="1"/>
          <p:nvPr/>
        </p:nvSpPr>
        <p:spPr>
          <a:xfrm>
            <a:off x="6604000" y="3606800"/>
            <a:ext cx="28448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</a:rPr>
              <a:t>③ Consumer: </a:t>
            </a:r>
            <a:r>
              <a:rPr lang="en-US" sz="1200" dirty="0" err="1">
                <a:solidFill>
                  <a:srgbClr val="FFFFFF"/>
                </a:solidFill>
              </a:rPr>
              <a:t>context.RespondAsync</a:t>
            </a:r>
            <a:r>
              <a:rPr lang="en-US" sz="1200" dirty="0">
                <a:solidFill>
                  <a:srgbClr val="FFFFFF"/>
                </a:solidFill>
              </a:rPr>
              <a:t>(result)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0663C07C-13FB-4388-87A8-D6F471B141E9}"/>
              </a:ext>
            </a:extLst>
          </p:cNvPr>
          <p:cNvSpPr/>
          <p:nvPr/>
        </p:nvSpPr>
        <p:spPr>
          <a:xfrm>
            <a:off x="7874000" y="4114800"/>
            <a:ext cx="304800" cy="177800"/>
          </a:xfrm>
          <a:prstGeom prst="downArrow">
            <a:avLst/>
          </a:prstGeom>
          <a:solidFill>
            <a:srgbClr val="71809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C270383-BC56-4C76-BEA4-56FECD41ED5A}"/>
              </a:ext>
            </a:extLst>
          </p:cNvPr>
          <p:cNvSpPr/>
          <p:nvPr/>
        </p:nvSpPr>
        <p:spPr>
          <a:xfrm>
            <a:off x="6502400" y="4343400"/>
            <a:ext cx="3048000" cy="457200"/>
          </a:xfrm>
          <a:prstGeom prst="roundRect">
            <a:avLst/>
          </a:prstGeom>
          <a:solidFill>
            <a:srgbClr val="70AD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7CA5DE-CBF5-431B-B1F9-37DFAE09265A}"/>
              </a:ext>
            </a:extLst>
          </p:cNvPr>
          <p:cNvSpPr txBox="1"/>
          <p:nvPr/>
        </p:nvSpPr>
        <p:spPr>
          <a:xfrm>
            <a:off x="6604000" y="4432300"/>
            <a:ext cx="2844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FFFFFF"/>
                </a:solidFill>
              </a:rPr>
              <a:t>④ Requester awaits response Task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039C87-31B1-45F8-B89B-301A2B7B9413}"/>
              </a:ext>
            </a:extLst>
          </p:cNvPr>
          <p:cNvSpPr txBox="1"/>
          <p:nvPr/>
        </p:nvSpPr>
        <p:spPr>
          <a:xfrm>
            <a:off x="6477000" y="5765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718096"/>
                </a:solidFill>
              </a:rPr>
              <a:t>⟳  Temporary reply queue auto-created by MassTransit</a:t>
            </a:r>
          </a:p>
        </p:txBody>
      </p:sp>
    </p:spTree>
    <p:extLst>
      <p:ext uri="{BB962C8B-B14F-4D97-AF65-F5344CB8AC3E}">
        <p14:creationId xmlns:p14="http://schemas.microsoft.com/office/powerpoint/2010/main" val="53284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C25F38-D82A-45EE-83E0-FDBF9EBD9604}"/>
              </a:ext>
            </a:extLst>
          </p:cNvPr>
          <p:cNvSpPr txBox="1"/>
          <p:nvPr/>
        </p:nvSpPr>
        <p:spPr>
          <a:xfrm>
            <a:off x="838200" y="304800"/>
            <a:ext cx="105156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FF6B35"/>
                </a:solidFill>
              </a:rPr>
              <a:t>Using IRequestClient&lt;T&gt;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5A1895-5B15-4EF7-9D7E-92A3476DF037}"/>
              </a:ext>
            </a:extLst>
          </p:cNvPr>
          <p:cNvSpPr/>
          <p:nvPr/>
        </p:nvSpPr>
        <p:spPr>
          <a:xfrm>
            <a:off x="838200" y="1244600"/>
            <a:ext cx="6350000" cy="5080000"/>
          </a:xfrm>
          <a:prstGeom prst="rect">
            <a:avLst/>
          </a:prstGeom>
          <a:solidFill>
            <a:srgbClr val="0D1117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6227A-14AD-4D0C-98EA-478D3F3E6648}"/>
              </a:ext>
            </a:extLst>
          </p:cNvPr>
          <p:cNvSpPr txBox="1"/>
          <p:nvPr/>
        </p:nvSpPr>
        <p:spPr>
          <a:xfrm>
            <a:off x="914400" y="1270000"/>
            <a:ext cx="635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718096"/>
                </a:solidFill>
              </a:rPr>
              <a:t>C#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C0A99F-49E5-48AE-AD12-FB8CFEEFE55B}"/>
              </a:ext>
            </a:extLst>
          </p:cNvPr>
          <p:cNvSpPr txBox="1"/>
          <p:nvPr/>
        </p:nvSpPr>
        <p:spPr>
          <a:xfrm>
            <a:off x="939800" y="1549400"/>
            <a:ext cx="6172200" cy="4673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000" dirty="0">
                <a:solidFill>
                  <a:srgbClr val="E2E8F0"/>
                </a:solidFill>
                <a:latin typeface="Consolas"/>
              </a:rPr>
              <a:t>// 1. Message contracts
public record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CheckOrderStatus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Guid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OrderId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);
public record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OrderStatusResult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Guid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OrderId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, string Status);
// 2. Register 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Program.cs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)
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builder.Services.AddMassTransit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(x =&gt; {
   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x.AddConsumer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&lt;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CheckOrderStatusConsumer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&gt;();
   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x.UsingRabbitMq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ctx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cfg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) =&gt;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cfg.ConfigureEndpoints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ctx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));
});
// 3. Inject &amp; use request client
public class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OrderController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IRequestClient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&lt;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CheckOrderStatus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&gt; client) {
    public async Task&lt;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IActionResult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&gt;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GetStatus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Guid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 id) {
        var response = await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client.GetResponse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&lt;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OrderStatusResult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&gt;(
            new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CheckOrderStatus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(id));
        return Ok(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response.Message.Status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);
    }
}
// 4. Consumer — respond to the request
public class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CheckOrderStatusConsumer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 :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IConsumer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&lt;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CheckOrderStatus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&gt; {
    public async Task Consume(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ConsumeContext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&lt;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CheckOrderStatus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&gt;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ctx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) {
        var status =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LookUpStatus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ctx.Message.OrderId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);
        await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ctx.RespondAsync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
            new 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OrderStatusResult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(</a:t>
            </a:r>
            <a:r>
              <a:rPr lang="en-US" sz="1000" dirty="0" err="1">
                <a:solidFill>
                  <a:srgbClr val="E2E8F0"/>
                </a:solidFill>
                <a:latin typeface="Consolas"/>
              </a:rPr>
              <a:t>ctx.Message.OrderId</a:t>
            </a:r>
            <a:r>
              <a:rPr lang="en-US" sz="1000" dirty="0">
                <a:solidFill>
                  <a:srgbClr val="E2E8F0"/>
                </a:solidFill>
                <a:latin typeface="Consolas"/>
              </a:rPr>
              <a:t>, status));
    }
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2EAD1B-CFD9-4363-9FE2-393B3A390AAD}"/>
              </a:ext>
            </a:extLst>
          </p:cNvPr>
          <p:cNvSpPr txBox="1"/>
          <p:nvPr/>
        </p:nvSpPr>
        <p:spPr>
          <a:xfrm>
            <a:off x="7391400" y="1270000"/>
            <a:ext cx="4089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6B35"/>
                </a:solidFill>
              </a:rPr>
              <a:t>Key Points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927ED0-CE80-4C8A-B499-996A9AE2F56B}"/>
              </a:ext>
            </a:extLst>
          </p:cNvPr>
          <p:cNvSpPr/>
          <p:nvPr/>
        </p:nvSpPr>
        <p:spPr>
          <a:xfrm>
            <a:off x="7391400" y="1752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737D4F-2380-4FB2-B268-C35BFAC30DFC}"/>
              </a:ext>
            </a:extLst>
          </p:cNvPr>
          <p:cNvSpPr txBox="1"/>
          <p:nvPr/>
        </p:nvSpPr>
        <p:spPr>
          <a:xfrm>
            <a:off x="7493000" y="1854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ED3315-B5AC-4F35-8F82-2FE6FFF41B78}"/>
              </a:ext>
            </a:extLst>
          </p:cNvPr>
          <p:cNvSpPr txBox="1"/>
          <p:nvPr/>
        </p:nvSpPr>
        <p:spPr>
          <a:xfrm>
            <a:off x="7899400" y="1828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Message Contracts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E982D0-1B3C-41BE-8A4E-7D247B729B31}"/>
              </a:ext>
            </a:extLst>
          </p:cNvPr>
          <p:cNvSpPr txBox="1"/>
          <p:nvPr/>
        </p:nvSpPr>
        <p:spPr>
          <a:xfrm>
            <a:off x="7899400" y="2082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Define request &amp; response as plain C# records or interfaces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03482E-AF81-4B95-8EA4-867A622FC12D}"/>
              </a:ext>
            </a:extLst>
          </p:cNvPr>
          <p:cNvSpPr/>
          <p:nvPr/>
        </p:nvSpPr>
        <p:spPr>
          <a:xfrm>
            <a:off x="7391400" y="2641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90994-82D9-4896-9693-DFC61363F213}"/>
              </a:ext>
            </a:extLst>
          </p:cNvPr>
          <p:cNvSpPr txBox="1"/>
          <p:nvPr/>
        </p:nvSpPr>
        <p:spPr>
          <a:xfrm>
            <a:off x="7493000" y="2743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⚙️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58BA88-8AA4-45DE-A51F-CAC7A365A571}"/>
              </a:ext>
            </a:extLst>
          </p:cNvPr>
          <p:cNvSpPr txBox="1"/>
          <p:nvPr/>
        </p:nvSpPr>
        <p:spPr>
          <a:xfrm>
            <a:off x="7899400" y="2717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Auto-wired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DFBA2E-0642-4DF0-BD23-332237677F2F}"/>
              </a:ext>
            </a:extLst>
          </p:cNvPr>
          <p:cNvSpPr txBox="1"/>
          <p:nvPr/>
        </p:nvSpPr>
        <p:spPr>
          <a:xfrm>
            <a:off x="7899400" y="2971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AddMassTransit registers IRequestClient&lt;T&gt; automatically — just inject it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CF564E1-A9D2-4E90-80E7-D69C44ADEE9B}"/>
              </a:ext>
            </a:extLst>
          </p:cNvPr>
          <p:cNvSpPr/>
          <p:nvPr/>
        </p:nvSpPr>
        <p:spPr>
          <a:xfrm>
            <a:off x="7391400" y="3530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752D60-DCB6-49AC-8E83-0C241BD24BE4}"/>
              </a:ext>
            </a:extLst>
          </p:cNvPr>
          <p:cNvSpPr txBox="1"/>
          <p:nvPr/>
        </p:nvSpPr>
        <p:spPr>
          <a:xfrm>
            <a:off x="7493000" y="3632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⏱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87E74-D028-41B8-90E6-00CDA281B803}"/>
              </a:ext>
            </a:extLst>
          </p:cNvPr>
          <p:cNvSpPr txBox="1"/>
          <p:nvPr/>
        </p:nvSpPr>
        <p:spPr>
          <a:xfrm>
            <a:off x="7899400" y="3606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Timeout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00B898-DBF7-43B2-BFA7-08CCBFBBB645}"/>
              </a:ext>
            </a:extLst>
          </p:cNvPr>
          <p:cNvSpPr txBox="1"/>
          <p:nvPr/>
        </p:nvSpPr>
        <p:spPr>
          <a:xfrm>
            <a:off x="7899400" y="3860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Default 30s. Use RequestTimeout.After(s:10) to customize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79EEF07-13A9-45DD-B610-64FFEB8CEF2F}"/>
              </a:ext>
            </a:extLst>
          </p:cNvPr>
          <p:cNvSpPr/>
          <p:nvPr/>
        </p:nvSpPr>
        <p:spPr>
          <a:xfrm>
            <a:off x="7391400" y="4419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1F791A-9BA6-42AF-8B7F-A15B3A4F3143}"/>
              </a:ext>
            </a:extLst>
          </p:cNvPr>
          <p:cNvSpPr txBox="1"/>
          <p:nvPr/>
        </p:nvSpPr>
        <p:spPr>
          <a:xfrm>
            <a:off x="7493000" y="4521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❌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DEDC78-2BBF-480A-8F17-0B42DA432DC4}"/>
              </a:ext>
            </a:extLst>
          </p:cNvPr>
          <p:cNvSpPr txBox="1"/>
          <p:nvPr/>
        </p:nvSpPr>
        <p:spPr>
          <a:xfrm>
            <a:off x="7899400" y="4495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Fault handling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B5FC0A-A028-4FA8-8A4C-57BC0CE7031F}"/>
              </a:ext>
            </a:extLst>
          </p:cNvPr>
          <p:cNvSpPr txBox="1"/>
          <p:nvPr/>
        </p:nvSpPr>
        <p:spPr>
          <a:xfrm>
            <a:off x="7899400" y="4749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On exception → Fault&lt;T&gt; sent back; client throws RequestFaultException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59DD8A5-9C52-4E38-BDFE-E76C080DA87B}"/>
              </a:ext>
            </a:extLst>
          </p:cNvPr>
          <p:cNvSpPr/>
          <p:nvPr/>
        </p:nvSpPr>
        <p:spPr>
          <a:xfrm>
            <a:off x="7391400" y="5308600"/>
            <a:ext cx="4089400" cy="736600"/>
          </a:xfrm>
          <a:prstGeom prst="roundRect">
            <a:avLst/>
          </a:prstGeom>
          <a:solidFill>
            <a:srgbClr val="1E2530"/>
          </a:solidFill>
          <a:ln w="12700" cap="flat" cmpd="sng" algn="ctr">
            <a:solidFill>
              <a:srgbClr val="3036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6393F-C172-4D42-8362-B8CC7BA2B762}"/>
              </a:ext>
            </a:extLst>
          </p:cNvPr>
          <p:cNvSpPr txBox="1"/>
          <p:nvPr/>
        </p:nvSpPr>
        <p:spPr>
          <a:xfrm>
            <a:off x="7493000" y="5410200"/>
            <a:ext cx="355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/>
              <a:t>✉️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A44B54-958D-4846-A7DC-431E0157DF24}"/>
              </a:ext>
            </a:extLst>
          </p:cNvPr>
          <p:cNvSpPr txBox="1"/>
          <p:nvPr/>
        </p:nvSpPr>
        <p:spPr>
          <a:xfrm>
            <a:off x="7899400" y="5384800"/>
            <a:ext cx="3479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C000"/>
                </a:solidFill>
              </a:rPr>
              <a:t>Multiple responses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F7780-9297-4733-A7E4-F4236FAD59EE}"/>
              </a:ext>
            </a:extLst>
          </p:cNvPr>
          <p:cNvSpPr txBox="1"/>
          <p:nvPr/>
        </p:nvSpPr>
        <p:spPr>
          <a:xfrm>
            <a:off x="7899400" y="5638800"/>
            <a:ext cx="3479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B0BEC5"/>
                </a:solidFill>
              </a:rPr>
              <a:t>GetResponse&lt;T1, T2&gt;() supports awaiting two response types at once</a:t>
            </a:r>
          </a:p>
        </p:txBody>
      </p:sp>
    </p:spTree>
    <p:extLst>
      <p:ext uri="{BB962C8B-B14F-4D97-AF65-F5344CB8AC3E}">
        <p14:creationId xmlns:p14="http://schemas.microsoft.com/office/powerpoint/2010/main" val="331489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b400"/>
          <p:cNvSpPr txBox="1">
            <a:spLocks noGrp="1"/>
          </p:cNvSpPr>
          <p:nvPr/>
        </p:nvSpPr>
        <p:spPr>
          <a:xfrm>
            <a:off x="508000" y="228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2000" b="1" i="0" dirty="0">
                <a:solidFill>
                  <a:srgbClr val="FF6B35"/>
                </a:solidFill>
                <a:latin typeface="Consolas"/>
              </a:rPr>
              <a:t>RPC over RabbitMQ — Request/Response Flow</a:t>
            </a:r>
          </a:p>
        </p:txBody>
      </p:sp>
      <p:sp>
        <p:nvSpPr>
          <p:cNvPr id="401" name="sh401"/>
          <p:cNvSpPr>
            <a:spLocks noGrp="1"/>
          </p:cNvSpPr>
          <p:nvPr/>
        </p:nvSpPr>
        <p:spPr>
          <a:xfrm>
            <a:off x="889000" y="660400"/>
            <a:ext cx="1524000" cy="4318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2" name="tb402"/>
          <p:cNvSpPr txBox="1">
            <a:spLocks noGrp="1"/>
          </p:cNvSpPr>
          <p:nvPr/>
        </p:nvSpPr>
        <p:spPr>
          <a:xfrm>
            <a:off x="889000" y="7620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Client</a:t>
            </a:r>
          </a:p>
        </p:txBody>
      </p:sp>
      <p:sp>
        <p:nvSpPr>
          <p:cNvPr id="403" name="sh403"/>
          <p:cNvSpPr>
            <a:spLocks noGrp="1"/>
          </p:cNvSpPr>
          <p:nvPr/>
        </p:nvSpPr>
        <p:spPr>
          <a:xfrm>
            <a:off x="5334000" y="660400"/>
            <a:ext cx="1524000" cy="431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4" name="tb404"/>
          <p:cNvSpPr txBox="1">
            <a:spLocks noGrp="1"/>
          </p:cNvSpPr>
          <p:nvPr/>
        </p:nvSpPr>
        <p:spPr>
          <a:xfrm>
            <a:off x="5334000" y="7620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RabbitMQ</a:t>
            </a:r>
          </a:p>
        </p:txBody>
      </p:sp>
      <p:sp>
        <p:nvSpPr>
          <p:cNvPr id="405" name="sh405"/>
          <p:cNvSpPr>
            <a:spLocks noGrp="1"/>
          </p:cNvSpPr>
          <p:nvPr/>
        </p:nvSpPr>
        <p:spPr>
          <a:xfrm>
            <a:off x="9779000" y="660400"/>
            <a:ext cx="1524000" cy="4318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tb406"/>
          <p:cNvSpPr txBox="1">
            <a:spLocks noGrp="1"/>
          </p:cNvSpPr>
          <p:nvPr/>
        </p:nvSpPr>
        <p:spPr>
          <a:xfrm>
            <a:off x="9779000" y="7620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Server</a:t>
            </a:r>
          </a:p>
        </p:txBody>
      </p:sp>
      <p:sp>
        <p:nvSpPr>
          <p:cNvPr id="407" name="dl407"/>
          <p:cNvSpPr>
            <a:spLocks noGrp="1"/>
          </p:cNvSpPr>
          <p:nvPr/>
        </p:nvSpPr>
        <p:spPr>
          <a:xfrm>
            <a:off x="1638300" y="1524000"/>
            <a:ext cx="25400" cy="4953000"/>
          </a:xfrm>
          <a:prstGeom prst="line">
            <a:avLst/>
          </a:prstGeom>
          <a:noFill/>
          <a:ln w="9525">
            <a:solidFill>
              <a:srgbClr val="4472C4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08" name="dl408"/>
          <p:cNvSpPr>
            <a:spLocks noGrp="1"/>
          </p:cNvSpPr>
          <p:nvPr/>
        </p:nvSpPr>
        <p:spPr>
          <a:xfrm>
            <a:off x="6083300" y="1524000"/>
            <a:ext cx="25400" cy="4953000"/>
          </a:xfrm>
          <a:prstGeom prst="line">
            <a:avLst/>
          </a:prstGeom>
          <a:noFill/>
          <a:ln w="9525">
            <a:solidFill>
              <a:srgbClr val="ED7D31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09" name="dl409"/>
          <p:cNvSpPr>
            <a:spLocks noGrp="1"/>
          </p:cNvSpPr>
          <p:nvPr/>
        </p:nvSpPr>
        <p:spPr>
          <a:xfrm>
            <a:off x="10528300" y="1524000"/>
            <a:ext cx="25400" cy="4953000"/>
          </a:xfrm>
          <a:prstGeom prst="line">
            <a:avLst/>
          </a:prstGeom>
          <a:noFill/>
          <a:ln w="9525">
            <a:solidFill>
              <a:srgbClr val="5B9BD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10" name="sh410"/>
          <p:cNvSpPr>
            <a:spLocks noGrp="1"/>
          </p:cNvSpPr>
          <p:nvPr/>
        </p:nvSpPr>
        <p:spPr>
          <a:xfrm>
            <a:off x="1587500" y="2120900"/>
            <a:ext cx="127000" cy="42545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sh411"/>
          <p:cNvSpPr>
            <a:spLocks noGrp="1"/>
          </p:cNvSpPr>
          <p:nvPr/>
        </p:nvSpPr>
        <p:spPr>
          <a:xfrm>
            <a:off x="6032500" y="2120900"/>
            <a:ext cx="127000" cy="3429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sh412"/>
          <p:cNvSpPr>
            <a:spLocks noGrp="1"/>
          </p:cNvSpPr>
          <p:nvPr/>
        </p:nvSpPr>
        <p:spPr>
          <a:xfrm>
            <a:off x="10477500" y="3302000"/>
            <a:ext cx="127000" cy="1168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3" name="ln413"/>
          <p:cNvSpPr>
            <a:spLocks noGrp="1"/>
          </p:cNvSpPr>
          <p:nvPr/>
        </p:nvSpPr>
        <p:spPr>
          <a:xfrm flipH="1">
            <a:off x="1663700" y="2298700"/>
            <a:ext cx="4368800" cy="25400"/>
          </a:xfrm>
          <a:prstGeom prst="line">
            <a:avLst/>
          </a:prstGeom>
          <a:noFill/>
          <a:ln w="25400">
            <a:solidFill>
              <a:srgbClr val="4472C4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14" name="tb414"/>
          <p:cNvSpPr txBox="1">
            <a:spLocks noGrp="1"/>
          </p:cNvSpPr>
          <p:nvPr/>
        </p:nvSpPr>
        <p:spPr>
          <a:xfrm>
            <a:off x="1778000" y="19685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100" b="1" i="0" dirty="0">
                <a:solidFill>
                  <a:srgbClr val="4FC3F7"/>
                </a:solidFill>
                <a:latin typeface="Consolas"/>
              </a:rPr>
              <a:t>Publish to "rpc_queue"</a:t>
            </a:r>
          </a:p>
        </p:txBody>
      </p:sp>
      <p:sp>
        <p:nvSpPr>
          <p:cNvPr id="415" name="tb415"/>
          <p:cNvSpPr txBox="1">
            <a:spLocks noGrp="1"/>
          </p:cNvSpPr>
          <p:nvPr/>
        </p:nvSpPr>
        <p:spPr>
          <a:xfrm>
            <a:off x="1778000" y="2667000"/>
            <a:ext cx="4191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ReplyTo = "amq.gen-xxx"</a:t>
            </a:r>
          </a:p>
        </p:txBody>
      </p:sp>
      <p:sp>
        <p:nvSpPr>
          <p:cNvPr id="416" name="tb416"/>
          <p:cNvSpPr txBox="1">
            <a:spLocks noGrp="1"/>
          </p:cNvSpPr>
          <p:nvPr/>
        </p:nvSpPr>
        <p:spPr>
          <a:xfrm>
            <a:off x="1778000" y="2895600"/>
            <a:ext cx="4191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CorrelationId = "abc-123"</a:t>
            </a:r>
          </a:p>
        </p:txBody>
      </p:sp>
      <p:sp>
        <p:nvSpPr>
          <p:cNvPr id="417" name="ln417"/>
          <p:cNvSpPr>
            <a:spLocks noGrp="1"/>
          </p:cNvSpPr>
          <p:nvPr/>
        </p:nvSpPr>
        <p:spPr>
          <a:xfrm flipH="1">
            <a:off x="6172198" y="3479800"/>
            <a:ext cx="4318001" cy="0"/>
          </a:xfrm>
          <a:prstGeom prst="line">
            <a:avLst/>
          </a:prstGeom>
          <a:noFill/>
          <a:ln w="2540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18" name="tb418"/>
          <p:cNvSpPr txBox="1">
            <a:spLocks noGrp="1"/>
          </p:cNvSpPr>
          <p:nvPr/>
        </p:nvSpPr>
        <p:spPr>
          <a:xfrm>
            <a:off x="6223000" y="31496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100" b="1" i="0" dirty="0">
                <a:solidFill>
                  <a:srgbClr val="FFB74D"/>
                </a:solidFill>
                <a:latin typeface="Consolas"/>
              </a:rPr>
              <a:t>Deliver to consumer</a:t>
            </a:r>
          </a:p>
        </p:txBody>
      </p:sp>
      <p:sp>
        <p:nvSpPr>
          <p:cNvPr id="419" name="tb419"/>
          <p:cNvSpPr txBox="1">
            <a:spLocks noGrp="1"/>
          </p:cNvSpPr>
          <p:nvPr/>
        </p:nvSpPr>
        <p:spPr>
          <a:xfrm>
            <a:off x="10693400" y="37465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718096"/>
                </a:solidFill>
                <a:latin typeface="Consolas"/>
              </a:rPr>
              <a:t>(processes request…)</a:t>
            </a:r>
          </a:p>
        </p:txBody>
      </p:sp>
      <p:sp>
        <p:nvSpPr>
          <p:cNvPr id="420" name="ln420"/>
          <p:cNvSpPr>
            <a:spLocks noGrp="1"/>
          </p:cNvSpPr>
          <p:nvPr/>
        </p:nvSpPr>
        <p:spPr>
          <a:xfrm flipV="1">
            <a:off x="6159499" y="4392038"/>
            <a:ext cx="4318001" cy="0"/>
          </a:xfrm>
          <a:prstGeom prst="line">
            <a:avLst/>
          </a:prstGeom>
          <a:noFill/>
          <a:ln w="25400">
            <a:solidFill>
              <a:srgbClr val="5B9BD5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21" name="tb421"/>
          <p:cNvSpPr txBox="1">
            <a:spLocks noGrp="1"/>
          </p:cNvSpPr>
          <p:nvPr/>
        </p:nvSpPr>
        <p:spPr>
          <a:xfrm>
            <a:off x="6223000" y="40640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en-US" sz="1100" b="1" i="0" dirty="0">
                <a:solidFill>
                  <a:srgbClr val="80DEEA"/>
                </a:solidFill>
                <a:latin typeface="Consolas"/>
              </a:rPr>
              <a:t>Publish to "amq.gen-xxx"</a:t>
            </a:r>
          </a:p>
        </p:txBody>
      </p:sp>
      <p:sp>
        <p:nvSpPr>
          <p:cNvPr id="422" name="tb422"/>
          <p:cNvSpPr txBox="1">
            <a:spLocks noGrp="1"/>
          </p:cNvSpPr>
          <p:nvPr/>
        </p:nvSpPr>
        <p:spPr>
          <a:xfrm>
            <a:off x="6223000" y="4546600"/>
            <a:ext cx="4191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CorrelationId = "abc-123"</a:t>
            </a:r>
          </a:p>
        </p:txBody>
      </p:sp>
      <p:sp>
        <p:nvSpPr>
          <p:cNvPr id="423" name="ln423"/>
          <p:cNvSpPr>
            <a:spLocks noGrp="1"/>
          </p:cNvSpPr>
          <p:nvPr/>
        </p:nvSpPr>
        <p:spPr>
          <a:xfrm flipV="1">
            <a:off x="1689100" y="5422900"/>
            <a:ext cx="4343400" cy="25400"/>
          </a:xfrm>
          <a:prstGeom prst="line">
            <a:avLst/>
          </a:prstGeom>
          <a:noFill/>
          <a:ln w="2540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24" name="tb424"/>
          <p:cNvSpPr txBox="1">
            <a:spLocks noGrp="1"/>
          </p:cNvSpPr>
          <p:nvPr/>
        </p:nvSpPr>
        <p:spPr>
          <a:xfrm>
            <a:off x="1778000" y="5016500"/>
            <a:ext cx="4191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100" b="1" i="0" dirty="0">
                <a:solidFill>
                  <a:srgbClr val="FFB74D"/>
                </a:solidFill>
                <a:latin typeface="Consolas"/>
              </a:rPr>
              <a:t>Deliver response</a:t>
            </a:r>
          </a:p>
        </p:txBody>
      </p:sp>
      <p:sp>
        <p:nvSpPr>
          <p:cNvPr id="425" name="sh425"/>
          <p:cNvSpPr>
            <a:spLocks noGrp="1"/>
          </p:cNvSpPr>
          <p:nvPr/>
        </p:nvSpPr>
        <p:spPr>
          <a:xfrm>
            <a:off x="889000" y="6223000"/>
            <a:ext cx="1524000" cy="4318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tb426"/>
          <p:cNvSpPr txBox="1">
            <a:spLocks noGrp="1"/>
          </p:cNvSpPr>
          <p:nvPr/>
        </p:nvSpPr>
        <p:spPr>
          <a:xfrm>
            <a:off x="889000" y="63246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Client</a:t>
            </a:r>
          </a:p>
        </p:txBody>
      </p:sp>
      <p:sp>
        <p:nvSpPr>
          <p:cNvPr id="427" name="sh427"/>
          <p:cNvSpPr>
            <a:spLocks noGrp="1"/>
          </p:cNvSpPr>
          <p:nvPr/>
        </p:nvSpPr>
        <p:spPr>
          <a:xfrm>
            <a:off x="5334000" y="6223000"/>
            <a:ext cx="1524000" cy="4318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tb428"/>
          <p:cNvSpPr txBox="1">
            <a:spLocks noGrp="1"/>
          </p:cNvSpPr>
          <p:nvPr/>
        </p:nvSpPr>
        <p:spPr>
          <a:xfrm>
            <a:off x="5334000" y="63246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RabbitMQ</a:t>
            </a:r>
          </a:p>
        </p:txBody>
      </p:sp>
      <p:sp>
        <p:nvSpPr>
          <p:cNvPr id="429" name="sh429"/>
          <p:cNvSpPr>
            <a:spLocks noGrp="1"/>
          </p:cNvSpPr>
          <p:nvPr/>
        </p:nvSpPr>
        <p:spPr>
          <a:xfrm>
            <a:off x="9779000" y="6223000"/>
            <a:ext cx="1524000" cy="4318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0" name="tb430"/>
          <p:cNvSpPr txBox="1">
            <a:spLocks noGrp="1"/>
          </p:cNvSpPr>
          <p:nvPr/>
        </p:nvSpPr>
        <p:spPr>
          <a:xfrm>
            <a:off x="9779000" y="63246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Server</a:t>
            </a:r>
          </a:p>
        </p:txBody>
      </p:sp>
      <p:sp>
        <p:nvSpPr>
          <p:cNvPr id="431" name="sep431"/>
          <p:cNvSpPr>
            <a:spLocks noGrp="1"/>
          </p:cNvSpPr>
          <p:nvPr/>
        </p:nvSpPr>
        <p:spPr>
          <a:xfrm>
            <a:off x="3873500" y="1524000"/>
            <a:ext cx="12700" cy="4953000"/>
          </a:xfrm>
          <a:prstGeom prst="line">
            <a:avLst/>
          </a:prstGeom>
          <a:noFill/>
          <a:ln w="9525">
            <a:solidFill>
              <a:srgbClr val="2D3748"/>
            </a:solidFill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432" name="sep432"/>
          <p:cNvSpPr>
            <a:spLocks noGrp="1"/>
          </p:cNvSpPr>
          <p:nvPr/>
        </p:nvSpPr>
        <p:spPr>
          <a:xfrm>
            <a:off x="8318500" y="1524000"/>
            <a:ext cx="12700" cy="4953000"/>
          </a:xfrm>
          <a:prstGeom prst="line">
            <a:avLst/>
          </a:prstGeom>
          <a:noFill/>
          <a:ln w="9525">
            <a:solidFill>
              <a:srgbClr val="2D3748"/>
            </a:solidFill>
            <a:headEnd type="none"/>
            <a:tailEnd type="none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284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500"/>
          <p:cNvSpPr txBox="1">
            <a:spLocks noGrp="1"/>
          </p:cNvSpPr>
          <p:nvPr/>
        </p:nvSpPr>
        <p:spPr>
          <a:xfrm>
            <a:off x="508000" y="1524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800" b="1" i="0" dirty="0">
                <a:solidFill>
                  <a:srgbClr val="FF6B35"/>
                </a:solidFill>
              </a:rPr>
              <a:t>The Full Picture — Under the Hood</a:t>
            </a:r>
          </a:p>
        </p:txBody>
      </p:sp>
      <p:sp>
        <p:nvSpPr>
          <p:cNvPr id="501" name="t501"/>
          <p:cNvSpPr txBox="1">
            <a:spLocks noGrp="1"/>
          </p:cNvSpPr>
          <p:nvPr/>
        </p:nvSpPr>
        <p:spPr>
          <a:xfrm>
            <a:off x="508000" y="4826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</a:rPr>
              <a:t>Good question. It has nothing to do with HTTP — here's the actual flow.</a:t>
            </a:r>
          </a:p>
        </p:txBody>
      </p:sp>
      <p:sp>
        <p:nvSpPr>
          <p:cNvPr id="502" name="b502"/>
          <p:cNvSpPr>
            <a:spLocks noGrp="1"/>
          </p:cNvSpPr>
          <p:nvPr/>
        </p:nvSpPr>
        <p:spPr>
          <a:xfrm>
            <a:off x="1231900" y="762000"/>
            <a:ext cx="1473200" cy="330200"/>
          </a:xfrm>
          <a:prstGeom prst="roundRect">
            <a:avLst/>
          </a:prstGeom>
          <a:solidFill>
            <a:srgbClr val="4472C4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" name="t503"/>
          <p:cNvSpPr txBox="1">
            <a:spLocks noGrp="1"/>
          </p:cNvSpPr>
          <p:nvPr/>
        </p:nvSpPr>
        <p:spPr>
          <a:xfrm>
            <a:off x="1231900" y="8255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>PUBLISHER</a:t>
            </a:r>
          </a:p>
        </p:txBody>
      </p:sp>
      <p:sp>
        <p:nvSpPr>
          <p:cNvPr id="504" name="b504"/>
          <p:cNvSpPr>
            <a:spLocks noGrp="1"/>
          </p:cNvSpPr>
          <p:nvPr/>
        </p:nvSpPr>
        <p:spPr>
          <a:xfrm>
            <a:off x="5359400" y="762000"/>
            <a:ext cx="1473200" cy="330200"/>
          </a:xfrm>
          <a:prstGeom prst="roundRect">
            <a:avLst/>
          </a:prstGeom>
          <a:solidFill>
            <a:srgbClr val="ED7D31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" name="t505"/>
          <p:cNvSpPr txBox="1">
            <a:spLocks noGrp="1"/>
          </p:cNvSpPr>
          <p:nvPr/>
        </p:nvSpPr>
        <p:spPr>
          <a:xfrm>
            <a:off x="5359400" y="8255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>RABBITMQ</a:t>
            </a:r>
          </a:p>
        </p:txBody>
      </p:sp>
      <p:sp>
        <p:nvSpPr>
          <p:cNvPr id="506" name="b506"/>
          <p:cNvSpPr>
            <a:spLocks noGrp="1"/>
          </p:cNvSpPr>
          <p:nvPr/>
        </p:nvSpPr>
        <p:spPr>
          <a:xfrm>
            <a:off x="9486900" y="762000"/>
            <a:ext cx="1473200" cy="330200"/>
          </a:xfrm>
          <a:prstGeom prst="roundRect">
            <a:avLst/>
          </a:prstGeom>
          <a:solidFill>
            <a:srgbClr val="5B9BD5"/>
          </a:solidFill>
          <a:ln w="9525">
            <a:noFill/>
          </a:ln>
        </p:spPr>
        <p:txBody>
          <a:bodyPr/>
          <a:lstStyle/>
          <a:p>
            <a:endParaRPr/>
          </a:p>
        </p:txBody>
      </p:sp>
      <p:sp>
        <p:nvSpPr>
          <p:cNvPr id="507" name="t507"/>
          <p:cNvSpPr txBox="1">
            <a:spLocks noGrp="1"/>
          </p:cNvSpPr>
          <p:nvPr/>
        </p:nvSpPr>
        <p:spPr>
          <a:xfrm>
            <a:off x="9486900" y="825500"/>
            <a:ext cx="147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508" name="vd508"/>
          <p:cNvSpPr>
            <a:spLocks noGrp="1"/>
          </p:cNvSpPr>
          <p:nvPr/>
        </p:nvSpPr>
        <p:spPr>
          <a:xfrm>
            <a:off x="1968500" y="1117600"/>
            <a:ext cx="12700" cy="5232400"/>
          </a:xfrm>
          <a:prstGeom prst="line">
            <a:avLst/>
          </a:prstGeom>
          <a:noFill/>
          <a:ln w="9525">
            <a:solidFill>
              <a:srgbClr val="33415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09" name="vd509"/>
          <p:cNvSpPr>
            <a:spLocks noGrp="1"/>
          </p:cNvSpPr>
          <p:nvPr/>
        </p:nvSpPr>
        <p:spPr>
          <a:xfrm>
            <a:off x="6096000" y="1117600"/>
            <a:ext cx="12700" cy="5232400"/>
          </a:xfrm>
          <a:prstGeom prst="line">
            <a:avLst/>
          </a:prstGeom>
          <a:noFill/>
          <a:ln w="9525">
            <a:solidFill>
              <a:srgbClr val="33415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10" name="vd510"/>
          <p:cNvSpPr>
            <a:spLocks noGrp="1"/>
          </p:cNvSpPr>
          <p:nvPr/>
        </p:nvSpPr>
        <p:spPr>
          <a:xfrm>
            <a:off x="10223500" y="1117600"/>
            <a:ext cx="12700" cy="5232400"/>
          </a:xfrm>
          <a:prstGeom prst="line">
            <a:avLst/>
          </a:prstGeom>
          <a:noFill/>
          <a:ln w="9525">
            <a:solidFill>
              <a:srgbClr val="334155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11" name="b511"/>
          <p:cNvSpPr>
            <a:spLocks noGrp="1"/>
          </p:cNvSpPr>
          <p:nvPr/>
        </p:nvSpPr>
        <p:spPr>
          <a:xfrm>
            <a:off x="1231900" y="1219200"/>
            <a:ext cx="1473200" cy="254000"/>
          </a:xfrm>
          <a:prstGeom prst="rect">
            <a:avLst/>
          </a:prstGeom>
          <a:solidFill>
            <a:srgbClr val="1E293B"/>
          </a:solidFill>
          <a:ln w="9525">
            <a:solidFill>
              <a:srgbClr val="3B4A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2" name="t512"/>
          <p:cNvSpPr txBox="1">
            <a:spLocks noGrp="1"/>
          </p:cNvSpPr>
          <p:nvPr/>
        </p:nvSpPr>
        <p:spPr>
          <a:xfrm>
            <a:off x="1257300" y="12573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50" b="1" i="0" dirty="0">
                <a:solidFill>
                  <a:srgbClr val="B0BEC5"/>
                </a:solidFill>
                <a:latin typeface="Consolas"/>
              </a:rPr>
              <a:t>host.StartAsync()</a:t>
            </a:r>
          </a:p>
        </p:txBody>
      </p:sp>
      <p:sp>
        <p:nvSpPr>
          <p:cNvPr id="513" name="ar513"/>
          <p:cNvSpPr>
            <a:spLocks noGrp="1"/>
          </p:cNvSpPr>
          <p:nvPr/>
        </p:nvSpPr>
        <p:spPr>
          <a:xfrm>
            <a:off x="1981200" y="1663564"/>
            <a:ext cx="3175000" cy="12835"/>
          </a:xfrm>
          <a:prstGeom prst="line">
            <a:avLst/>
          </a:prstGeom>
          <a:noFill/>
          <a:ln w="12700">
            <a:solidFill>
              <a:srgbClr val="4472C4"/>
            </a:solidFill>
            <a:prstDash val="dash"/>
            <a:headEnd type="none" w="med" len="med"/>
            <a:tailEnd type="triangle" w="med" len="med"/>
          </a:ln>
        </p:spPr>
        <p:txBody>
          <a:bodyPr/>
          <a:lstStyle/>
          <a:p>
            <a:endParaRPr/>
          </a:p>
        </p:txBody>
      </p:sp>
      <p:sp>
        <p:nvSpPr>
          <p:cNvPr id="514" name="t514"/>
          <p:cNvSpPr txBox="1">
            <a:spLocks noGrp="1"/>
          </p:cNvSpPr>
          <p:nvPr/>
        </p:nvSpPr>
        <p:spPr>
          <a:xfrm>
            <a:off x="2070100" y="1447800"/>
            <a:ext cx="39243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0" i="1" dirty="0">
                <a:solidFill>
                  <a:srgbClr val="718096"/>
                </a:solidFill>
              </a:rPr>
              <a:t>creates temp reply queue</a:t>
            </a:r>
          </a:p>
        </p:txBody>
      </p:sp>
      <p:sp>
        <p:nvSpPr>
          <p:cNvPr id="515" name="b515"/>
          <p:cNvSpPr>
            <a:spLocks noGrp="1"/>
          </p:cNvSpPr>
          <p:nvPr/>
        </p:nvSpPr>
        <p:spPr>
          <a:xfrm>
            <a:off x="5181600" y="1524000"/>
            <a:ext cx="1828800" cy="279400"/>
          </a:xfrm>
          <a:prstGeom prst="roundRect">
            <a:avLst/>
          </a:prstGeom>
          <a:solidFill>
            <a:srgbClr val="102027"/>
          </a:solidFill>
          <a:ln w="9525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6" name="t516"/>
          <p:cNvSpPr txBox="1">
            <a:spLocks noGrp="1"/>
          </p:cNvSpPr>
          <p:nvPr/>
        </p:nvSpPr>
        <p:spPr>
          <a:xfrm>
            <a:off x="5207000" y="1574800"/>
            <a:ext cx="177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820" b="0" i="0" dirty="0">
                <a:solidFill>
                  <a:srgbClr val="80DEEA"/>
                </a:solidFill>
                <a:latin typeface="Consolas"/>
              </a:rPr>
              <a:t>reply-queue-abc123  [auto-delete]</a:t>
            </a:r>
          </a:p>
        </p:txBody>
      </p:sp>
      <p:sp>
        <p:nvSpPr>
          <p:cNvPr id="517" name="b517"/>
          <p:cNvSpPr>
            <a:spLocks noGrp="1"/>
          </p:cNvSpPr>
          <p:nvPr/>
        </p:nvSpPr>
        <p:spPr>
          <a:xfrm>
            <a:off x="1231900" y="2286000"/>
            <a:ext cx="2286000" cy="254000"/>
          </a:xfrm>
          <a:prstGeom prst="rect">
            <a:avLst/>
          </a:prstGeom>
          <a:solidFill>
            <a:srgbClr val="1E293B"/>
          </a:solidFill>
          <a:ln w="9525">
            <a:solidFill>
              <a:srgbClr val="3B4A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8" name="t518"/>
          <p:cNvSpPr txBox="1">
            <a:spLocks noGrp="1"/>
          </p:cNvSpPr>
          <p:nvPr/>
        </p:nvSpPr>
        <p:spPr>
          <a:xfrm>
            <a:off x="1257300" y="2324100"/>
            <a:ext cx="2235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B0BEC5"/>
                </a:solidFill>
                <a:latin typeface="Consolas"/>
              </a:rPr>
              <a:t>client.GetResponse&lt;...&gt;(request)</a:t>
            </a:r>
          </a:p>
        </p:txBody>
      </p:sp>
      <p:sp>
        <p:nvSpPr>
          <p:cNvPr id="519" name="ar519"/>
          <p:cNvSpPr>
            <a:spLocks noGrp="1"/>
          </p:cNvSpPr>
          <p:nvPr/>
        </p:nvSpPr>
        <p:spPr>
          <a:xfrm>
            <a:off x="2032000" y="2743200"/>
            <a:ext cx="4000500" cy="12700"/>
          </a:xfrm>
          <a:prstGeom prst="line">
            <a:avLst/>
          </a:prstGeom>
          <a:noFill/>
          <a:ln w="19050">
            <a:solidFill>
              <a:srgbClr val="4472C4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20" name="t520"/>
          <p:cNvSpPr txBox="1">
            <a:spLocks noGrp="1"/>
          </p:cNvSpPr>
          <p:nvPr/>
        </p:nvSpPr>
        <p:spPr>
          <a:xfrm>
            <a:off x="2070100" y="2565400"/>
            <a:ext cx="39243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50" b="0" i="1" dirty="0">
                <a:solidFill>
                  <a:srgbClr val="718096"/>
                </a:solidFill>
              </a:rPr>
              <a:t>publishes to →</a:t>
            </a:r>
          </a:p>
        </p:txBody>
      </p:sp>
      <p:sp>
        <p:nvSpPr>
          <p:cNvPr id="521" name="b521"/>
          <p:cNvSpPr>
            <a:spLocks noGrp="1"/>
          </p:cNvSpPr>
          <p:nvPr/>
        </p:nvSpPr>
        <p:spPr>
          <a:xfrm>
            <a:off x="5181600" y="2616200"/>
            <a:ext cx="1828800" cy="279400"/>
          </a:xfrm>
          <a:prstGeom prst="roundRect">
            <a:avLst/>
          </a:prstGeom>
          <a:solidFill>
            <a:srgbClr val="1A237E"/>
          </a:solidFill>
          <a:ln w="9525">
            <a:solidFill>
              <a:srgbClr val="3949A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2" name="t522"/>
          <p:cNvSpPr txBox="1">
            <a:spLocks noGrp="1"/>
          </p:cNvSpPr>
          <p:nvPr/>
        </p:nvSpPr>
        <p:spPr>
          <a:xfrm>
            <a:off x="5207000" y="2667000"/>
            <a:ext cx="177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00" b="0" i="0" dirty="0">
                <a:solidFill>
                  <a:srgbClr val="90CAF9"/>
                </a:solidFill>
                <a:latin typeface="Consolas"/>
              </a:rPr>
              <a:t>[get-order-status]</a:t>
            </a:r>
          </a:p>
        </p:txBody>
      </p:sp>
      <p:sp>
        <p:nvSpPr>
          <p:cNvPr id="523" name="t523"/>
          <p:cNvSpPr txBox="1">
            <a:spLocks noGrp="1"/>
          </p:cNvSpPr>
          <p:nvPr/>
        </p:nvSpPr>
        <p:spPr>
          <a:xfrm>
            <a:off x="2070100" y="2921000"/>
            <a:ext cx="39243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546E7A"/>
                </a:solidFill>
                <a:latin typeface="Consolas"/>
              </a:rPr>
              <a:t>ReplyAddress = "reply-queue-abc123"</a:t>
            </a:r>
          </a:p>
        </p:txBody>
      </p:sp>
      <p:sp>
        <p:nvSpPr>
          <p:cNvPr id="524" name="t524"/>
          <p:cNvSpPr txBox="1">
            <a:spLocks noGrp="1"/>
          </p:cNvSpPr>
          <p:nvPr/>
        </p:nvSpPr>
        <p:spPr>
          <a:xfrm>
            <a:off x="2070100" y="3086100"/>
            <a:ext cx="39243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546E7A"/>
                </a:solidFill>
                <a:latin typeface="Consolas"/>
              </a:rPr>
              <a:t>CorrelationId = "some-guid-1234"</a:t>
            </a:r>
          </a:p>
        </p:txBody>
      </p:sp>
      <p:sp>
        <p:nvSpPr>
          <p:cNvPr id="525" name="ar525"/>
          <p:cNvSpPr>
            <a:spLocks noGrp="1"/>
          </p:cNvSpPr>
          <p:nvPr/>
        </p:nvSpPr>
        <p:spPr>
          <a:xfrm>
            <a:off x="7073900" y="2743200"/>
            <a:ext cx="2374900" cy="25400"/>
          </a:xfrm>
          <a:prstGeom prst="line">
            <a:avLst/>
          </a:prstGeom>
          <a:noFill/>
          <a:ln w="1905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26" name="t526"/>
          <p:cNvSpPr txBox="1">
            <a:spLocks noGrp="1"/>
          </p:cNvSpPr>
          <p:nvPr/>
        </p:nvSpPr>
        <p:spPr>
          <a:xfrm>
            <a:off x="9486900" y="2565400"/>
            <a:ext cx="1524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80DEEA"/>
                </a:solidFill>
                <a:latin typeface="Consolas"/>
              </a:rPr>
              <a:t>Consume(context)</a:t>
            </a:r>
          </a:p>
        </p:txBody>
      </p:sp>
      <p:sp>
        <p:nvSpPr>
          <p:cNvPr id="527" name="t527"/>
          <p:cNvSpPr txBox="1">
            <a:spLocks noGrp="1"/>
          </p:cNvSpPr>
          <p:nvPr/>
        </p:nvSpPr>
        <p:spPr>
          <a:xfrm>
            <a:off x="9486900" y="2768600"/>
            <a:ext cx="1524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reads OrderId</a:t>
            </a:r>
          </a:p>
        </p:txBody>
      </p:sp>
      <p:sp>
        <p:nvSpPr>
          <p:cNvPr id="528" name="t528"/>
          <p:cNvSpPr txBox="1">
            <a:spLocks noGrp="1"/>
          </p:cNvSpPr>
          <p:nvPr/>
        </p:nvSpPr>
        <p:spPr>
          <a:xfrm>
            <a:off x="9486900" y="2933700"/>
            <a:ext cx="1524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does work…</a:t>
            </a:r>
          </a:p>
        </p:txBody>
      </p:sp>
      <p:sp>
        <p:nvSpPr>
          <p:cNvPr id="529" name="b529"/>
          <p:cNvSpPr>
            <a:spLocks noGrp="1"/>
          </p:cNvSpPr>
          <p:nvPr/>
        </p:nvSpPr>
        <p:spPr>
          <a:xfrm>
            <a:off x="9486900" y="3810000"/>
            <a:ext cx="2032000" cy="254000"/>
          </a:xfrm>
          <a:prstGeom prst="rect">
            <a:avLst/>
          </a:prstGeom>
          <a:solidFill>
            <a:srgbClr val="1E293B"/>
          </a:solidFill>
          <a:ln w="9525">
            <a:solidFill>
              <a:srgbClr val="3B4A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0" name="t530"/>
          <p:cNvSpPr txBox="1">
            <a:spLocks noGrp="1"/>
          </p:cNvSpPr>
          <p:nvPr/>
        </p:nvSpPr>
        <p:spPr>
          <a:xfrm>
            <a:off x="9512300" y="3848100"/>
            <a:ext cx="1981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B0BEC5"/>
                </a:solidFill>
                <a:latin typeface="Consolas"/>
              </a:rPr>
              <a:t>context.RespondAsync(...)</a:t>
            </a:r>
          </a:p>
        </p:txBody>
      </p:sp>
      <p:sp>
        <p:nvSpPr>
          <p:cNvPr id="531" name="ar531"/>
          <p:cNvSpPr>
            <a:spLocks noGrp="1"/>
          </p:cNvSpPr>
          <p:nvPr/>
        </p:nvSpPr>
        <p:spPr>
          <a:xfrm flipH="1">
            <a:off x="6159500" y="4267200"/>
            <a:ext cx="4000500" cy="12700"/>
          </a:xfrm>
          <a:prstGeom prst="line">
            <a:avLst/>
          </a:prstGeom>
          <a:noFill/>
          <a:ln w="19050">
            <a:solidFill>
              <a:srgbClr val="5B9BD5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32" name="t532"/>
          <p:cNvSpPr txBox="1">
            <a:spLocks noGrp="1"/>
          </p:cNvSpPr>
          <p:nvPr/>
        </p:nvSpPr>
        <p:spPr>
          <a:xfrm>
            <a:off x="6197600" y="4089400"/>
            <a:ext cx="39243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publishes to ReplyAddress →</a:t>
            </a:r>
          </a:p>
        </p:txBody>
      </p:sp>
      <p:sp>
        <p:nvSpPr>
          <p:cNvPr id="533" name="b533"/>
          <p:cNvSpPr>
            <a:spLocks noGrp="1"/>
          </p:cNvSpPr>
          <p:nvPr/>
        </p:nvSpPr>
        <p:spPr>
          <a:xfrm>
            <a:off x="5181600" y="4140200"/>
            <a:ext cx="1828800" cy="279400"/>
          </a:xfrm>
          <a:prstGeom prst="roundRect">
            <a:avLst/>
          </a:prstGeom>
          <a:solidFill>
            <a:srgbClr val="102027"/>
          </a:solidFill>
          <a:ln w="9525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4" name="t534"/>
          <p:cNvSpPr txBox="1">
            <a:spLocks noGrp="1"/>
          </p:cNvSpPr>
          <p:nvPr/>
        </p:nvSpPr>
        <p:spPr>
          <a:xfrm>
            <a:off x="5207000" y="4191000"/>
            <a:ext cx="1778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00" b="0" i="0" dirty="0">
                <a:solidFill>
                  <a:srgbClr val="80DEEA"/>
                </a:solidFill>
                <a:latin typeface="Consolas"/>
              </a:rPr>
              <a:t>reply-queue-abc123</a:t>
            </a:r>
          </a:p>
        </p:txBody>
      </p:sp>
      <p:sp>
        <p:nvSpPr>
          <p:cNvPr id="535" name="t535"/>
          <p:cNvSpPr txBox="1">
            <a:spLocks noGrp="1"/>
          </p:cNvSpPr>
          <p:nvPr/>
        </p:nvSpPr>
        <p:spPr>
          <a:xfrm>
            <a:off x="5207000" y="4445000"/>
            <a:ext cx="1778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820" b="0" i="1" dirty="0">
                <a:solidFill>
                  <a:srgbClr val="546E7A"/>
                </a:solidFill>
                <a:latin typeface="Consolas"/>
              </a:rPr>
              <a:t>(same CorrelationId)</a:t>
            </a:r>
          </a:p>
        </p:txBody>
      </p:sp>
      <p:sp>
        <p:nvSpPr>
          <p:cNvPr id="536" name="t536"/>
          <p:cNvSpPr txBox="1">
            <a:spLocks noGrp="1"/>
          </p:cNvSpPr>
          <p:nvPr/>
        </p:nvSpPr>
        <p:spPr>
          <a:xfrm>
            <a:off x="1231900" y="4749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i="0" dirty="0">
                <a:solidFill>
                  <a:srgbClr val="B0BEC5"/>
                </a:solidFill>
                <a:latin typeface="Consolas"/>
              </a:rPr>
              <a:t>await GetResponse&lt;...&gt;  resolves</a:t>
            </a:r>
          </a:p>
        </p:txBody>
      </p:sp>
      <p:sp>
        <p:nvSpPr>
          <p:cNvPr id="537" name="t537"/>
          <p:cNvSpPr txBox="1">
            <a:spLocks noGrp="1"/>
          </p:cNvSpPr>
          <p:nvPr/>
        </p:nvSpPr>
        <p:spPr>
          <a:xfrm>
            <a:off x="1231900" y="4953000"/>
            <a:ext cx="2286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listening on reply queue…</a:t>
            </a:r>
          </a:p>
        </p:txBody>
      </p:sp>
      <p:sp>
        <p:nvSpPr>
          <p:cNvPr id="538" name="ar538"/>
          <p:cNvSpPr>
            <a:spLocks noGrp="1"/>
          </p:cNvSpPr>
          <p:nvPr/>
        </p:nvSpPr>
        <p:spPr>
          <a:xfrm flipH="1">
            <a:off x="2032000" y="5384800"/>
            <a:ext cx="4000500" cy="12700"/>
          </a:xfrm>
          <a:prstGeom prst="line">
            <a:avLst/>
          </a:prstGeom>
          <a:noFill/>
          <a:ln w="19050">
            <a:solidFill>
              <a:srgbClr val="ED7D31"/>
            </a:solidFill>
            <a:headEnd type="triangle" w="med" len="med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39" name="t539"/>
          <p:cNvSpPr txBox="1">
            <a:spLocks noGrp="1"/>
          </p:cNvSpPr>
          <p:nvPr/>
        </p:nvSpPr>
        <p:spPr>
          <a:xfrm>
            <a:off x="2032000" y="5156200"/>
            <a:ext cx="3810000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820" b="0" i="1" dirty="0">
                <a:solidFill>
                  <a:srgbClr val="718096"/>
                </a:solidFill>
              </a:rPr>
              <a:t>matched by CorrelationId</a:t>
            </a:r>
          </a:p>
        </p:txBody>
      </p:sp>
      <p:sp>
        <p:nvSpPr>
          <p:cNvPr id="540" name="b540"/>
          <p:cNvSpPr>
            <a:spLocks noGrp="1"/>
          </p:cNvSpPr>
          <p:nvPr/>
        </p:nvSpPr>
        <p:spPr>
          <a:xfrm>
            <a:off x="1231900" y="5562600"/>
            <a:ext cx="2235200" cy="304800"/>
          </a:xfrm>
          <a:prstGeom prst="roundRect">
            <a:avLst/>
          </a:prstGeom>
          <a:solidFill>
            <a:srgbClr val="1B5E20"/>
          </a:solidFill>
          <a:ln w="9525">
            <a:solidFill>
              <a:srgbClr val="43A04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1" name="t541"/>
          <p:cNvSpPr txBox="1">
            <a:spLocks noGrp="1"/>
          </p:cNvSpPr>
          <p:nvPr/>
        </p:nvSpPr>
        <p:spPr>
          <a:xfrm>
            <a:off x="1279593" y="5651500"/>
            <a:ext cx="2184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50" b="1" i="0" dirty="0">
                <a:solidFill>
                  <a:srgbClr val="A5D6A7"/>
                </a:solidFill>
              </a:rPr>
              <a:t>returns Response&lt;T&gt;   ✔</a:t>
            </a:r>
          </a:p>
        </p:txBody>
      </p:sp>
      <p:sp>
        <p:nvSpPr>
          <p:cNvPr id="542" name="vd542"/>
          <p:cNvSpPr>
            <a:spLocks noGrp="1"/>
          </p:cNvSpPr>
          <p:nvPr/>
        </p:nvSpPr>
        <p:spPr>
          <a:xfrm>
            <a:off x="4038600" y="1117600"/>
            <a:ext cx="12700" cy="5232400"/>
          </a:xfrm>
          <a:prstGeom prst="line">
            <a:avLst/>
          </a:prstGeom>
          <a:noFill/>
          <a:ln w="9525">
            <a:solidFill>
              <a:srgbClr val="1E293B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3" name="vd543"/>
          <p:cNvSpPr>
            <a:spLocks noGrp="1"/>
          </p:cNvSpPr>
          <p:nvPr/>
        </p:nvSpPr>
        <p:spPr>
          <a:xfrm>
            <a:off x="8153400" y="1117600"/>
            <a:ext cx="12700" cy="5232400"/>
          </a:xfrm>
          <a:prstGeom prst="line">
            <a:avLst/>
          </a:prstGeom>
          <a:noFill/>
          <a:ln w="9525">
            <a:solidFill>
              <a:srgbClr val="1E293B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4" name="b544"/>
          <p:cNvSpPr>
            <a:spLocks noGrp="1"/>
          </p:cNvSpPr>
          <p:nvPr/>
        </p:nvSpPr>
        <p:spPr>
          <a:xfrm>
            <a:off x="508000" y="6350000"/>
            <a:ext cx="11176000" cy="3556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9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5" name="t545"/>
          <p:cNvSpPr txBox="1">
            <a:spLocks noGrp="1"/>
          </p:cNvSpPr>
          <p:nvPr/>
        </p:nvSpPr>
        <p:spPr>
          <a:xfrm>
            <a:off x="635000" y="6438900"/>
            <a:ext cx="1092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buNone/>
            </a:pPr>
            <a:r>
              <a:rPr lang="en-US" sz="950" b="0" i="1" dirty="0">
                <a:solidFill>
                  <a:srgbClr val="546E7A"/>
                </a:solidFill>
              </a:rPr>
              <a:t>Two one-way queue messages  →  looks like a synchronous await from the caller's perspective</a:t>
            </a:r>
          </a:p>
        </p:txBody>
      </p:sp>
    </p:spTree>
    <p:extLst>
      <p:ext uri="{BB962C8B-B14F-4D97-AF65-F5344CB8AC3E}">
        <p14:creationId xmlns:p14="http://schemas.microsoft.com/office/powerpoint/2010/main" val="3681863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mt600"/>
          <p:cNvSpPr txBox="1">
            <a:spLocks noGrp="1"/>
          </p:cNvSpPr>
          <p:nvPr/>
        </p:nvSpPr>
        <p:spPr>
          <a:xfrm>
            <a:off x="508000" y="1524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800" b="1" i="0" dirty="0">
                <a:solidFill>
                  <a:srgbClr val="FF6B35"/>
                </a:solidFill>
              </a:rPr>
              <a:t>Mapped to Your Code</a:t>
            </a:r>
          </a:p>
        </p:txBody>
      </p:sp>
      <p:sp>
        <p:nvSpPr>
          <p:cNvPr id="601" name="mt601"/>
          <p:cNvSpPr txBox="1">
            <a:spLocks noGrp="1"/>
          </p:cNvSpPr>
          <p:nvPr/>
        </p:nvSpPr>
        <p:spPr>
          <a:xfrm>
            <a:off x="508000" y="482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</a:rPr>
              <a:t>What each line actually does inside MassTransit</a:t>
            </a:r>
          </a:p>
        </p:txBody>
      </p:sp>
      <p:sp>
        <p:nvSpPr>
          <p:cNvPr id="602" name="mt602"/>
          <p:cNvSpPr txBox="1">
            <a:spLocks noGrp="1"/>
          </p:cNvSpPr>
          <p:nvPr/>
        </p:nvSpPr>
        <p:spPr>
          <a:xfrm>
            <a:off x="584200" y="812800"/>
            <a:ext cx="546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00" b="0" i="1" dirty="0">
                <a:solidFill>
                  <a:srgbClr val="546E7A"/>
                </a:solidFill>
              </a:rPr>
              <a:t>Consumer side  —  GetOrderStatusConsumer.cs:8</a:t>
            </a:r>
          </a:p>
        </p:txBody>
      </p:sp>
      <p:sp>
        <p:nvSpPr>
          <p:cNvPr id="603" name="b603"/>
          <p:cNvSpPr>
            <a:spLocks noGrp="1"/>
          </p:cNvSpPr>
          <p:nvPr/>
        </p:nvSpPr>
        <p:spPr>
          <a:xfrm>
            <a:off x="584200" y="990600"/>
            <a:ext cx="5461000" cy="27940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4" name="mt604"/>
          <p:cNvSpPr txBox="1">
            <a:spLocks noGrp="1"/>
          </p:cNvSpPr>
          <p:nvPr/>
        </p:nvSpPr>
        <p:spPr>
          <a:xfrm>
            <a:off x="635000" y="1041400"/>
            <a:ext cx="5359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MT registered a queue named "get-order-status" via ConfigureEndpoints()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It listens on that queue permanently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public async Task Consume(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    ConsumeContext&lt;GetOrderStatusRequest&gt; context)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context.Message        → deserialized request body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context.CorrelationId  → GUID publisher awaits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context.ReplyAddress   → "rabbitmq://localhost/reply-queue-abc123"</a:t>
            </a:r>
          </a:p>
          <a:p>
            <a:pPr algn="l">
              <a:buNone/>
            </a:pPr>
            <a:r>
              <a:rPr lang="en-US" sz="900" b="1" i="0" dirty="0">
                <a:solidFill>
                  <a:srgbClr val="90CAF9"/>
                </a:solidFill>
                <a:latin typeface="Consolas"/>
              </a:rPr>
              <a:t>    await context.RespondAsync(new GetOrderStatusResponse { ... });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↑ MT reads ReplyAddress and publishes response there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    //   with same CorrelationId so publisher can match it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05" name="mt605"/>
          <p:cNvSpPr txBox="1">
            <a:spLocks noGrp="1"/>
          </p:cNvSpPr>
          <p:nvPr/>
        </p:nvSpPr>
        <p:spPr>
          <a:xfrm>
            <a:off x="584200" y="3860800"/>
            <a:ext cx="5461000" cy="711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80" b="1" i="0" dirty="0">
                <a:solidFill>
                  <a:srgbClr val="80DEEA"/>
                </a:solidFill>
              </a:rPr>
              <a:t>① MT auto-creates queue on startup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80DEEA"/>
                </a:solidFill>
              </a:rPr>
              <a:t>② context carries all routing info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80DEEA"/>
                </a:solidFill>
              </a:rPr>
              <a:t>③ RespondAsync uses ReplyAddress + CorrelationId</a:t>
            </a:r>
          </a:p>
        </p:txBody>
      </p:sp>
      <p:sp>
        <p:nvSpPr>
          <p:cNvPr id="606" name="mt606"/>
          <p:cNvSpPr txBox="1">
            <a:spLocks noGrp="1"/>
          </p:cNvSpPr>
          <p:nvPr/>
        </p:nvSpPr>
        <p:spPr>
          <a:xfrm>
            <a:off x="6223000" y="812800"/>
            <a:ext cx="546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00" b="0" i="1" dirty="0">
                <a:solidFill>
                  <a:srgbClr val="546E7A"/>
                </a:solidFill>
              </a:rPr>
              <a:t>Publisher side  —  Publisher/Program.cs:32</a:t>
            </a:r>
          </a:p>
        </p:txBody>
      </p:sp>
      <p:sp>
        <p:nvSpPr>
          <p:cNvPr id="607" name="b607"/>
          <p:cNvSpPr>
            <a:spLocks noGrp="1"/>
          </p:cNvSpPr>
          <p:nvPr/>
        </p:nvSpPr>
        <p:spPr>
          <a:xfrm>
            <a:off x="6223000" y="990600"/>
            <a:ext cx="5461000" cy="27940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8" name="mt608"/>
          <p:cNvSpPr txBox="1">
            <a:spLocks noGrp="1"/>
          </p:cNvSpPr>
          <p:nvPr/>
        </p:nvSpPr>
        <p:spPr>
          <a:xfrm>
            <a:off x="6273800" y="1041400"/>
            <a:ext cx="5359400" cy="26924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NOT a blocking thread — registers a TaskCompletionSource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keyed on CorrelationId, then awaits it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var response = await client.GetResponse&lt;GetOrderStatusResponse&gt;(</a:t>
            </a:r>
          </a:p>
          <a:p>
            <a:pPr algn="l">
              <a:buNone/>
            </a:pPr>
            <a:r>
              <a:rPr lang="en-US" sz="900" b="0" i="0" dirty="0">
                <a:solidFill>
                  <a:srgbClr val="E2E8F0"/>
                </a:solidFill>
                <a:latin typeface="Consolas"/>
              </a:rPr>
              <a:t>    new GetOrderStatusRequest { OrderId = orderId });</a:t>
            </a:r>
          </a:p>
          <a:p>
            <a:pPr algn="l">
              <a:buNone/>
            </a:pPr>
            <a:endParaRPr lang="en-US" sz="900" b="0" i="0" dirty="0">
              <a:solidFill>
                <a:srgbClr val="E2E8F0"/>
              </a:solidFill>
              <a:latin typeface="Consolas"/>
            </a:endParaRP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Resumes only when a message arrives on the reply queue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with a matching CorrelationId</a:t>
            </a:r>
          </a:p>
          <a:p>
            <a:pPr algn="l">
              <a:buNone/>
            </a:pPr>
            <a:endParaRPr lang="en-US" sz="820" b="0" i="1" dirty="0">
              <a:solidFill>
                <a:srgbClr val="4A5568"/>
              </a:solidFill>
              <a:latin typeface="Consolas"/>
            </a:endParaRP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// Access the response:</a:t>
            </a:r>
          </a:p>
          <a:p>
            <a:pPr algn="l">
              <a:buNone/>
            </a:pPr>
            <a:r>
              <a:rPr lang="en-US" sz="900" b="1" i="0" dirty="0">
                <a:solidFill>
                  <a:srgbClr val="90CAF9"/>
                </a:solidFill>
                <a:latin typeface="Consolas"/>
              </a:rPr>
              <a:t>var status = response.Message.Status;</a:t>
            </a:r>
          </a:p>
          <a:p>
            <a:pPr algn="l">
              <a:buNone/>
            </a:pPr>
            <a:r>
              <a:rPr lang="en-US" sz="820" b="0" i="1" dirty="0">
                <a:solidFill>
                  <a:srgbClr val="4A5568"/>
                </a:solidFill>
                <a:latin typeface="Consolas"/>
              </a:rPr>
              <a:t>var corrId = response.CorrelationId;   // matches what was sent</a:t>
            </a:r>
          </a:p>
        </p:txBody>
      </p:sp>
      <p:sp>
        <p:nvSpPr>
          <p:cNvPr id="609" name="mt609"/>
          <p:cNvSpPr txBox="1">
            <a:spLocks noGrp="1"/>
          </p:cNvSpPr>
          <p:nvPr/>
        </p:nvSpPr>
        <p:spPr>
          <a:xfrm>
            <a:off x="6223000" y="3860800"/>
            <a:ext cx="5461000" cy="711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80" b="1" i="0" dirty="0">
                <a:solidFill>
                  <a:srgbClr val="FFB74D"/>
                </a:solidFill>
              </a:rPr>
              <a:t>① GetResponse publishes + registers TCS on CorrelationId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FFB74D"/>
                </a:solidFill>
              </a:rPr>
              <a:t>② Task unblocks only when matching reply arrives</a:t>
            </a:r>
          </a:p>
          <a:p>
            <a:pPr algn="l">
              <a:buNone/>
            </a:pPr>
            <a:r>
              <a:rPr lang="en-US" sz="880" b="1" i="0" dirty="0">
                <a:solidFill>
                  <a:srgbClr val="FFB74D"/>
                </a:solidFill>
              </a:rPr>
              <a:t>③ response.Message is the fully deserialized T</a:t>
            </a:r>
          </a:p>
        </p:txBody>
      </p:sp>
      <p:sp>
        <p:nvSpPr>
          <p:cNvPr id="610" name="b610"/>
          <p:cNvSpPr>
            <a:spLocks noGrp="1"/>
          </p:cNvSpPr>
          <p:nvPr/>
        </p:nvSpPr>
        <p:spPr>
          <a:xfrm>
            <a:off x="584200" y="4800600"/>
            <a:ext cx="11099800" cy="635000"/>
          </a:xfrm>
          <a:prstGeom prst="roundRect">
            <a:avLst/>
          </a:prstGeom>
          <a:solidFill>
            <a:srgbClr val="102027"/>
          </a:solidFill>
          <a:ln w="9525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1" name="mt611"/>
          <p:cNvSpPr txBox="1">
            <a:spLocks noGrp="1"/>
          </p:cNvSpPr>
          <p:nvPr/>
        </p:nvSpPr>
        <p:spPr>
          <a:xfrm>
            <a:off x="711200" y="4851400"/>
            <a:ext cx="10922000" cy="558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100" b="1" i="0" dirty="0">
                <a:solidFill>
                  <a:srgbClr val="FFC000"/>
                </a:solidFill>
              </a:rPr>
              <a:t>Key insight</a:t>
            </a:r>
          </a:p>
          <a:p>
            <a:pPr algn="l">
              <a:buNone/>
            </a:pPr>
            <a:r>
              <a:rPr lang="en-US" sz="950" b="0" i="0" dirty="0">
                <a:solidFill>
                  <a:srgbClr val="B0BEC5"/>
                </a:solidFill>
              </a:rPr>
              <a:t>GetResponse is asynchronous — it registers a TaskCompletionSource keyed on CorrelationId, not a blocking thread.</a:t>
            </a:r>
          </a:p>
        </p:txBody>
      </p:sp>
      <p:sp>
        <p:nvSpPr>
          <p:cNvPr id="612" name="b612"/>
          <p:cNvSpPr>
            <a:spLocks noGrp="1"/>
          </p:cNvSpPr>
          <p:nvPr/>
        </p:nvSpPr>
        <p:spPr>
          <a:xfrm>
            <a:off x="584200" y="5461000"/>
            <a:ext cx="11099800" cy="12700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3" name="mt613"/>
          <p:cNvSpPr txBox="1">
            <a:spLocks noGrp="1"/>
          </p:cNvSpPr>
          <p:nvPr/>
        </p:nvSpPr>
        <p:spPr>
          <a:xfrm>
            <a:off x="711200" y="5511800"/>
            <a:ext cx="10922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1" i="0" dirty="0">
                <a:solidFill>
                  <a:srgbClr val="718096"/>
                </a:solidFill>
                <a:latin typeface="Consolas"/>
              </a:rPr>
              <a:t>Timeout config:</a:t>
            </a:r>
          </a:p>
          <a:p>
            <a:pPr algn="l">
              <a:buNone/>
            </a:pPr>
            <a:r>
              <a:rPr lang="en-US" sz="820" b="0" i="0" dirty="0">
                <a:solidFill>
                  <a:srgbClr val="718096"/>
                </a:solidFill>
                <a:latin typeface="Consolas"/>
              </a:rPr>
              <a:t>services.AddMassTransit(x =&gt; x.AddRequestClient&lt;GetOrderStatusRequest&gt;(timeout: RequestTimeout.After(s: 10)));</a:t>
            </a:r>
          </a:p>
          <a:p>
            <a:pPr algn="l">
              <a:buNone/>
            </a:pPr>
            <a:r>
              <a:rPr lang="en-US" sz="780" b="0" i="1" dirty="0">
                <a:solidFill>
                  <a:srgbClr val="4A5568"/>
                </a:solidFill>
                <a:latin typeface="Consolas"/>
              </a:rPr>
              <a:t>// None = wait forever (not recommended)  |  Default = 30s  |  RequestTimeout.After(...) = custom</a:t>
            </a:r>
          </a:p>
        </p:txBody>
      </p:sp>
    </p:spTree>
    <p:extLst>
      <p:ext uri="{BB962C8B-B14F-4D97-AF65-F5344CB8AC3E}">
        <p14:creationId xmlns:p14="http://schemas.microsoft.com/office/powerpoint/2010/main" val="3982966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t700"/>
          <p:cNvSpPr txBox="1">
            <a:spLocks noGrp="1"/>
          </p:cNvSpPr>
          <p:nvPr/>
        </p:nvSpPr>
        <p:spPr>
          <a:xfrm>
            <a:off x="508000" y="177800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800" b="1" i="0" dirty="0">
                <a:solidFill>
                  <a:srgbClr val="FF6B35"/>
                </a:solidFill>
              </a:rPr>
              <a:t>What's in RabbitMQ</a:t>
            </a:r>
          </a:p>
        </p:txBody>
      </p:sp>
      <p:sp>
        <p:nvSpPr>
          <p:cNvPr id="701" name="t701"/>
          <p:cNvSpPr txBox="1">
            <a:spLocks noGrp="1"/>
          </p:cNvSpPr>
          <p:nvPr/>
        </p:nvSpPr>
        <p:spPr>
          <a:xfrm>
            <a:off x="508000" y="5080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  <a:latin typeface="Consolas"/>
              </a:rPr>
              <a:t>Open http://localhost:15672 during a run — here's what you'd see</a:t>
            </a:r>
          </a:p>
        </p:txBody>
      </p:sp>
      <p:sp>
        <p:nvSpPr>
          <p:cNvPr id="702" name="b702"/>
          <p:cNvSpPr>
            <a:spLocks noGrp="1"/>
          </p:cNvSpPr>
          <p:nvPr/>
        </p:nvSpPr>
        <p:spPr>
          <a:xfrm>
            <a:off x="508000" y="812800"/>
            <a:ext cx="11176000" cy="355600"/>
          </a:xfrm>
          <a:prstGeom prst="roundRect">
            <a:avLst/>
          </a:prstGeom>
          <a:solidFill>
            <a:srgbClr val="102027"/>
          </a:solidFill>
          <a:ln w="6350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t703"/>
          <p:cNvSpPr txBox="1">
            <a:spLocks noGrp="1"/>
          </p:cNvSpPr>
          <p:nvPr/>
        </p:nvSpPr>
        <p:spPr>
          <a:xfrm>
            <a:off x="635000" y="889000"/>
            <a:ext cx="1092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80DEEA"/>
                </a:solidFill>
                <a:latin typeface="Consolas"/>
              </a:rPr>
              <a:t>RabbitMQ Management UI  →  http://localhost:15672  (guest / guest)</a:t>
            </a:r>
          </a:p>
        </p:txBody>
      </p:sp>
      <p:sp>
        <p:nvSpPr>
          <p:cNvPr id="704" name="b704"/>
          <p:cNvSpPr>
            <a:spLocks noGrp="1"/>
          </p:cNvSpPr>
          <p:nvPr/>
        </p:nvSpPr>
        <p:spPr>
          <a:xfrm>
            <a:off x="508000" y="1295400"/>
            <a:ext cx="10414000" cy="406400"/>
          </a:xfrm>
          <a:prstGeom prst="rect">
            <a:avLst/>
          </a:prstGeom>
          <a:solidFill>
            <a:srgbClr val="1A237E"/>
          </a:solidFill>
          <a:ln w="6350">
            <a:solidFill>
              <a:srgbClr val="3949A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5" name="t705"/>
          <p:cNvSpPr txBox="1">
            <a:spLocks noGrp="1"/>
          </p:cNvSpPr>
          <p:nvPr/>
        </p:nvSpPr>
        <p:spPr>
          <a:xfrm>
            <a:off x="609600" y="1397000"/>
            <a:ext cx="28194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Queue</a:t>
            </a:r>
          </a:p>
        </p:txBody>
      </p:sp>
      <p:sp>
        <p:nvSpPr>
          <p:cNvPr id="706" name="t706"/>
          <p:cNvSpPr txBox="1">
            <a:spLocks noGrp="1"/>
          </p:cNvSpPr>
          <p:nvPr/>
        </p:nvSpPr>
        <p:spPr>
          <a:xfrm>
            <a:off x="3530600" y="139700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Created by</a:t>
            </a:r>
          </a:p>
        </p:txBody>
      </p:sp>
      <p:sp>
        <p:nvSpPr>
          <p:cNvPr id="707" name="t707"/>
          <p:cNvSpPr txBox="1">
            <a:spLocks noGrp="1"/>
          </p:cNvSpPr>
          <p:nvPr/>
        </p:nvSpPr>
        <p:spPr>
          <a:xfrm>
            <a:off x="7975600" y="1397000"/>
            <a:ext cx="29464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Auto-delete</a:t>
            </a:r>
          </a:p>
        </p:txBody>
      </p:sp>
      <p:sp>
        <p:nvSpPr>
          <p:cNvPr id="708" name="b708"/>
          <p:cNvSpPr>
            <a:spLocks noGrp="1"/>
          </p:cNvSpPr>
          <p:nvPr/>
        </p:nvSpPr>
        <p:spPr>
          <a:xfrm>
            <a:off x="508000" y="1701800"/>
            <a:ext cx="10414000" cy="6604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9" name="b709"/>
          <p:cNvSpPr>
            <a:spLocks noGrp="1"/>
          </p:cNvSpPr>
          <p:nvPr/>
        </p:nvSpPr>
        <p:spPr>
          <a:xfrm>
            <a:off x="3429000" y="17018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0" name="b710"/>
          <p:cNvSpPr>
            <a:spLocks noGrp="1"/>
          </p:cNvSpPr>
          <p:nvPr/>
        </p:nvSpPr>
        <p:spPr>
          <a:xfrm>
            <a:off x="7874000" y="17018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1" name="t711"/>
          <p:cNvSpPr txBox="1">
            <a:spLocks noGrp="1"/>
          </p:cNvSpPr>
          <p:nvPr/>
        </p:nvSpPr>
        <p:spPr>
          <a:xfrm>
            <a:off x="609600" y="1803400"/>
            <a:ext cx="2717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90CAF9"/>
                </a:solidFill>
                <a:latin typeface="Consolas"/>
              </a:rPr>
              <a:t>get-order-status</a:t>
            </a:r>
          </a:p>
        </p:txBody>
      </p:sp>
      <p:sp>
        <p:nvSpPr>
          <p:cNvPr id="712" name="t712"/>
          <p:cNvSpPr txBox="1">
            <a:spLocks noGrp="1"/>
          </p:cNvSpPr>
          <p:nvPr/>
        </p:nvSpPr>
        <p:spPr>
          <a:xfrm>
            <a:off x="3530600" y="1778000"/>
            <a:ext cx="424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B0BEC5"/>
                </a:solidFill>
              </a:rPr>
              <a:t>Consumer on startup via</a:t>
            </a:r>
          </a:p>
        </p:txBody>
      </p:sp>
      <p:sp>
        <p:nvSpPr>
          <p:cNvPr id="713" name="t713"/>
          <p:cNvSpPr txBox="1">
            <a:spLocks noGrp="1"/>
          </p:cNvSpPr>
          <p:nvPr/>
        </p:nvSpPr>
        <p:spPr>
          <a:xfrm>
            <a:off x="3530600" y="1955800"/>
            <a:ext cx="424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80DEEA"/>
                </a:solidFill>
                <a:latin typeface="Consolas"/>
              </a:rPr>
              <a:t>ConfigureEndpoints()</a:t>
            </a:r>
          </a:p>
        </p:txBody>
      </p:sp>
      <p:sp>
        <p:nvSpPr>
          <p:cNvPr id="714" name="t714"/>
          <p:cNvSpPr txBox="1">
            <a:spLocks noGrp="1"/>
          </p:cNvSpPr>
          <p:nvPr/>
        </p:nvSpPr>
        <p:spPr>
          <a:xfrm>
            <a:off x="3530600" y="2146300"/>
            <a:ext cx="4241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</a:rPr>
              <a:t>→ registered automatically from consumer class</a:t>
            </a:r>
          </a:p>
        </p:txBody>
      </p:sp>
      <p:sp>
        <p:nvSpPr>
          <p:cNvPr id="715" name="b715"/>
          <p:cNvSpPr>
            <a:spLocks noGrp="1"/>
          </p:cNvSpPr>
          <p:nvPr/>
        </p:nvSpPr>
        <p:spPr>
          <a:xfrm>
            <a:off x="7975600" y="1854200"/>
            <a:ext cx="2794000" cy="279400"/>
          </a:xfrm>
          <a:prstGeom prst="roundRect">
            <a:avLst/>
          </a:prstGeom>
          <a:solidFill>
            <a:srgbClr val="1B5E20"/>
          </a:solidFill>
          <a:ln w="6350">
            <a:solidFill>
              <a:srgbClr val="43A04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6" name="t716"/>
          <p:cNvSpPr txBox="1">
            <a:spLocks noGrp="1"/>
          </p:cNvSpPr>
          <p:nvPr/>
        </p:nvSpPr>
        <p:spPr>
          <a:xfrm>
            <a:off x="8001000" y="1905000"/>
            <a:ext cx="274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ctr">
              <a:buNone/>
            </a:pPr>
            <a:r>
              <a:rPr lang="en-US" sz="900" b="1" i="0" dirty="0">
                <a:solidFill>
                  <a:srgbClr val="A5D6A7"/>
                </a:solidFill>
              </a:rPr>
              <a:t>No — persists permanently</a:t>
            </a:r>
          </a:p>
        </p:txBody>
      </p:sp>
      <p:sp>
        <p:nvSpPr>
          <p:cNvPr id="717" name="b717"/>
          <p:cNvSpPr>
            <a:spLocks noGrp="1"/>
          </p:cNvSpPr>
          <p:nvPr/>
        </p:nvSpPr>
        <p:spPr>
          <a:xfrm>
            <a:off x="508000" y="2362200"/>
            <a:ext cx="10414000" cy="660400"/>
          </a:xfrm>
          <a:prstGeom prst="rect">
            <a:avLst/>
          </a:prstGeom>
          <a:solidFill>
            <a:srgbClr val="11182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8" name="b718"/>
          <p:cNvSpPr>
            <a:spLocks noGrp="1"/>
          </p:cNvSpPr>
          <p:nvPr/>
        </p:nvSpPr>
        <p:spPr>
          <a:xfrm>
            <a:off x="3429000" y="23622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9" name="b719"/>
          <p:cNvSpPr>
            <a:spLocks noGrp="1"/>
          </p:cNvSpPr>
          <p:nvPr/>
        </p:nvSpPr>
        <p:spPr>
          <a:xfrm>
            <a:off x="7874000" y="2362200"/>
            <a:ext cx="12700" cy="660400"/>
          </a:xfrm>
          <a:prstGeom prst="rect">
            <a:avLst/>
          </a:prstGeom>
          <a:noFill/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0" name="t720"/>
          <p:cNvSpPr txBox="1">
            <a:spLocks noGrp="1"/>
          </p:cNvSpPr>
          <p:nvPr/>
        </p:nvSpPr>
        <p:spPr>
          <a:xfrm>
            <a:off x="609600" y="2463800"/>
            <a:ext cx="2717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80DEEA"/>
                </a:solidFill>
                <a:latin typeface="Consolas"/>
              </a:rPr>
              <a:t>reply-queue-abc123…</a:t>
            </a:r>
          </a:p>
        </p:txBody>
      </p:sp>
      <p:sp>
        <p:nvSpPr>
          <p:cNvPr id="721" name="t721"/>
          <p:cNvSpPr txBox="1">
            <a:spLocks noGrp="1"/>
          </p:cNvSpPr>
          <p:nvPr/>
        </p:nvSpPr>
        <p:spPr>
          <a:xfrm>
            <a:off x="609600" y="2692400"/>
            <a:ext cx="2717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  <a:latin typeface="Consolas"/>
              </a:rPr>
              <a:t>(unique per publisher instance)</a:t>
            </a:r>
          </a:p>
        </p:txBody>
      </p:sp>
      <p:sp>
        <p:nvSpPr>
          <p:cNvPr id="722" name="t722"/>
          <p:cNvSpPr txBox="1">
            <a:spLocks noGrp="1"/>
          </p:cNvSpPr>
          <p:nvPr/>
        </p:nvSpPr>
        <p:spPr>
          <a:xfrm>
            <a:off x="3530600" y="2438400"/>
            <a:ext cx="42418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950" b="0" i="0" dirty="0">
                <a:solidFill>
                  <a:srgbClr val="B0BEC5"/>
                </a:solidFill>
              </a:rPr>
              <a:t>Publisher on host.StartAsync()</a:t>
            </a:r>
          </a:p>
        </p:txBody>
      </p:sp>
      <p:sp>
        <p:nvSpPr>
          <p:cNvPr id="723" name="t723"/>
          <p:cNvSpPr txBox="1">
            <a:spLocks noGrp="1"/>
          </p:cNvSpPr>
          <p:nvPr/>
        </p:nvSpPr>
        <p:spPr>
          <a:xfrm>
            <a:off x="3530600" y="2641600"/>
            <a:ext cx="4241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</a:rPr>
              <a:t>→ MT creates before first request</a:t>
            </a:r>
          </a:p>
        </p:txBody>
      </p:sp>
      <p:sp>
        <p:nvSpPr>
          <p:cNvPr id="724" name="t724"/>
          <p:cNvSpPr txBox="1">
            <a:spLocks noGrp="1"/>
          </p:cNvSpPr>
          <p:nvPr/>
        </p:nvSpPr>
        <p:spPr>
          <a:xfrm>
            <a:off x="3530600" y="2819400"/>
            <a:ext cx="42418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l">
              <a:buNone/>
            </a:pPr>
            <a:r>
              <a:rPr lang="en-US" sz="860" b="0" i="1" dirty="0">
                <a:solidFill>
                  <a:srgbClr val="546E7A"/>
                </a:solidFill>
              </a:rPr>
              <a:t>→ exclusive to this publisher process</a:t>
            </a:r>
          </a:p>
        </p:txBody>
      </p:sp>
      <p:sp>
        <p:nvSpPr>
          <p:cNvPr id="725" name="b725"/>
          <p:cNvSpPr>
            <a:spLocks noGrp="1"/>
          </p:cNvSpPr>
          <p:nvPr/>
        </p:nvSpPr>
        <p:spPr>
          <a:xfrm>
            <a:off x="7975600" y="2514600"/>
            <a:ext cx="2794000" cy="279400"/>
          </a:xfrm>
          <a:prstGeom prst="roundRect">
            <a:avLst/>
          </a:prstGeom>
          <a:solidFill>
            <a:srgbClr val="4E1505"/>
          </a:solidFill>
          <a:ln w="6350">
            <a:solidFill>
              <a:srgbClr val="BF360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6" name="t726"/>
          <p:cNvSpPr txBox="1">
            <a:spLocks noGrp="1"/>
          </p:cNvSpPr>
          <p:nvPr/>
        </p:nvSpPr>
        <p:spPr>
          <a:xfrm>
            <a:off x="8001000" y="2565400"/>
            <a:ext cx="274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0"/>
          <a:lstStyle/>
          <a:p>
            <a:pPr algn="ctr">
              <a:buNone/>
            </a:pPr>
            <a:r>
              <a:rPr lang="en-US" sz="900" b="1" i="0" dirty="0">
                <a:solidFill>
                  <a:srgbClr val="FF8A65"/>
                </a:solidFill>
              </a:rPr>
              <a:t>Yes — deleted on disconnect</a:t>
            </a:r>
          </a:p>
        </p:txBody>
      </p:sp>
    </p:spTree>
    <p:extLst>
      <p:ext uri="{BB962C8B-B14F-4D97-AF65-F5344CB8AC3E}">
        <p14:creationId xmlns:p14="http://schemas.microsoft.com/office/powerpoint/2010/main" val="1580476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t800"/>
          <p:cNvSpPr txBox="1">
            <a:spLocks noGrp="1"/>
          </p:cNvSpPr>
          <p:nvPr/>
        </p:nvSpPr>
        <p:spPr>
          <a:xfrm>
            <a:off x="508000" y="1778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1700" b="1" i="0" dirty="0">
                <a:solidFill>
                  <a:srgbClr val="FF6B35"/>
                </a:solidFill>
              </a:rPr>
              <a:t>Key Differences — HTTP vs MassTransit Request/Response</a:t>
            </a:r>
          </a:p>
        </p:txBody>
      </p:sp>
      <p:sp>
        <p:nvSpPr>
          <p:cNvPr id="801" name="t801"/>
          <p:cNvSpPr txBox="1">
            <a:spLocks noGrp="1"/>
          </p:cNvSpPr>
          <p:nvPr/>
        </p:nvSpPr>
        <p:spPr>
          <a:xfrm>
            <a:off x="508000" y="5080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1000" b="0" i="1" dirty="0">
                <a:solidFill>
                  <a:srgbClr val="90A4AE"/>
                </a:solidFill>
              </a:rPr>
              <a:t>Same end-result from the caller's view — very different mechanics underneath</a:t>
            </a:r>
          </a:p>
        </p:txBody>
      </p:sp>
      <p:sp>
        <p:nvSpPr>
          <p:cNvPr id="802" name="b802"/>
          <p:cNvSpPr>
            <a:spLocks noGrp="1"/>
          </p:cNvSpPr>
          <p:nvPr/>
        </p:nvSpPr>
        <p:spPr>
          <a:xfrm>
            <a:off x="508000" y="838200"/>
            <a:ext cx="10922000" cy="381000"/>
          </a:xfrm>
          <a:prstGeom prst="rect">
            <a:avLst/>
          </a:prstGeom>
          <a:solidFill>
            <a:srgbClr val="1A1A2E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3" name="t803"/>
          <p:cNvSpPr txBox="1">
            <a:spLocks noGrp="1"/>
          </p:cNvSpPr>
          <p:nvPr/>
        </p:nvSpPr>
        <p:spPr>
          <a:xfrm>
            <a:off x="584200" y="9271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endParaRPr/>
          </a:p>
        </p:txBody>
      </p:sp>
      <p:sp>
        <p:nvSpPr>
          <p:cNvPr id="804" name="b804"/>
          <p:cNvSpPr>
            <a:spLocks noGrp="1"/>
          </p:cNvSpPr>
          <p:nvPr/>
        </p:nvSpPr>
        <p:spPr>
          <a:xfrm>
            <a:off x="2667000" y="838200"/>
            <a:ext cx="4318000" cy="381000"/>
          </a:xfrm>
          <a:prstGeom prst="rect">
            <a:avLst/>
          </a:prstGeom>
          <a:solidFill>
            <a:srgbClr val="1A237E"/>
          </a:solidFill>
          <a:ln w="6350">
            <a:solidFill>
              <a:srgbClr val="3949A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5" name="t805"/>
          <p:cNvSpPr txBox="1">
            <a:spLocks noGrp="1"/>
          </p:cNvSpPr>
          <p:nvPr/>
        </p:nvSpPr>
        <p:spPr>
          <a:xfrm>
            <a:off x="2768600" y="92710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90CAF9"/>
                </a:solidFill>
              </a:rPr>
              <a:t>HTTP</a:t>
            </a:r>
          </a:p>
        </p:txBody>
      </p:sp>
      <p:sp>
        <p:nvSpPr>
          <p:cNvPr id="806" name="b806"/>
          <p:cNvSpPr>
            <a:spLocks noGrp="1"/>
          </p:cNvSpPr>
          <p:nvPr/>
        </p:nvSpPr>
        <p:spPr>
          <a:xfrm>
            <a:off x="6985000" y="838200"/>
            <a:ext cx="4445000" cy="381000"/>
          </a:xfrm>
          <a:prstGeom prst="rect">
            <a:avLst/>
          </a:prstGeom>
          <a:solidFill>
            <a:srgbClr val="0D3B2E"/>
          </a:solidFill>
          <a:ln w="6350">
            <a:solidFill>
              <a:srgbClr val="2E7D5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7" name="t807"/>
          <p:cNvSpPr txBox="1">
            <a:spLocks noGrp="1"/>
          </p:cNvSpPr>
          <p:nvPr/>
        </p:nvSpPr>
        <p:spPr>
          <a:xfrm>
            <a:off x="7086600" y="927100"/>
            <a:ext cx="42418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ctr">
              <a:buNone/>
            </a:pPr>
            <a:r>
              <a:rPr lang="en-US" sz="1100" b="1" i="0" dirty="0">
                <a:solidFill>
                  <a:srgbClr val="A5D6A7"/>
                </a:solidFill>
              </a:rPr>
              <a:t>MassTransit Request/Response</a:t>
            </a:r>
          </a:p>
        </p:txBody>
      </p:sp>
      <p:sp>
        <p:nvSpPr>
          <p:cNvPr id="808" name="b808"/>
          <p:cNvSpPr>
            <a:spLocks noGrp="1"/>
          </p:cNvSpPr>
          <p:nvPr/>
        </p:nvSpPr>
        <p:spPr>
          <a:xfrm>
            <a:off x="508000" y="12192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9" name="b809"/>
          <p:cNvSpPr>
            <a:spLocks noGrp="1"/>
          </p:cNvSpPr>
          <p:nvPr/>
        </p:nvSpPr>
        <p:spPr>
          <a:xfrm>
            <a:off x="2667000" y="12192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0" name="b810"/>
          <p:cNvSpPr>
            <a:spLocks noGrp="1"/>
          </p:cNvSpPr>
          <p:nvPr/>
        </p:nvSpPr>
        <p:spPr>
          <a:xfrm>
            <a:off x="6985000" y="12192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1" name="t811"/>
          <p:cNvSpPr txBox="1">
            <a:spLocks noGrp="1"/>
          </p:cNvSpPr>
          <p:nvPr/>
        </p:nvSpPr>
        <p:spPr>
          <a:xfrm>
            <a:off x="584200" y="13970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Protocol</a:t>
            </a:r>
          </a:p>
        </p:txBody>
      </p:sp>
      <p:sp>
        <p:nvSpPr>
          <p:cNvPr id="812" name="t812"/>
          <p:cNvSpPr txBox="1">
            <a:spLocks noGrp="1"/>
          </p:cNvSpPr>
          <p:nvPr/>
        </p:nvSpPr>
        <p:spPr>
          <a:xfrm>
            <a:off x="2743200" y="13970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TCP + HTTP (port 80/443)</a:t>
            </a:r>
          </a:p>
        </p:txBody>
      </p:sp>
      <p:sp>
        <p:nvSpPr>
          <p:cNvPr id="813" name="t813"/>
          <p:cNvSpPr txBox="1">
            <a:spLocks noGrp="1"/>
          </p:cNvSpPr>
          <p:nvPr/>
        </p:nvSpPr>
        <p:spPr>
          <a:xfrm>
            <a:off x="7061200" y="13970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CAF9"/>
                </a:solidFill>
              </a:rPr>
              <a:t>TCP + AMQP (port 5672)</a:t>
            </a:r>
          </a:p>
        </p:txBody>
      </p:sp>
      <p:sp>
        <p:nvSpPr>
          <p:cNvPr id="814" name="b814"/>
          <p:cNvSpPr>
            <a:spLocks noGrp="1"/>
          </p:cNvSpPr>
          <p:nvPr/>
        </p:nvSpPr>
        <p:spPr>
          <a:xfrm>
            <a:off x="508000" y="1803400"/>
            <a:ext cx="2159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5" name="b815"/>
          <p:cNvSpPr>
            <a:spLocks noGrp="1"/>
          </p:cNvSpPr>
          <p:nvPr/>
        </p:nvSpPr>
        <p:spPr>
          <a:xfrm>
            <a:off x="2667000" y="1803400"/>
            <a:ext cx="4318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6" name="b816"/>
          <p:cNvSpPr>
            <a:spLocks noGrp="1"/>
          </p:cNvSpPr>
          <p:nvPr/>
        </p:nvSpPr>
        <p:spPr>
          <a:xfrm>
            <a:off x="6985000" y="18034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17" name="t817"/>
          <p:cNvSpPr txBox="1">
            <a:spLocks noGrp="1"/>
          </p:cNvSpPr>
          <p:nvPr/>
        </p:nvSpPr>
        <p:spPr>
          <a:xfrm>
            <a:off x="584200" y="19812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Coupling</a:t>
            </a:r>
          </a:p>
        </p:txBody>
      </p:sp>
      <p:sp>
        <p:nvSpPr>
          <p:cNvPr id="818" name="t818"/>
          <p:cNvSpPr txBox="1">
            <a:spLocks noGrp="1"/>
          </p:cNvSpPr>
          <p:nvPr/>
        </p:nvSpPr>
        <p:spPr>
          <a:xfrm>
            <a:off x="2743200" y="19812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EF9A9A"/>
                </a:solidFill>
              </a:rPr>
              <a:t>Publisher must know Consumer's URL</a:t>
            </a:r>
          </a:p>
        </p:txBody>
      </p:sp>
      <p:sp>
        <p:nvSpPr>
          <p:cNvPr id="819" name="t819"/>
          <p:cNvSpPr txBox="1">
            <a:spLocks noGrp="1"/>
          </p:cNvSpPr>
          <p:nvPr/>
        </p:nvSpPr>
        <p:spPr>
          <a:xfrm>
            <a:off x="7061200" y="19812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A5D6A7"/>
                </a:solidFill>
              </a:rPr>
              <a:t>Publisher only knows the message type</a:t>
            </a:r>
          </a:p>
        </p:txBody>
      </p:sp>
      <p:sp>
        <p:nvSpPr>
          <p:cNvPr id="820" name="b820"/>
          <p:cNvSpPr>
            <a:spLocks noGrp="1"/>
          </p:cNvSpPr>
          <p:nvPr/>
        </p:nvSpPr>
        <p:spPr>
          <a:xfrm>
            <a:off x="508000" y="23876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1" name="b821"/>
          <p:cNvSpPr>
            <a:spLocks noGrp="1"/>
          </p:cNvSpPr>
          <p:nvPr/>
        </p:nvSpPr>
        <p:spPr>
          <a:xfrm>
            <a:off x="2667000" y="23876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2" name="b822"/>
          <p:cNvSpPr>
            <a:spLocks noGrp="1"/>
          </p:cNvSpPr>
          <p:nvPr/>
        </p:nvSpPr>
        <p:spPr>
          <a:xfrm>
            <a:off x="6985000" y="23876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3" name="t823"/>
          <p:cNvSpPr txBox="1">
            <a:spLocks noGrp="1"/>
          </p:cNvSpPr>
          <p:nvPr/>
        </p:nvSpPr>
        <p:spPr>
          <a:xfrm>
            <a:off x="584200" y="25654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Broker</a:t>
            </a:r>
          </a:p>
        </p:txBody>
      </p:sp>
      <p:sp>
        <p:nvSpPr>
          <p:cNvPr id="824" name="t824"/>
          <p:cNvSpPr txBox="1">
            <a:spLocks noGrp="1"/>
          </p:cNvSpPr>
          <p:nvPr/>
        </p:nvSpPr>
        <p:spPr>
          <a:xfrm>
            <a:off x="2743200" y="25654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No broker — direct connection</a:t>
            </a:r>
          </a:p>
        </p:txBody>
      </p:sp>
      <p:sp>
        <p:nvSpPr>
          <p:cNvPr id="825" name="t825"/>
          <p:cNvSpPr txBox="1">
            <a:spLocks noGrp="1"/>
          </p:cNvSpPr>
          <p:nvPr/>
        </p:nvSpPr>
        <p:spPr>
          <a:xfrm>
            <a:off x="7061200" y="25654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A5D6A7"/>
                </a:solidFill>
              </a:rPr>
              <a:t>Yes — RabbitMQ buffers the request</a:t>
            </a:r>
          </a:p>
        </p:txBody>
      </p:sp>
      <p:sp>
        <p:nvSpPr>
          <p:cNvPr id="826" name="b826"/>
          <p:cNvSpPr>
            <a:spLocks noGrp="1"/>
          </p:cNvSpPr>
          <p:nvPr/>
        </p:nvSpPr>
        <p:spPr>
          <a:xfrm>
            <a:off x="508000" y="2971800"/>
            <a:ext cx="2159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7" name="b827"/>
          <p:cNvSpPr>
            <a:spLocks noGrp="1"/>
          </p:cNvSpPr>
          <p:nvPr/>
        </p:nvSpPr>
        <p:spPr>
          <a:xfrm>
            <a:off x="2667000" y="2971800"/>
            <a:ext cx="4318000" cy="584200"/>
          </a:xfrm>
          <a:prstGeom prst="rect">
            <a:avLst/>
          </a:prstGeom>
          <a:solidFill>
            <a:srgbClr val="1A0A0A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8" name="b828"/>
          <p:cNvSpPr>
            <a:spLocks noGrp="1"/>
          </p:cNvSpPr>
          <p:nvPr/>
        </p:nvSpPr>
        <p:spPr>
          <a:xfrm>
            <a:off x="6985000" y="29718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9" name="t829"/>
          <p:cNvSpPr txBox="1">
            <a:spLocks noGrp="1"/>
          </p:cNvSpPr>
          <p:nvPr/>
        </p:nvSpPr>
        <p:spPr>
          <a:xfrm>
            <a:off x="584200" y="31496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Consumer offline</a:t>
            </a:r>
          </a:p>
        </p:txBody>
      </p:sp>
      <p:sp>
        <p:nvSpPr>
          <p:cNvPr id="830" name="t830"/>
          <p:cNvSpPr txBox="1">
            <a:spLocks noGrp="1"/>
          </p:cNvSpPr>
          <p:nvPr/>
        </p:nvSpPr>
        <p:spPr>
          <a:xfrm>
            <a:off x="2743200" y="31496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EF9A9A"/>
                </a:solidFill>
              </a:rPr>
              <a:t>Request fails immediately</a:t>
            </a:r>
          </a:p>
        </p:txBody>
      </p:sp>
      <p:sp>
        <p:nvSpPr>
          <p:cNvPr id="831" name="t831"/>
          <p:cNvSpPr txBox="1">
            <a:spLocks noGrp="1"/>
          </p:cNvSpPr>
          <p:nvPr/>
        </p:nvSpPr>
        <p:spPr>
          <a:xfrm>
            <a:off x="7061200" y="31496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A5D6A7"/>
                </a:solidFill>
              </a:rPr>
              <a:t>Message stays in queue until Consumer comes up</a:t>
            </a:r>
          </a:p>
        </p:txBody>
      </p:sp>
      <p:sp>
        <p:nvSpPr>
          <p:cNvPr id="832" name="b832"/>
          <p:cNvSpPr>
            <a:spLocks noGrp="1"/>
          </p:cNvSpPr>
          <p:nvPr/>
        </p:nvSpPr>
        <p:spPr>
          <a:xfrm>
            <a:off x="508000" y="35560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3" name="b833"/>
          <p:cNvSpPr>
            <a:spLocks noGrp="1"/>
          </p:cNvSpPr>
          <p:nvPr/>
        </p:nvSpPr>
        <p:spPr>
          <a:xfrm>
            <a:off x="2667000" y="35560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4" name="b834"/>
          <p:cNvSpPr>
            <a:spLocks noGrp="1"/>
          </p:cNvSpPr>
          <p:nvPr/>
        </p:nvSpPr>
        <p:spPr>
          <a:xfrm>
            <a:off x="6985000" y="35560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5" name="t835"/>
          <p:cNvSpPr txBox="1">
            <a:spLocks noGrp="1"/>
          </p:cNvSpPr>
          <p:nvPr/>
        </p:nvSpPr>
        <p:spPr>
          <a:xfrm>
            <a:off x="584200" y="37338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Correlation</a:t>
            </a:r>
          </a:p>
        </p:txBody>
      </p:sp>
      <p:sp>
        <p:nvSpPr>
          <p:cNvPr id="836" name="t836"/>
          <p:cNvSpPr txBox="1">
            <a:spLocks noGrp="1"/>
          </p:cNvSpPr>
          <p:nvPr/>
        </p:nvSpPr>
        <p:spPr>
          <a:xfrm>
            <a:off x="2743200" y="37338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Implicit — same socket/connection</a:t>
            </a:r>
          </a:p>
        </p:txBody>
      </p:sp>
      <p:sp>
        <p:nvSpPr>
          <p:cNvPr id="837" name="t837"/>
          <p:cNvSpPr txBox="1">
            <a:spLocks noGrp="1"/>
          </p:cNvSpPr>
          <p:nvPr/>
        </p:nvSpPr>
        <p:spPr>
          <a:xfrm>
            <a:off x="7061200" y="37338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80DEEA"/>
                </a:solidFill>
              </a:rPr>
              <a:t>Explicit GUID in message header</a:t>
            </a:r>
          </a:p>
        </p:txBody>
      </p:sp>
      <p:sp>
        <p:nvSpPr>
          <p:cNvPr id="838" name="b838"/>
          <p:cNvSpPr>
            <a:spLocks noGrp="1"/>
          </p:cNvSpPr>
          <p:nvPr/>
        </p:nvSpPr>
        <p:spPr>
          <a:xfrm>
            <a:off x="508000" y="4140200"/>
            <a:ext cx="2159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9" name="b839"/>
          <p:cNvSpPr>
            <a:spLocks noGrp="1"/>
          </p:cNvSpPr>
          <p:nvPr/>
        </p:nvSpPr>
        <p:spPr>
          <a:xfrm>
            <a:off x="2667000" y="4140200"/>
            <a:ext cx="4318000" cy="584200"/>
          </a:xfrm>
          <a:prstGeom prst="rect">
            <a:avLst/>
          </a:prstGeom>
          <a:solidFill>
            <a:srgbClr val="0D1117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40" name="b840"/>
          <p:cNvSpPr>
            <a:spLocks noGrp="1"/>
          </p:cNvSpPr>
          <p:nvPr/>
        </p:nvSpPr>
        <p:spPr>
          <a:xfrm>
            <a:off x="6985000" y="4140200"/>
            <a:ext cx="4445000" cy="584200"/>
          </a:xfrm>
          <a:prstGeom prst="rect">
            <a:avLst/>
          </a:prstGeom>
          <a:solidFill>
            <a:srgbClr val="071612"/>
          </a:solidFill>
          <a:ln w="6350">
            <a:solidFill>
              <a:srgbClr val="1E2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41" name="t841"/>
          <p:cNvSpPr txBox="1">
            <a:spLocks noGrp="1"/>
          </p:cNvSpPr>
          <p:nvPr/>
        </p:nvSpPr>
        <p:spPr>
          <a:xfrm>
            <a:off x="584200" y="4318000"/>
            <a:ext cx="2006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50" b="1" i="0" dirty="0">
                <a:solidFill>
                  <a:srgbClr val="FFC000"/>
                </a:solidFill>
              </a:rPr>
              <a:t>Reply address</a:t>
            </a:r>
          </a:p>
        </p:txBody>
      </p:sp>
      <p:sp>
        <p:nvSpPr>
          <p:cNvPr id="842" name="t842"/>
          <p:cNvSpPr txBox="1">
            <a:spLocks noGrp="1"/>
          </p:cNvSpPr>
          <p:nvPr/>
        </p:nvSpPr>
        <p:spPr>
          <a:xfrm>
            <a:off x="2743200" y="4318000"/>
            <a:ext cx="4165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90A4AE"/>
                </a:solidFill>
              </a:rPr>
              <a:t>HTTP response on same socket</a:t>
            </a:r>
          </a:p>
        </p:txBody>
      </p:sp>
      <p:sp>
        <p:nvSpPr>
          <p:cNvPr id="843" name="t843"/>
          <p:cNvSpPr txBox="1">
            <a:spLocks noGrp="1"/>
          </p:cNvSpPr>
          <p:nvPr/>
        </p:nvSpPr>
        <p:spPr>
          <a:xfrm>
            <a:off x="7061200" y="4318000"/>
            <a:ext cx="4292600" cy="2286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80DEEA"/>
                </a:solidFill>
              </a:rPr>
              <a:t>Separate temporary reply queue</a:t>
            </a:r>
          </a:p>
        </p:txBody>
      </p:sp>
      <p:sp>
        <p:nvSpPr>
          <p:cNvPr id="844" name="b844"/>
          <p:cNvSpPr>
            <a:spLocks noGrp="1"/>
          </p:cNvSpPr>
          <p:nvPr/>
        </p:nvSpPr>
        <p:spPr>
          <a:xfrm>
            <a:off x="508000" y="4876800"/>
            <a:ext cx="10922000" cy="762000"/>
          </a:xfrm>
          <a:prstGeom prst="roundRect">
            <a:avLst/>
          </a:prstGeom>
          <a:solidFill>
            <a:srgbClr val="102027"/>
          </a:solidFill>
          <a:ln w="6350">
            <a:solidFill>
              <a:srgbClr val="546E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45" name="t845"/>
          <p:cNvSpPr txBox="1">
            <a:spLocks noGrp="1"/>
          </p:cNvSpPr>
          <p:nvPr/>
        </p:nvSpPr>
        <p:spPr>
          <a:xfrm>
            <a:off x="660400" y="4927600"/>
            <a:ext cx="127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1000" b="1" i="0" dirty="0">
                <a:solidFill>
                  <a:srgbClr val="FFC000"/>
                </a:solidFill>
              </a:rPr>
              <a:t>Core idea</a:t>
            </a:r>
          </a:p>
        </p:txBody>
      </p:sp>
      <p:sp>
        <p:nvSpPr>
          <p:cNvPr id="846" name="t846"/>
          <p:cNvSpPr txBox="1">
            <a:spLocks noGrp="1"/>
          </p:cNvSpPr>
          <p:nvPr/>
        </p:nvSpPr>
        <p:spPr>
          <a:xfrm>
            <a:off x="660400" y="5130800"/>
            <a:ext cx="10617200" cy="1778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B0BEC5"/>
                </a:solidFill>
              </a:rPr>
              <a:t>MassTransit turns two one-way queue messages (request → consumer queue, response → reply queue)</a:t>
            </a:r>
          </a:p>
        </p:txBody>
      </p:sp>
      <p:sp>
        <p:nvSpPr>
          <p:cNvPr id="847" name="t847"/>
          <p:cNvSpPr txBox="1">
            <a:spLocks noGrp="1"/>
          </p:cNvSpPr>
          <p:nvPr/>
        </p:nvSpPr>
        <p:spPr>
          <a:xfrm>
            <a:off x="660400" y="5295900"/>
            <a:ext cx="10617200" cy="177800"/>
          </a:xfrm>
          <a:prstGeom prst="rect">
            <a:avLst/>
          </a:prstGeom>
          <a:noFill/>
          <a:ln>
            <a:noFill/>
          </a:ln>
        </p:spPr>
        <p:txBody>
          <a:bodyPr wrap="square" lIns="63500" tIns="38100" rIns="63500" bIns="0"/>
          <a:lstStyle/>
          <a:p>
            <a:pPr algn="l">
              <a:buNone/>
            </a:pPr>
            <a:r>
              <a:rPr lang="en-US" sz="900" b="0" i="0" dirty="0">
                <a:solidFill>
                  <a:srgbClr val="80DEEA"/>
                </a:solidFill>
              </a:rPr>
              <a:t>into something that looks like a synchronous await from the caller's perspective.</a:t>
            </a:r>
          </a:p>
        </p:txBody>
      </p:sp>
    </p:spTree>
    <p:extLst>
      <p:ext uri="{BB962C8B-B14F-4D97-AF65-F5344CB8AC3E}">
        <p14:creationId xmlns:p14="http://schemas.microsoft.com/office/powerpoint/2010/main" val="2665167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98359-B45E-2E5A-12EF-7B2DC4411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b="1"/>
              <a:t>Reliability: Retries, Redelivery &amp; Outbox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01E2D-CC97-A43B-A34F-D2A3393AF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FF6B35"/>
                </a:solidFill>
              </a:rPr>
              <a:t>Retries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Immediate retry on transient failures —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UseMessageRetry(r =&gt; r.Interval(3, 5000))</a:t>
            </a:r>
          </a:p>
          <a:p>
            <a:pPr marL="342900" indent="-34290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Delayed Redelivery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Re-queues after delay (needs RabbitMQ delayed exchange plugin) —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UseScheduledRedelivery(...)</a:t>
            </a:r>
          </a:p>
          <a:p>
            <a:pPr marL="342900" indent="-34290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Outbox Pattern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Prevents messages publishing before saga state persists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Buffers published messages; dispatches after successful persistence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Eliminates race conditions in saga workflows</a:t>
            </a:r>
          </a:p>
          <a:p>
            <a:pPr marL="342900" indent="-34290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F6B35"/>
                </a:solidFill>
              </a:rPr>
              <a:t>Fault Queues</a:t>
            </a:r>
          </a:p>
          <a:p>
            <a:pPr marL="342900" indent="-342900">
              <a:buFont typeface="Arial"/>
              <a:buChar char="–"/>
            </a:pPr>
            <a:r>
              <a:rPr lang="en-US" sz="1500" dirty="0">
                <a:solidFill>
                  <a:srgbClr val="B0BEC5"/>
                </a:solidFill>
              </a:rPr>
              <a:t>Failed messages move to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&lt;queue&gt;_error</a:t>
            </a:r>
            <a:r>
              <a:rPr lang="en-US" sz="1500" dirty="0">
                <a:solidFill>
                  <a:srgbClr val="B0BEC5"/>
                </a:solidFill>
              </a:rPr>
              <a:t> after exhausting retries; </a:t>
            </a:r>
            <a:r>
              <a:rPr lang="en-US" sz="1500" dirty="0">
                <a:solidFill>
                  <a:srgbClr val="00C9A7"/>
                </a:solidFill>
                <a:latin typeface="Cascadia Code"/>
              </a:rPr>
              <a:t>Fault&lt;T&gt;</a:t>
            </a:r>
            <a:r>
              <a:rPr lang="en-US" sz="1500" dirty="0">
                <a:solidFill>
                  <a:srgbClr val="B0BEC5"/>
                </a:solidFill>
              </a:rPr>
              <a:t> event published</a:t>
            </a:r>
          </a:p>
        </p:txBody>
      </p:sp>
    </p:spTree>
    <p:extLst>
      <p:ext uri="{BB962C8B-B14F-4D97-AF65-F5344CB8AC3E}">
        <p14:creationId xmlns:p14="http://schemas.microsoft.com/office/powerpoint/2010/main" val="2329793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73AD8-40F9-9701-A58D-CB591F1F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Sagas &amp; State Machines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D2EEF-A6B0-8DAF-6F12-BF5052F71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500" dirty="0"/>
              <a:t>Sagas manage long-running, multi-step distributed processes
Each saga instance is identified by a unique </a:t>
            </a:r>
            <a:r>
              <a:rPr lang="en-US" sz="1500" dirty="0" err="1"/>
              <a:t>CorrelationId</a:t>
            </a:r>
            <a:r>
              <a:rPr lang="en-US" sz="1500" dirty="0"/>
              <a:t> (</a:t>
            </a:r>
            <a:r>
              <a:rPr lang="en-US" sz="1500" dirty="0" err="1"/>
              <a:t>Guid</a:t>
            </a:r>
            <a:r>
              <a:rPr lang="en-US" sz="1500" dirty="0"/>
              <a:t>)
Two styles:
     Consumer Saga — class implements </a:t>
            </a:r>
            <a:r>
              <a:rPr lang="en-US" sz="1500" dirty="0" err="1"/>
              <a:t>ISaga</a:t>
            </a:r>
            <a:r>
              <a:rPr lang="en-US" sz="1500" dirty="0"/>
              <a:t> + handler interfaces
     State Machine Saga — class derives from </a:t>
            </a:r>
            <a:r>
              <a:rPr lang="en-US" sz="1500" dirty="0" err="1"/>
              <a:t>MassTransitStateMachine</a:t>
            </a:r>
            <a:r>
              <a:rPr lang="en-US" sz="1500" dirty="0"/>
              <a:t>&lt;T&gt;
State machine components:
     States — conditions (Initial, Submitted, Processing, Final)
     Events — messages that trigger transitions
     Behaviors — actions executed on event receipt
Saga persistence: In-Memory (dev), EF Core, MongoDB, Redis, Marten
Outbox is strongly recommended for sagas to avoid concurrency issues
Built-in: fault tolerance, state visibility, loose coupling, maintainability</a:t>
            </a:r>
          </a:p>
        </p:txBody>
      </p:sp>
    </p:spTree>
    <p:extLst>
      <p:ext uri="{BB962C8B-B14F-4D97-AF65-F5344CB8AC3E}">
        <p14:creationId xmlns:p14="http://schemas.microsoft.com/office/powerpoint/2010/main" val="14839337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E4669-C632-D03E-B378-36C1726E3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State Machine Example: Order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BEF61-0AF6-44F9-DFFF-33269698A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8000"/>
            <a:ext cx="10515600" cy="46355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public class OrderStateMachine : MassTransitStateMachine&lt;OrderState&gt;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{</a:t>
            </a:r>
          </a:p>
          <a:p>
            <a:pPr>
              <a:buNone/>
            </a:pPr>
            <a:r>
              <a:rPr lang="en-US" sz="1200" dirty="0">
                <a:solidFill>
                  <a:srgbClr val="4A90D9"/>
                </a:solidFill>
                <a:latin typeface="Cascadia Code"/>
              </a:rPr>
              <a:t>  public State </a:t>
            </a:r>
            <a:r>
              <a:rPr lang="en-US" sz="1200" dirty="0">
                <a:solidFill>
                  <a:srgbClr val="00C9A7"/>
                </a:solidFill>
                <a:latin typeface="Cascadia Code"/>
              </a:rPr>
              <a:t>Submitted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{ get; private set; }</a:t>
            </a:r>
          </a:p>
          <a:p>
            <a:pPr>
              <a:buNone/>
            </a:pPr>
            <a:r>
              <a:rPr lang="en-US" sz="1200" dirty="0">
                <a:solidFill>
                  <a:srgbClr val="4A90D9"/>
                </a:solidFill>
                <a:latin typeface="Cascadia Code"/>
              </a:rPr>
              <a:t>  public Event&lt;OrderSubmitted&gt; </a:t>
            </a:r>
            <a:r>
              <a:rPr lang="en-US" sz="1200" dirty="0">
                <a:solidFill>
                  <a:srgbClr val="00C9A7"/>
                </a:solidFill>
                <a:latin typeface="Cascadia Code"/>
              </a:rPr>
              <a:t>OrderSubmitted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{ get; private set; }</a:t>
            </a:r>
          </a:p>
          <a:p>
            <a:pPr>
              <a:buNone/>
            </a:pPr>
            <a:r>
              <a:rPr lang="en-US" sz="1200" dirty="0">
                <a:solidFill>
                  <a:srgbClr val="4A90D9"/>
                </a:solidFill>
                <a:latin typeface="Cascadia Code"/>
              </a:rPr>
              <a:t>  public Event&lt;PaymentProcessed&gt; </a:t>
            </a:r>
            <a:r>
              <a:rPr lang="en-US" sz="1200" dirty="0">
                <a:solidFill>
                  <a:srgbClr val="00C9A7"/>
                </a:solidFill>
                <a:latin typeface="Cascadia Code"/>
              </a:rPr>
              <a:t>PaymentProcessed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 { get; private set; }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public OrderStateMachine() {</a:t>
            </a:r>
          </a:p>
          <a:p>
            <a:pPr>
              <a:buNone/>
            </a:pPr>
            <a:r>
              <a:rPr lang="en-US" sz="1200" dirty="0">
                <a:solidFill>
                  <a:srgbClr val="F7B731"/>
                </a:solidFill>
                <a:latin typeface="Cascadia Code"/>
              </a:rPr>
              <a:t>    Event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(() =&gt; OrderSubmitted, x =&gt; x.CorrelateById(m =&gt; m.Message.OrderId));</a:t>
            </a:r>
          </a:p>
          <a:p>
            <a:pPr>
              <a:buNone/>
            </a:pPr>
            <a:r>
              <a:rPr lang="en-US" sz="1200" dirty="0">
                <a:solidFill>
                  <a:srgbClr val="F7B731"/>
                </a:solidFill>
                <a:latin typeface="Cascadia Code"/>
              </a:rPr>
              <a:t>    Initially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(When(OrderSubmitted).TransitionTo(Submitted));</a:t>
            </a:r>
          </a:p>
          <a:p>
            <a:pPr>
              <a:buNone/>
            </a:pPr>
            <a:r>
              <a:rPr lang="en-US" sz="1200" dirty="0">
                <a:solidFill>
                  <a:srgbClr val="F7B731"/>
                </a:solidFill>
                <a:latin typeface="Cascadia Code"/>
              </a:rPr>
              <a:t>    During</a:t>
            </a:r>
            <a:r>
              <a:rPr lang="en-US" sz="1200" dirty="0">
                <a:solidFill>
                  <a:srgbClr val="E8EDF2"/>
                </a:solidFill>
                <a:latin typeface="Cascadia Code"/>
              </a:rPr>
              <a:t>(Submitted,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    When(PaymentProcessed).TransitionTo(Processing),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      When(OrderFailed).Finalize()); }</a:t>
            </a:r>
          </a:p>
          <a:p>
            <a:pPr>
              <a:buNone/>
            </a:pPr>
            <a:r>
              <a:rPr lang="en-US" sz="1200" dirty="0">
                <a:solidFill>
                  <a:srgbClr val="E8EDF2"/>
                </a:solidFill>
                <a:latin typeface="Cascadia Code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50097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706E-28A1-1F6E-7A84-FBDD6DB27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Configuration &amp;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A51AE-665F-4063-8EC4-24A41AF52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en-US" sz="1300" dirty="0">
                <a:solidFill>
                  <a:srgbClr val="F7B731"/>
                </a:solidFill>
                <a:latin typeface="Cascadia Code"/>
              </a:rPr>
              <a:t>// 1. Install NuGet packages</a:t>
            </a:r>
          </a:p>
          <a:p>
            <a:pPr>
              <a:buNone/>
            </a:pPr>
            <a:r>
              <a:rPr lang="en-US" sz="1300" dirty="0">
                <a:solidFill>
                  <a:srgbClr val="00C9A7"/>
                </a:solidFill>
                <a:latin typeface="Cascadia Code"/>
              </a:rPr>
              <a:t>dotnet add package MassTransit.RabbitMQ</a:t>
            </a:r>
          </a:p>
          <a:p>
            <a:pPr>
              <a:spcBef>
                <a:spcPts val="800"/>
              </a:spcBef>
              <a:buNone/>
            </a:pPr>
            <a:r>
              <a:rPr lang="en-US" sz="1300" dirty="0">
                <a:solidFill>
                  <a:srgbClr val="F7B731"/>
                </a:solidFill>
                <a:latin typeface="Cascadia Code"/>
              </a:rPr>
              <a:t>// 2. Register in Program.cs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builder.Services.AddMassTransit(x =&gt;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{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x.AddConsumer&lt;OrderSubmittedConsumer&gt;();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x.AddSagaStateMachine&lt;OrderStateMachine, OrderState&gt;()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.InMemoryRepository();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x.UsingRabbitMq((ctx, cfg) =&gt;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{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cfg.Host("localhost", "/", h =&gt; { h.Username("guest"); h.Password("guest"); });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cfg.UseMessageRetry(r =&gt; r.Interval(3, 5000));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  cfg.UseInMemoryOutbox();  cfg.ConfigureEndpoints(ctx);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  });</a:t>
            </a:r>
          </a:p>
          <a:p>
            <a:pPr>
              <a:buNone/>
            </a:pPr>
            <a:r>
              <a:rPr lang="en-US" sz="1300" dirty="0">
                <a:solidFill>
                  <a:srgbClr val="E8EDF2"/>
                </a:solidFill>
                <a:latin typeface="Cascadia Code"/>
              </a:rPr>
              <a:t>});</a:t>
            </a:r>
          </a:p>
          <a:p>
            <a:pPr>
              <a:spcBef>
                <a:spcPts val="800"/>
              </a:spcBef>
              <a:buNone/>
            </a:pPr>
            <a:r>
              <a:rPr lang="en-US" sz="1300" dirty="0">
                <a:solidFill>
                  <a:srgbClr val="F7B731"/>
                </a:solidFill>
                <a:latin typeface="Cascadia Code"/>
              </a:rPr>
              <a:t>// Docker: docker run -p 15672:15672 -p 5672:5672 masstransit/rabbitmq</a:t>
            </a:r>
          </a:p>
        </p:txBody>
      </p:sp>
    </p:spTree>
    <p:extLst>
      <p:ext uri="{BB962C8B-B14F-4D97-AF65-F5344CB8AC3E}">
        <p14:creationId xmlns:p14="http://schemas.microsoft.com/office/powerpoint/2010/main" val="1965683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5A587-C45B-1C4B-3936-8C9FBA5BE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D8309-C09D-37EB-0A79-A6FDFAE72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500" dirty="0"/>
              <a:t>Isolate message contracts in a shared assembly — ensures publisher/consumer consistency
Register </a:t>
            </a:r>
            <a:r>
              <a:rPr lang="en-US" sz="1500" dirty="0" err="1"/>
              <a:t>MassTransit</a:t>
            </a:r>
            <a:r>
              <a:rPr lang="en-US" sz="1500" dirty="0"/>
              <a:t> as a singleton — prevents duplicate RabbitMQ connections
Design thoughtful exchange/queue topology — avoid routing everything to one queue
Implement dead-letter queues — gracefully handle poison messages
Use durable queues and publish confirmations — enhance reliability
Use Outbox for sagas — prevents concurrency and lost-message issues
Always set </a:t>
            </a:r>
            <a:r>
              <a:rPr lang="en-US" sz="1500" dirty="0" err="1"/>
              <a:t>CorrelationId</a:t>
            </a:r>
            <a:r>
              <a:rPr lang="en-US" sz="1500" dirty="0"/>
              <a:t> as the primary key on saga tables — optimizes performance
Start listeners before publishing events — or use durable queues from day one
Prefer </a:t>
            </a:r>
            <a:r>
              <a:rPr lang="en-US" sz="1500" dirty="0" err="1"/>
              <a:t>ConfigureEndpoints</a:t>
            </a:r>
            <a:r>
              <a:rPr lang="en-US" sz="1500" dirty="0"/>
              <a:t>() — auto-discovers consumers, sagas, and activities
Use the built-in test harness for unit testing consumers and state machines</a:t>
            </a:r>
          </a:p>
        </p:txBody>
      </p:sp>
    </p:spTree>
    <p:extLst>
      <p:ext uri="{BB962C8B-B14F-4D97-AF65-F5344CB8AC3E}">
        <p14:creationId xmlns:p14="http://schemas.microsoft.com/office/powerpoint/2010/main" val="25961549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3" name="Shape 1"/>
          <p:cNvSpPr/>
          <p:nvPr/>
        </p:nvSpPr>
        <p:spPr>
          <a:xfrm>
            <a:off x="609600" y="0"/>
            <a:ext cx="115824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8778240" y="3657600"/>
            <a:ext cx="4876800" cy="4876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5" name="Shape 3"/>
          <p:cNvSpPr/>
          <p:nvPr/>
        </p:nvSpPr>
        <p:spPr>
          <a:xfrm>
            <a:off x="10363200" y="-975360"/>
            <a:ext cx="3413760" cy="3413760"/>
          </a:xfrm>
          <a:prstGeom prst="ellipse">
            <a:avLst/>
          </a:prstGeom>
          <a:solidFill>
            <a:srgbClr val="2DD4BF">
              <a:alpha val="10000"/>
            </a:srgbClr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6" name="Shape 4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7" name="Text 5"/>
          <p:cNvSpPr/>
          <p:nvPr/>
        </p:nvSpPr>
        <p:spPr>
          <a:xfrm>
            <a:off x="975360" y="10972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0F172A"/>
                </a:solidFill>
              </a:rPr>
              <a:t>MASSTRANSIT SETUP</a:t>
            </a:r>
            <a:endParaRPr lang="en-US" sz="1133" dirty="0"/>
          </a:p>
        </p:txBody>
      </p:sp>
      <p:sp>
        <p:nvSpPr>
          <p:cNvPr id="8" name="Text 6"/>
          <p:cNvSpPr/>
          <p:nvPr/>
        </p:nvSpPr>
        <p:spPr>
          <a:xfrm>
            <a:off x="975360" y="1682496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Using NuGet to</a:t>
            </a:r>
            <a:endParaRPr lang="en-US" sz="5067" dirty="0"/>
          </a:p>
        </p:txBody>
      </p:sp>
      <p:sp>
        <p:nvSpPr>
          <p:cNvPr id="9" name="Text 7"/>
          <p:cNvSpPr/>
          <p:nvPr/>
        </p:nvSpPr>
        <p:spPr>
          <a:xfrm>
            <a:off x="975360" y="2499360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FFFFFF"/>
                </a:solidFill>
                <a:latin typeface="Calibri" pitchFamily="34" charset="0"/>
              </a:rPr>
              <a:t>Bootstrap</a:t>
            </a:r>
            <a:endParaRPr lang="en-US" sz="5067" dirty="0"/>
          </a:p>
        </p:txBody>
      </p:sp>
      <p:sp>
        <p:nvSpPr>
          <p:cNvPr id="10" name="Text 8"/>
          <p:cNvSpPr/>
          <p:nvPr/>
        </p:nvSpPr>
        <p:spPr>
          <a:xfrm>
            <a:off x="975360" y="3316224"/>
            <a:ext cx="10363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067" b="1" dirty="0">
                <a:solidFill>
                  <a:srgbClr val="2DD4BF"/>
                </a:solidFill>
                <a:latin typeface="Calibri" pitchFamily="34" charset="0"/>
              </a:rPr>
              <a:t>MassTransit</a:t>
            </a:r>
            <a:endParaRPr lang="en-US" sz="5067" dirty="0"/>
          </a:p>
        </p:txBody>
      </p:sp>
      <p:sp>
        <p:nvSpPr>
          <p:cNvPr id="11" name="Text 9"/>
          <p:cNvSpPr/>
          <p:nvPr/>
        </p:nvSpPr>
        <p:spPr>
          <a:xfrm>
            <a:off x="975360" y="4328160"/>
            <a:ext cx="9753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dirty="0">
                <a:solidFill>
                  <a:srgbClr val="94A3B8"/>
                </a:solidFill>
              </a:rPr>
              <a:t>One package install · No manual copying · Consistent across all projects</a:t>
            </a:r>
            <a:endParaRPr lang="en-US" sz="1733" dirty="0"/>
          </a:p>
        </p:txBody>
      </p:sp>
      <p:sp>
        <p:nvSpPr>
          <p:cNvPr id="12" name="Shape 10"/>
          <p:cNvSpPr/>
          <p:nvPr/>
        </p:nvSpPr>
        <p:spPr>
          <a:xfrm>
            <a:off x="975360" y="4974336"/>
            <a:ext cx="7315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975360" y="5145024"/>
            <a:ext cx="975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64748B"/>
                </a:solidFill>
              </a:rPr>
              <a:t>2026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2074086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AGENDA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09600" y="1609344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609344"/>
            <a:ext cx="85344" cy="20482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53440" y="1755648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29056" y="2499360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What is NuGet?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9056" y="2950464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Package manager for .NET, repository types &amp; concepts</a:t>
            </a:r>
            <a:endParaRPr lang="en-US" sz="1267" dirty="0"/>
          </a:p>
        </p:txBody>
      </p:sp>
      <p:sp>
        <p:nvSpPr>
          <p:cNvPr id="11" name="Shape 9"/>
          <p:cNvSpPr/>
          <p:nvPr/>
        </p:nvSpPr>
        <p:spPr>
          <a:xfrm>
            <a:off x="4364736" y="1609344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4364736" y="1609344"/>
            <a:ext cx="85344" cy="20482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4608576" y="1755648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84192" y="2499360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Local NuGet Repository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84192" y="2950464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Create and register a local package feed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8119872" y="1609344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8119872" y="1609344"/>
            <a:ext cx="85344" cy="20482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8363712" y="1755648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339328" y="2499360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GitHub Packages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39328" y="2950464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Host NuGet packages directly on GitHub</a:t>
            </a:r>
            <a:endParaRPr lang="en-US" sz="1267" dirty="0"/>
          </a:p>
        </p:txBody>
      </p:sp>
      <p:sp>
        <p:nvSpPr>
          <p:cNvPr id="21" name="Shape 19"/>
          <p:cNvSpPr/>
          <p:nvPr/>
        </p:nvSpPr>
        <p:spPr>
          <a:xfrm>
            <a:off x="609600" y="3901440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609600" y="3901440"/>
            <a:ext cx="85344" cy="20482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853440" y="4047744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829056" y="4791456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Create a .NET Library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9056" y="524256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Class library, project metadata &amp; target frameworks</a:t>
            </a:r>
            <a:endParaRPr lang="en-US" sz="1267" dirty="0"/>
          </a:p>
        </p:txBody>
      </p:sp>
      <p:sp>
        <p:nvSpPr>
          <p:cNvPr id="26" name="Shape 24"/>
          <p:cNvSpPr/>
          <p:nvPr/>
        </p:nvSpPr>
        <p:spPr>
          <a:xfrm>
            <a:off x="4364736" y="3901440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4364736" y="3901440"/>
            <a:ext cx="85344" cy="20482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4608576" y="4047744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584192" y="4791456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Build &amp; Pack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84192" y="524256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dotnet pack, versioning &amp; .nupkg inspection</a:t>
            </a:r>
            <a:endParaRPr lang="en-US" sz="1267" dirty="0"/>
          </a:p>
        </p:txBody>
      </p:sp>
      <p:sp>
        <p:nvSpPr>
          <p:cNvPr id="31" name="Shape 29"/>
          <p:cNvSpPr/>
          <p:nvPr/>
        </p:nvSpPr>
        <p:spPr>
          <a:xfrm>
            <a:off x="8119872" y="3901440"/>
            <a:ext cx="347472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30"/>
          <p:cNvSpPr/>
          <p:nvPr/>
        </p:nvSpPr>
        <p:spPr>
          <a:xfrm>
            <a:off x="8119872" y="3901440"/>
            <a:ext cx="85344" cy="204825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1"/>
          <p:cNvSpPr/>
          <p:nvPr/>
        </p:nvSpPr>
        <p:spPr>
          <a:xfrm>
            <a:off x="8363712" y="4047744"/>
            <a:ext cx="7924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339328" y="4791456"/>
            <a:ext cx="307238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E293B"/>
                </a:solidFill>
              </a:rPr>
              <a:t>Publish to GitHub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339328" y="524256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</a:rPr>
              <a:t>Authenticate, push &amp; verify your package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4376244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01 · NUGET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7315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NuGet?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09600" y="1560576"/>
            <a:ext cx="6827520" cy="12801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560576"/>
            <a:ext cx="85344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53440" y="1658112"/>
            <a:ext cx="633984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1E293B"/>
                </a:solidFill>
              </a:rPr>
              <a:t>NuGet is the official package manager for .NET. It enables developers to create, share, and consume reusable code libraries — similar to npm for Node.js or pip for Python.</a:t>
            </a:r>
          </a:p>
        </p:txBody>
      </p:sp>
      <p:sp>
        <p:nvSpPr>
          <p:cNvPr id="9" name="Shape 7"/>
          <p:cNvSpPr/>
          <p:nvPr/>
        </p:nvSpPr>
        <p:spPr>
          <a:xfrm>
            <a:off x="609600" y="309676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1097280" y="304800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Package Format: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341376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.nupkg file containing compiled DLLs, XML docs &amp; metadata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609600" y="395020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097280" y="390144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Dependency Management: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426720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Automatically resolves and downloads transitive dependencies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609600" y="480364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1097280" y="475488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Multiple Sources: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nuget.org (public), GitHub Packages, Azure Artifacts, or local feed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609600" y="565708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1097280" y="5608320"/>
            <a:ext cx="243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.NET Toolchain: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5974080"/>
            <a:ext cx="59740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Built into dotnet CLI, Visual Studio, MSBuild, and Rider</a:t>
            </a:r>
            <a:endParaRPr lang="en-US" sz="1467" dirty="0"/>
          </a:p>
        </p:txBody>
      </p:sp>
      <p:sp>
        <p:nvSpPr>
          <p:cNvPr id="21" name="Shape 19"/>
          <p:cNvSpPr/>
          <p:nvPr/>
        </p:nvSpPr>
        <p:spPr>
          <a:xfrm>
            <a:off x="8229600" y="1560576"/>
            <a:ext cx="3474720" cy="143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8229600" y="1682496"/>
            <a:ext cx="3474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300K+</a:t>
            </a:r>
            <a:endParaRPr lang="en-US" sz="4267" dirty="0"/>
          </a:p>
        </p:txBody>
      </p:sp>
      <p:sp>
        <p:nvSpPr>
          <p:cNvPr id="23" name="Text 21"/>
          <p:cNvSpPr/>
          <p:nvPr/>
        </p:nvSpPr>
        <p:spPr>
          <a:xfrm>
            <a:off x="8229600" y="2535936"/>
            <a:ext cx="347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64748B"/>
                </a:solidFill>
              </a:rPr>
              <a:t>Packages on nuget.org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8229600" y="3243072"/>
            <a:ext cx="3474720" cy="143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8229600" y="3364992"/>
            <a:ext cx="3474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4267" dirty="0"/>
          </a:p>
        </p:txBody>
      </p:sp>
      <p:sp>
        <p:nvSpPr>
          <p:cNvPr id="26" name="Text 24"/>
          <p:cNvSpPr/>
          <p:nvPr/>
        </p:nvSpPr>
        <p:spPr>
          <a:xfrm>
            <a:off x="8229600" y="4218432"/>
            <a:ext cx="347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64748B"/>
                </a:solidFill>
              </a:rPr>
              <a:t>Year NuGet was released</a:t>
            </a:r>
            <a:endParaRPr lang="en-US" sz="1333" dirty="0"/>
          </a:p>
        </p:txBody>
      </p:sp>
      <p:sp>
        <p:nvSpPr>
          <p:cNvPr id="27" name="Shape 25"/>
          <p:cNvSpPr/>
          <p:nvPr/>
        </p:nvSpPr>
        <p:spPr>
          <a:xfrm>
            <a:off x="8229600" y="4925568"/>
            <a:ext cx="3474720" cy="143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8229600" y="5047488"/>
            <a:ext cx="3474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.nupkg</a:t>
            </a:r>
            <a:endParaRPr lang="en-US" sz="4267" dirty="0"/>
          </a:p>
        </p:txBody>
      </p:sp>
      <p:sp>
        <p:nvSpPr>
          <p:cNvPr id="29" name="Text 27"/>
          <p:cNvSpPr/>
          <p:nvPr/>
        </p:nvSpPr>
        <p:spPr>
          <a:xfrm>
            <a:off x="8229600" y="5900928"/>
            <a:ext cx="347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64748B"/>
                </a:solidFill>
              </a:rPr>
              <a:t>Package file format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17624178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02 · LOCAL FEED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Create a Local NuGet Repository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524000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609600" y="1524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1</a:t>
            </a:r>
            <a:endParaRPr lang="en-US" sz="1733" dirty="0"/>
          </a:p>
        </p:txBody>
      </p:sp>
      <p:sp>
        <p:nvSpPr>
          <p:cNvPr id="8" name="Shape 6"/>
          <p:cNvSpPr/>
          <p:nvPr/>
        </p:nvSpPr>
        <p:spPr>
          <a:xfrm>
            <a:off x="829056" y="1962912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1243584" y="1524000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Create a local folder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43584" y="1889760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1341120" y="1901952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C:\LocalNuGet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609600" y="2523744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0960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2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829056" y="2962656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1243584" y="2523744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Register it as NuGet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43584" y="2889504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1341120" y="290169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add source C:\LocalNuGet --name "LocalFeed"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09600" y="3523488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609600" y="3523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3</a:t>
            </a:r>
            <a:endParaRPr lang="en-US" sz="1733" dirty="0"/>
          </a:p>
        </p:txBody>
      </p:sp>
      <p:sp>
        <p:nvSpPr>
          <p:cNvPr id="20" name="Shape 18"/>
          <p:cNvSpPr/>
          <p:nvPr/>
        </p:nvSpPr>
        <p:spPr>
          <a:xfrm>
            <a:off x="829056" y="3962400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1243584" y="3523488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Verify registered sources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43584" y="3889248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1341120" y="3901440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list source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609600" y="4523232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609600" y="4523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4</a:t>
            </a:r>
            <a:endParaRPr lang="en-US" sz="1733" dirty="0"/>
          </a:p>
        </p:txBody>
      </p:sp>
      <p:sp>
        <p:nvSpPr>
          <p:cNvPr id="26" name="Shape 24"/>
          <p:cNvSpPr/>
          <p:nvPr/>
        </p:nvSpPr>
        <p:spPr>
          <a:xfrm>
            <a:off x="829056" y="4962144"/>
            <a:ext cx="0" cy="560832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5"/>
          <p:cNvSpPr/>
          <p:nvPr/>
        </p:nvSpPr>
        <p:spPr>
          <a:xfrm>
            <a:off x="1243584" y="4523232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Copy .nupkg into the folder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243584" y="4888992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1341120" y="490118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Place your .nupkg file inside C:\LocalNuGet</a:t>
            </a:r>
            <a:endParaRPr lang="en-US" sz="1267" dirty="0"/>
          </a:p>
        </p:txBody>
      </p:sp>
      <p:sp>
        <p:nvSpPr>
          <p:cNvPr id="30" name="Shape 28"/>
          <p:cNvSpPr/>
          <p:nvPr/>
        </p:nvSpPr>
        <p:spPr>
          <a:xfrm>
            <a:off x="609600" y="5522976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60960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5</a:t>
            </a:r>
            <a:endParaRPr lang="en-US" sz="1733" dirty="0"/>
          </a:p>
        </p:txBody>
      </p:sp>
      <p:sp>
        <p:nvSpPr>
          <p:cNvPr id="32" name="Text 30"/>
          <p:cNvSpPr/>
          <p:nvPr/>
        </p:nvSpPr>
        <p:spPr>
          <a:xfrm>
            <a:off x="1243584" y="5522976"/>
            <a:ext cx="54864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Install package from feed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243584" y="5888736"/>
            <a:ext cx="548640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1341120" y="5900928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MyLibrary --source "LocalFeed"</a:t>
            </a:r>
            <a:endParaRPr lang="en-US" sz="1267" dirty="0"/>
          </a:p>
        </p:txBody>
      </p:sp>
      <p:sp>
        <p:nvSpPr>
          <p:cNvPr id="35" name="Shape 33"/>
          <p:cNvSpPr/>
          <p:nvPr/>
        </p:nvSpPr>
        <p:spPr>
          <a:xfrm>
            <a:off x="7315200" y="1524000"/>
            <a:ext cx="4450080" cy="46085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6" name="Shape 34"/>
          <p:cNvSpPr/>
          <p:nvPr/>
        </p:nvSpPr>
        <p:spPr>
          <a:xfrm>
            <a:off x="7315200" y="1524000"/>
            <a:ext cx="85344" cy="4608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7583424" y="1731264"/>
            <a:ext cx="3901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When to use a Local Feed?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583424" y="2255520"/>
            <a:ext cx="396240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Testing a package before publishing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No internet / air-gapped environments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Sharing packages within a small dev team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CI/CD pipeline build artifacts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Inner-loop development &amp; prototyping</a:t>
            </a:r>
            <a:endParaRPr lang="en-US" sz="1467" dirty="0"/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64748B"/>
                </a:solidFill>
              </a:rPr>
              <a:t>Offline NuGet restore scenarios</a:t>
            </a:r>
            <a:endParaRPr lang="en-US" sz="1467" dirty="0"/>
          </a:p>
        </p:txBody>
      </p:sp>
      <p:sp>
        <p:nvSpPr>
          <p:cNvPr id="39" name="Shape 37"/>
          <p:cNvSpPr/>
          <p:nvPr/>
        </p:nvSpPr>
        <p:spPr>
          <a:xfrm>
            <a:off x="609600" y="6364224"/>
            <a:ext cx="6461760" cy="36576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0" name="Text 38"/>
          <p:cNvSpPr/>
          <p:nvPr/>
        </p:nvSpPr>
        <p:spPr>
          <a:xfrm>
            <a:off x="731520" y="6376416"/>
            <a:ext cx="627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2400E"/>
                </a:solidFill>
              </a:rPr>
              <a:t>💡  NuGet.Config lives at %AppData%\NuGet\NuGet.Config (global) or per-solution nuget.config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166252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03 · GITHUB PACKAGES</a:t>
            </a:r>
            <a:endParaRPr lang="en-US" sz="1133" dirty="0"/>
          </a:p>
        </p:txBody>
      </p:sp>
      <p:sp>
        <p:nvSpPr>
          <p:cNvPr id="4" name="Text 2"/>
          <p:cNvSpPr/>
          <p:nvPr/>
        </p:nvSpPr>
        <p:spPr>
          <a:xfrm>
            <a:off x="609600" y="707136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GitHub Packages?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09600" y="1463040"/>
            <a:ext cx="97536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94A3B8"/>
                </a:solidFill>
              </a:rPr>
              <a:t>A package hosting service fully integrated into your GitHub repository</a:t>
            </a:r>
            <a:endParaRPr lang="en-US" sz="1733" dirty="0"/>
          </a:p>
        </p:txBody>
      </p:sp>
      <p:sp>
        <p:nvSpPr>
          <p:cNvPr id="6" name="Shape 4"/>
          <p:cNvSpPr/>
          <p:nvPr/>
        </p:nvSpPr>
        <p:spPr>
          <a:xfrm>
            <a:off x="609600" y="2011680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2011680"/>
            <a:ext cx="85344" cy="1341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29056" y="2133600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Multiple Package Types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9056" y="2560320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Supports NuGet, npm, Maven, RubyGems, Docker images and more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85344" cy="13411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620256" y="2133600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Access Control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0256" y="2560320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Tied to GitHub repo permissions — private or public, same model as your code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600" y="3572256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09600" y="3572256"/>
            <a:ext cx="85344" cy="1341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829056" y="3694176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Close to Source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9056" y="4120896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Package lives next to the repo — same org, same permissions, same workflow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3572256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6400800" y="3572256"/>
            <a:ext cx="85344" cy="1341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6620256" y="3694176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GitHub Actions Ready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0256" y="4120896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Publish directly from CI/CD pipeline using the built-in GITHUB_TOKEN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9600" y="5132832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609600" y="5132832"/>
            <a:ext cx="85344" cy="13411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829056" y="5254752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Free for Public Repos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9056" y="5681472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Free unlimited storage &amp; bandwidth for public repos; quota for private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5132832"/>
            <a:ext cx="5486400" cy="1341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6400800" y="5132832"/>
            <a:ext cx="85344" cy="1341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6620256" y="5254752"/>
            <a:ext cx="505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Registry URL Format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20256" y="5681472"/>
            <a:ext cx="50596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94A3B8"/>
                </a:solidFill>
              </a:rPr>
              <a:t>https://nuget.pkg.github.com/{OWNER}/index.json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03 · SETUP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GitHub Packages for NuGet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422400"/>
            <a:ext cx="5364480" cy="20970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422400"/>
            <a:ext cx="85344" cy="20970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77824" y="1580895"/>
            <a:ext cx="47548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FFFFFF"/>
                </a:solidFill>
              </a:rPr>
              <a:t>Step 1 — Create a Personal Access Token (PAT)</a:t>
            </a:r>
            <a:endParaRPr lang="en-US" sz="1533" dirty="0"/>
          </a:p>
        </p:txBody>
      </p:sp>
      <p:sp>
        <p:nvSpPr>
          <p:cNvPr id="9" name="Text 7"/>
          <p:cNvSpPr/>
          <p:nvPr/>
        </p:nvSpPr>
        <p:spPr>
          <a:xfrm>
            <a:off x="877824" y="2117344"/>
            <a:ext cx="47548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1. GitHub → Settings → Developer settings</a:t>
            </a:r>
            <a:endParaRPr lang="en-US" sz="1333" dirty="0"/>
          </a:p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2. Personal access tokens → Tokens (classic)</a:t>
            </a:r>
            <a:endParaRPr lang="en-US" sz="1333" dirty="0"/>
          </a:p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3. Generate new token → select scopes:</a:t>
            </a:r>
            <a:endParaRPr lang="en-US" sz="1333" dirty="0"/>
          </a:p>
          <a:p>
            <a:r>
              <a:rPr lang="en-US" sz="1333" dirty="0">
                <a:solidFill>
                  <a:srgbClr val="64748B"/>
                </a:solidFill>
              </a:rPr>
              <a:t>      write:packages  read:packages  delete:packages</a:t>
            </a:r>
            <a:endParaRPr lang="en-US" sz="1333" dirty="0"/>
          </a:p>
          <a:p>
            <a:pPr marL="457189" indent="-457189">
              <a:buSzPct val="100000"/>
              <a:buChar char="•"/>
            </a:pPr>
            <a:r>
              <a:rPr lang="en-US" sz="1333" dirty="0">
                <a:solidFill>
                  <a:srgbClr val="64748B"/>
                </a:solidFill>
              </a:rPr>
              <a:t>4. Copy and store your token securely!</a:t>
            </a:r>
            <a:endParaRPr lang="en-US" sz="1333" dirty="0"/>
          </a:p>
        </p:txBody>
      </p:sp>
      <p:sp>
        <p:nvSpPr>
          <p:cNvPr id="10" name="Shape 8"/>
          <p:cNvSpPr/>
          <p:nvPr/>
        </p:nvSpPr>
        <p:spPr>
          <a:xfrm>
            <a:off x="6217920" y="1422400"/>
            <a:ext cx="5425440" cy="20970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6217920" y="1422400"/>
            <a:ext cx="85344" cy="20970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461760" y="1580895"/>
            <a:ext cx="4876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FFFFFF"/>
                </a:solidFill>
              </a:rPr>
              <a:t>Step 2 — Add GitHub as NuGet Source</a:t>
            </a:r>
            <a:endParaRPr lang="en-US" sz="1533" dirty="0"/>
          </a:p>
        </p:txBody>
      </p:sp>
      <p:sp>
        <p:nvSpPr>
          <p:cNvPr id="13" name="Shape 11"/>
          <p:cNvSpPr/>
          <p:nvPr/>
        </p:nvSpPr>
        <p:spPr>
          <a:xfrm>
            <a:off x="6461760" y="2117344"/>
            <a:ext cx="4998720" cy="1316736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Shape 12"/>
          <p:cNvSpPr/>
          <p:nvPr/>
        </p:nvSpPr>
        <p:spPr>
          <a:xfrm>
            <a:off x="6461760" y="2117344"/>
            <a:ext cx="499872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571488" y="21783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790944" y="21783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7010400" y="21783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6608064" y="2385568"/>
            <a:ext cx="47304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add source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https://nuget.pkg.github.com/OWNER/index.json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--name "github"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--username YOUR_GITHUB_USERNAME \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--password YOUR_PAT_TOKEN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09600" y="3644900"/>
            <a:ext cx="109728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Recommended for teams — use nuget.config file: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9600" y="4064000"/>
            <a:ext cx="10972800" cy="24130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09600" y="4064000"/>
            <a:ext cx="1097280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719328" y="412496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938784" y="412496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1158240" y="412496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755904" y="4332224"/>
            <a:ext cx="10704576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&lt;?xml version="1.0" encoding="utf-8"?&gt;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&lt;configuration&gt;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&lt;packageSources&gt;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&lt;add key="github"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     value="https://nuget.pkg.github.com/OWNER/index.json" /&gt;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&lt;/packageSources&gt;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&lt;packageSourceCredentials&gt;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&lt;github&gt;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  &lt;add key="Username" value="GITHUB_USERNAME" /&gt;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  &lt;add key="ClearTextPassword" value="%GITHUB_TOKEN%" /&gt;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  &lt;/github&gt;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  &lt;/packageSourceCredentials&gt;</a:t>
            </a:r>
          </a:p>
          <a:p>
            <a:r>
              <a:rPr lang="en-US" sz="1100" dirty="0">
                <a:solidFill>
                  <a:srgbClr val="E6EDF3"/>
                </a:solidFill>
                <a:latin typeface="Consolas" pitchFamily="34" charset="0"/>
              </a:rPr>
              <a:t>&lt;/configuration&gt;</a:t>
            </a:r>
          </a:p>
        </p:txBody>
      </p:sp>
      <p:sp>
        <p:nvSpPr>
          <p:cNvPr id="26" name="Shape 24"/>
          <p:cNvSpPr/>
          <p:nvPr/>
        </p:nvSpPr>
        <p:spPr>
          <a:xfrm>
            <a:off x="609600" y="6489700"/>
            <a:ext cx="10972800" cy="292608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5"/>
          <p:cNvSpPr/>
          <p:nvPr/>
        </p:nvSpPr>
        <p:spPr>
          <a:xfrm>
            <a:off x="731520" y="6502400"/>
            <a:ext cx="1072896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91B1B"/>
                </a:solidFill>
              </a:rPr>
              <a:t>⚠️  Never commit PAT tokens to source control — use environment variables or GitHub Secrets instead.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907058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04 · CREATE LIBRARY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.NET Class Library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09600" y="148742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Step-by-Step Commands</a:t>
            </a:r>
            <a:endParaRPr lang="en-US" sz="1733" dirty="0"/>
          </a:p>
        </p:txBody>
      </p:sp>
      <p:sp>
        <p:nvSpPr>
          <p:cNvPr id="7" name="Shape 5"/>
          <p:cNvSpPr/>
          <p:nvPr/>
        </p:nvSpPr>
        <p:spPr>
          <a:xfrm>
            <a:off x="609600" y="1914144"/>
            <a:ext cx="5852160" cy="28651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09600" y="1914144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719328" y="19751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938784" y="19751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1158240" y="19751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755904" y="2182368"/>
            <a:ext cx="5583936" cy="2499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Create the class library project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classlib -n MyAwesomeLib -f </a:t>
            </a:r>
            <a:r>
              <a:rPr lang="vi-VN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net10</a:t>
            </a:r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.0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Enter the project directory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MyAwesomeLib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(Recommended) Create a solution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sln -n MyAwesomeLib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sln add MyAwesomeLib.csproj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Build to verify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build --configuration Release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9440" y="1487424"/>
            <a:ext cx="463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Project Structure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6949440" y="1914144"/>
            <a:ext cx="4632960" cy="28651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949440" y="1914144"/>
            <a:ext cx="46329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7059168" y="19751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7278624" y="19751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7498080" y="19751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7095744" y="2182368"/>
            <a:ext cx="4364736" cy="2499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MyAwesomeLib/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MyAwesomeLib.sln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MyAwesomeLib/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MyAwesomeLib.csproj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Class1.cs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bin/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Release/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└── net8.0/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├── MyAwesomeLib.dll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└── MyAwesomeLib.xml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09600" y="49743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Choosing the Right Target Framework:</a:t>
            </a:r>
            <a:endParaRPr lang="en-US" sz="1733" dirty="0"/>
          </a:p>
        </p:txBody>
      </p:sp>
      <p:sp>
        <p:nvSpPr>
          <p:cNvPr id="21" name="Shape 19"/>
          <p:cNvSpPr/>
          <p:nvPr/>
        </p:nvSpPr>
        <p:spPr>
          <a:xfrm>
            <a:off x="609600" y="5462016"/>
            <a:ext cx="219456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609600" y="54620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vi-VN" sz="1333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net10</a:t>
            </a:r>
            <a:r>
              <a:rPr lang="en-US" sz="1333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.0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2987040" y="5462016"/>
            <a:ext cx="853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64748B"/>
                </a:solidFill>
              </a:rPr>
              <a:t>→  .NET 8 LTS — best for new projects; modern APIs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10886929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04 · METADATA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Package Metadata in .csproj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09600" y="1487424"/>
            <a:ext cx="670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MyAwesomeLib/MyAwesomeLib.csproj</a:t>
            </a:r>
            <a:endParaRPr lang="en-US" sz="1267" dirty="0"/>
          </a:p>
        </p:txBody>
      </p:sp>
      <p:sp>
        <p:nvSpPr>
          <p:cNvPr id="7" name="Shape 5"/>
          <p:cNvSpPr/>
          <p:nvPr/>
        </p:nvSpPr>
        <p:spPr>
          <a:xfrm>
            <a:off x="609600" y="1828800"/>
            <a:ext cx="6827520" cy="47548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09600" y="1828800"/>
            <a:ext cx="682752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719328" y="188976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938784" y="188976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1158240" y="188976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755904" y="2097024"/>
            <a:ext cx="655929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&lt;Project Sdk="Microsoft.NET.Sdk"&gt;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&lt;PropertyGroup&gt;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&lt;TargetFramework&gt;net8.0&lt;/TargetFramework&gt;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Package Identity --&gt;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&lt;PackageId&gt;MyAwesomeLib&lt;/PackageId&gt;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&lt;Version&gt;1.0.0&lt;/Version&gt;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&lt;Authors&gt;Binh Nguyen&lt;/Authors&gt;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&lt;Company&gt;Innova SW&lt;/Company&gt;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Package Details --&gt;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&lt;Description&gt;A reusable utility library for .NET apps&lt;/Description&gt;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&lt;PackageTags&gt;utilities;helpers;innova&lt;/PackageTags&gt;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&lt;PackageReadmeFile&gt;README.md&lt;/PackageReadmeFile&gt;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Source &amp; License --&gt;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&lt;RepositoryUrl&gt;https://github.com/OWNER/REPO&lt;/RepositoryUrl&gt;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&lt;PackageLicenseExpression&gt;MIT&lt;/PackageLicenseExpression&gt;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&lt;GeneratePackageOnBuild&gt;false&lt;/GeneratePackageOnBuild&gt;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&lt;/PropertyGroup&gt;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&lt;/Project&gt;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7802880" y="1487424"/>
            <a:ext cx="390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Property Reference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02880" y="1889760"/>
            <a:ext cx="3901440" cy="53644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7900416" y="1938528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PackageId</a:t>
            </a:r>
            <a:endParaRPr lang="en-US" sz="1133" dirty="0"/>
          </a:p>
        </p:txBody>
      </p:sp>
      <p:sp>
        <p:nvSpPr>
          <p:cNvPr id="16" name="Shape 14"/>
          <p:cNvSpPr/>
          <p:nvPr/>
        </p:nvSpPr>
        <p:spPr>
          <a:xfrm>
            <a:off x="9973056" y="1926336"/>
            <a:ext cx="451104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9973056" y="1926336"/>
            <a:ext cx="45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33" b="1" dirty="0">
                <a:solidFill>
                  <a:srgbClr val="1D4ED8"/>
                </a:solidFill>
              </a:rPr>
              <a:t>req</a:t>
            </a:r>
            <a:endParaRPr lang="en-US" sz="933" dirty="0"/>
          </a:p>
        </p:txBody>
      </p:sp>
      <p:sp>
        <p:nvSpPr>
          <p:cNvPr id="18" name="Text 16"/>
          <p:cNvSpPr/>
          <p:nvPr/>
        </p:nvSpPr>
        <p:spPr>
          <a:xfrm>
            <a:off x="7900416" y="2194560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Unique identifier on the registry</a:t>
            </a:r>
            <a:endParaRPr lang="en-US" sz="1133" dirty="0"/>
          </a:p>
        </p:txBody>
      </p:sp>
      <p:sp>
        <p:nvSpPr>
          <p:cNvPr id="19" name="Shape 17"/>
          <p:cNvSpPr/>
          <p:nvPr/>
        </p:nvSpPr>
        <p:spPr>
          <a:xfrm>
            <a:off x="7802880" y="2487168"/>
            <a:ext cx="3901440" cy="53644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7900416" y="2535936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1133" dirty="0"/>
          </a:p>
        </p:txBody>
      </p:sp>
      <p:sp>
        <p:nvSpPr>
          <p:cNvPr id="21" name="Shape 19"/>
          <p:cNvSpPr/>
          <p:nvPr/>
        </p:nvSpPr>
        <p:spPr>
          <a:xfrm>
            <a:off x="9973056" y="2523744"/>
            <a:ext cx="451104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9973056" y="2523744"/>
            <a:ext cx="45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33" b="1" dirty="0">
                <a:solidFill>
                  <a:srgbClr val="1D4ED8"/>
                </a:solidFill>
              </a:rPr>
              <a:t>req</a:t>
            </a:r>
            <a:endParaRPr lang="en-US" sz="933" dirty="0"/>
          </a:p>
        </p:txBody>
      </p:sp>
      <p:sp>
        <p:nvSpPr>
          <p:cNvPr id="23" name="Text 21"/>
          <p:cNvSpPr/>
          <p:nvPr/>
        </p:nvSpPr>
        <p:spPr>
          <a:xfrm>
            <a:off x="7900416" y="2791968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SemVer: MAJOR.MINOR.PATCH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7802880" y="3084576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7900416" y="3133344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</a:t>
            </a:r>
            <a:endParaRPr lang="en-US" sz="1133" dirty="0"/>
          </a:p>
        </p:txBody>
      </p:sp>
      <p:sp>
        <p:nvSpPr>
          <p:cNvPr id="26" name="Text 24"/>
          <p:cNvSpPr/>
          <p:nvPr/>
        </p:nvSpPr>
        <p:spPr>
          <a:xfrm>
            <a:off x="7900416" y="3389376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Comma-separated author names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7802880" y="3681984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7900416" y="3730752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</a:t>
            </a:r>
            <a:endParaRPr lang="en-US" sz="1133" dirty="0"/>
          </a:p>
        </p:txBody>
      </p:sp>
      <p:sp>
        <p:nvSpPr>
          <p:cNvPr id="29" name="Text 27"/>
          <p:cNvSpPr/>
          <p:nvPr/>
        </p:nvSpPr>
        <p:spPr>
          <a:xfrm>
            <a:off x="7900416" y="3986784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Organisation / company name</a:t>
            </a:r>
            <a:endParaRPr lang="en-US" sz="1133" dirty="0"/>
          </a:p>
        </p:txBody>
      </p:sp>
      <p:sp>
        <p:nvSpPr>
          <p:cNvPr id="30" name="Shape 28"/>
          <p:cNvSpPr/>
          <p:nvPr/>
        </p:nvSpPr>
        <p:spPr>
          <a:xfrm>
            <a:off x="7802880" y="4279392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7900416" y="4328160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133" dirty="0"/>
          </a:p>
        </p:txBody>
      </p:sp>
      <p:sp>
        <p:nvSpPr>
          <p:cNvPr id="32" name="Text 30"/>
          <p:cNvSpPr/>
          <p:nvPr/>
        </p:nvSpPr>
        <p:spPr>
          <a:xfrm>
            <a:off x="7900416" y="4584192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Shown in NuGet browser and IDE</a:t>
            </a:r>
            <a:endParaRPr lang="en-US" sz="1133" dirty="0"/>
          </a:p>
        </p:txBody>
      </p:sp>
      <p:sp>
        <p:nvSpPr>
          <p:cNvPr id="33" name="Shape 31"/>
          <p:cNvSpPr/>
          <p:nvPr/>
        </p:nvSpPr>
        <p:spPr>
          <a:xfrm>
            <a:off x="7802880" y="4876800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7900416" y="4925568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PackageTags</a:t>
            </a:r>
            <a:endParaRPr lang="en-US" sz="1133" dirty="0"/>
          </a:p>
        </p:txBody>
      </p:sp>
      <p:sp>
        <p:nvSpPr>
          <p:cNvPr id="35" name="Text 33"/>
          <p:cNvSpPr/>
          <p:nvPr/>
        </p:nvSpPr>
        <p:spPr>
          <a:xfrm>
            <a:off x="7900416" y="5181600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Semicolon-separated search keywords</a:t>
            </a:r>
            <a:endParaRPr lang="en-US" sz="1133" dirty="0"/>
          </a:p>
        </p:txBody>
      </p:sp>
      <p:sp>
        <p:nvSpPr>
          <p:cNvPr id="36" name="Shape 34"/>
          <p:cNvSpPr/>
          <p:nvPr/>
        </p:nvSpPr>
        <p:spPr>
          <a:xfrm>
            <a:off x="7802880" y="5474208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7900416" y="5522976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RepositoryUrl</a:t>
            </a:r>
            <a:endParaRPr lang="en-US" sz="1133" dirty="0"/>
          </a:p>
        </p:txBody>
      </p:sp>
      <p:sp>
        <p:nvSpPr>
          <p:cNvPr id="38" name="Text 36"/>
          <p:cNvSpPr/>
          <p:nvPr/>
        </p:nvSpPr>
        <p:spPr>
          <a:xfrm>
            <a:off x="7900416" y="5779008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Link back to source code on GitHub</a:t>
            </a:r>
            <a:endParaRPr lang="en-US" sz="1133" dirty="0"/>
          </a:p>
        </p:txBody>
      </p:sp>
      <p:sp>
        <p:nvSpPr>
          <p:cNvPr id="39" name="Shape 37"/>
          <p:cNvSpPr/>
          <p:nvPr/>
        </p:nvSpPr>
        <p:spPr>
          <a:xfrm>
            <a:off x="7802880" y="6071616"/>
            <a:ext cx="3901440" cy="536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38"/>
          <p:cNvSpPr/>
          <p:nvPr/>
        </p:nvSpPr>
        <p:spPr>
          <a:xfrm>
            <a:off x="7900416" y="6120384"/>
            <a:ext cx="286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PackageLicenseExpression</a:t>
            </a:r>
            <a:endParaRPr lang="en-US" sz="1133" dirty="0"/>
          </a:p>
        </p:txBody>
      </p:sp>
      <p:sp>
        <p:nvSpPr>
          <p:cNvPr id="41" name="Text 39"/>
          <p:cNvSpPr/>
          <p:nvPr/>
        </p:nvSpPr>
        <p:spPr>
          <a:xfrm>
            <a:off x="7900416" y="6376416"/>
            <a:ext cx="36576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64748B"/>
                </a:solidFill>
              </a:rPr>
              <a:t>SPDX identifier, e.g. MIT, Apache-2.0</a:t>
            </a:r>
            <a:endParaRPr lang="en-US" sz="1133" dirty="0"/>
          </a:p>
        </p:txBody>
      </p:sp>
    </p:spTree>
    <p:extLst>
      <p:ext uri="{BB962C8B-B14F-4D97-AF65-F5344CB8AC3E}">
        <p14:creationId xmlns:p14="http://schemas.microsoft.com/office/powerpoint/2010/main" val="4022570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04 · VERSIONING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Versioning — Semantic Versioning (SemVer)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560576"/>
            <a:ext cx="10972800" cy="134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341376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6933" dirty="0"/>
          </a:p>
        </p:txBody>
      </p:sp>
      <p:sp>
        <p:nvSpPr>
          <p:cNvPr id="8" name="Text 6"/>
          <p:cNvSpPr/>
          <p:nvPr/>
        </p:nvSpPr>
        <p:spPr>
          <a:xfrm>
            <a:off x="3413760" y="2474976"/>
            <a:ext cx="1097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EF4444"/>
                </a:solidFill>
              </a:rPr>
              <a:t>MAJOR</a:t>
            </a:r>
            <a:endParaRPr lang="en-US" sz="1067" dirty="0"/>
          </a:p>
        </p:txBody>
      </p:sp>
      <p:sp>
        <p:nvSpPr>
          <p:cNvPr id="9" name="Text 7"/>
          <p:cNvSpPr/>
          <p:nvPr/>
        </p:nvSpPr>
        <p:spPr>
          <a:xfrm>
            <a:off x="475488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6933" dirty="0"/>
          </a:p>
        </p:txBody>
      </p:sp>
      <p:sp>
        <p:nvSpPr>
          <p:cNvPr id="10" name="Text 8"/>
          <p:cNvSpPr/>
          <p:nvPr/>
        </p:nvSpPr>
        <p:spPr>
          <a:xfrm>
            <a:off x="548640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6933" dirty="0"/>
          </a:p>
        </p:txBody>
      </p:sp>
      <p:sp>
        <p:nvSpPr>
          <p:cNvPr id="11" name="Text 9"/>
          <p:cNvSpPr/>
          <p:nvPr/>
        </p:nvSpPr>
        <p:spPr>
          <a:xfrm>
            <a:off x="5486400" y="2474976"/>
            <a:ext cx="1097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59E0B"/>
                </a:solidFill>
              </a:rPr>
              <a:t>MINOR</a:t>
            </a:r>
            <a:endParaRPr lang="en-US" sz="1067" dirty="0"/>
          </a:p>
        </p:txBody>
      </p:sp>
      <p:sp>
        <p:nvSpPr>
          <p:cNvPr id="12" name="Text 10"/>
          <p:cNvSpPr/>
          <p:nvPr/>
        </p:nvSpPr>
        <p:spPr>
          <a:xfrm>
            <a:off x="682752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6933" dirty="0"/>
          </a:p>
        </p:txBody>
      </p:sp>
      <p:sp>
        <p:nvSpPr>
          <p:cNvPr id="13" name="Text 11"/>
          <p:cNvSpPr/>
          <p:nvPr/>
        </p:nvSpPr>
        <p:spPr>
          <a:xfrm>
            <a:off x="7559040" y="158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933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6933" dirty="0"/>
          </a:p>
        </p:txBody>
      </p:sp>
      <p:sp>
        <p:nvSpPr>
          <p:cNvPr id="14" name="Text 12"/>
          <p:cNvSpPr/>
          <p:nvPr/>
        </p:nvSpPr>
        <p:spPr>
          <a:xfrm>
            <a:off x="7559040" y="2474976"/>
            <a:ext cx="1097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10B981"/>
                </a:solidFill>
              </a:rPr>
              <a:t>PATCH</a:t>
            </a:r>
            <a:endParaRPr lang="en-US" sz="1067" dirty="0"/>
          </a:p>
        </p:txBody>
      </p:sp>
      <p:sp>
        <p:nvSpPr>
          <p:cNvPr id="15" name="Shape 13"/>
          <p:cNvSpPr/>
          <p:nvPr/>
        </p:nvSpPr>
        <p:spPr>
          <a:xfrm>
            <a:off x="609600" y="3316224"/>
            <a:ext cx="268224" cy="26822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1036320" y="3194304"/>
            <a:ext cx="14630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EF4444"/>
                </a:solidFill>
              </a:rPr>
              <a:t>MAJOR: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21280" y="3194304"/>
            <a:ext cx="8961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Breaking changes — API is not backwards compatible with previous version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9600" y="4230624"/>
            <a:ext cx="268224" cy="2682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1036320" y="4108704"/>
            <a:ext cx="14630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59E0B"/>
                </a:solidFill>
              </a:rPr>
              <a:t>MINOR: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621280" y="4108704"/>
            <a:ext cx="8961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New features — backwards compatible additions, no existing APIs removed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9600" y="5145024"/>
            <a:ext cx="268224" cy="26822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1036320" y="5023104"/>
            <a:ext cx="14630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0B981"/>
                </a:solidFill>
              </a:rPr>
              <a:t>PATCH: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21280" y="5023104"/>
            <a:ext cx="8961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Bug fixes only — backwards compatible fixes with no new functionality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9600" y="6010656"/>
            <a:ext cx="1097280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09600" y="6010656"/>
            <a:ext cx="85344" cy="7071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914400" y="6144768"/>
            <a:ext cx="15849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7C3AED"/>
                </a:solidFill>
              </a:rPr>
              <a:t>Pre-release: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2621280" y="6144768"/>
            <a:ext cx="86563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1.0.0-alpha  ·  1.0.0-beta.1  ·  1.0.0-rc.2   |   Set via &lt;Version&gt; tag or: dotnet pack --version-suffix beta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2830774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05 · BUILD &amp; PACK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NuGet Package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09600" y="1524000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1.  Build in Release mode</a:t>
            </a:r>
            <a:endParaRPr lang="en-US" sz="1667" dirty="0"/>
          </a:p>
        </p:txBody>
      </p:sp>
      <p:sp>
        <p:nvSpPr>
          <p:cNvPr id="7" name="Shape 5"/>
          <p:cNvSpPr/>
          <p:nvPr/>
        </p:nvSpPr>
        <p:spPr>
          <a:xfrm>
            <a:off x="609600" y="1914144"/>
            <a:ext cx="5852160" cy="670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09600" y="1914144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719328" y="19751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938784" y="19751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1158240" y="19751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755904" y="2182368"/>
            <a:ext cx="55839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build --configuration Release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09600" y="2767584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2.  Create the NuGet package</a:t>
            </a:r>
            <a:endParaRPr lang="en-US" sz="1667" dirty="0"/>
          </a:p>
        </p:txBody>
      </p:sp>
      <p:sp>
        <p:nvSpPr>
          <p:cNvPr id="14" name="Shape 12"/>
          <p:cNvSpPr/>
          <p:nvPr/>
        </p:nvSpPr>
        <p:spPr>
          <a:xfrm>
            <a:off x="609600" y="3157728"/>
            <a:ext cx="5852160" cy="755904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609600" y="3157728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719328" y="3218688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938784" y="3218688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1158240" y="3218688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755904" y="3425952"/>
            <a:ext cx="558393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pack --configuration Release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bin/Release/MyAwesomeLib.1.0.0.nupkg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09600" y="4096512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3.  Pack with version override</a:t>
            </a:r>
            <a:endParaRPr lang="en-US" sz="1667" dirty="0"/>
          </a:p>
        </p:txBody>
      </p:sp>
      <p:sp>
        <p:nvSpPr>
          <p:cNvPr id="21" name="Shape 19"/>
          <p:cNvSpPr/>
          <p:nvPr/>
        </p:nvSpPr>
        <p:spPr>
          <a:xfrm>
            <a:off x="609600" y="4486656"/>
            <a:ext cx="5852160" cy="670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609600" y="4486656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719328" y="4547616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2"/>
          <p:cNvSpPr/>
          <p:nvPr/>
        </p:nvSpPr>
        <p:spPr>
          <a:xfrm>
            <a:off x="938784" y="4547616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1158240" y="4547616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755904" y="4754880"/>
            <a:ext cx="55839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pack -p:Version=2.0.0 --configuration Release</a:t>
            </a:r>
            <a:endParaRPr lang="en-US" sz="1333" dirty="0"/>
          </a:p>
        </p:txBody>
      </p:sp>
      <p:sp>
        <p:nvSpPr>
          <p:cNvPr id="27" name="Text 25"/>
          <p:cNvSpPr/>
          <p:nvPr/>
        </p:nvSpPr>
        <p:spPr>
          <a:xfrm>
            <a:off x="609600" y="5340096"/>
            <a:ext cx="58521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4.  Combine in one command</a:t>
            </a:r>
            <a:endParaRPr lang="en-US" sz="1667" dirty="0"/>
          </a:p>
        </p:txBody>
      </p:sp>
      <p:sp>
        <p:nvSpPr>
          <p:cNvPr id="28" name="Shape 26"/>
          <p:cNvSpPr/>
          <p:nvPr/>
        </p:nvSpPr>
        <p:spPr>
          <a:xfrm>
            <a:off x="609600" y="5730240"/>
            <a:ext cx="5852160" cy="6705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9" name="Shape 27"/>
          <p:cNvSpPr/>
          <p:nvPr/>
        </p:nvSpPr>
        <p:spPr>
          <a:xfrm>
            <a:off x="609600" y="5730240"/>
            <a:ext cx="585216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8"/>
          <p:cNvSpPr/>
          <p:nvPr/>
        </p:nvSpPr>
        <p:spPr>
          <a:xfrm>
            <a:off x="719328" y="579120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Shape 29"/>
          <p:cNvSpPr/>
          <p:nvPr/>
        </p:nvSpPr>
        <p:spPr>
          <a:xfrm>
            <a:off x="938784" y="579120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Shape 30"/>
          <p:cNvSpPr/>
          <p:nvPr/>
        </p:nvSpPr>
        <p:spPr>
          <a:xfrm>
            <a:off x="1158240" y="579120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1"/>
          <p:cNvSpPr/>
          <p:nvPr/>
        </p:nvSpPr>
        <p:spPr>
          <a:xfrm>
            <a:off x="755904" y="5998464"/>
            <a:ext cx="55839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build &amp;&amp; dotnet pack -c Release -o ./artifacts</a:t>
            </a:r>
            <a:endParaRPr lang="en-US" sz="1333" dirty="0"/>
          </a:p>
        </p:txBody>
      </p:sp>
      <p:sp>
        <p:nvSpPr>
          <p:cNvPr id="34" name="Shape 32"/>
          <p:cNvSpPr/>
          <p:nvPr/>
        </p:nvSpPr>
        <p:spPr>
          <a:xfrm>
            <a:off x="6888480" y="1524000"/>
            <a:ext cx="4876800" cy="48768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5" name="Text 33"/>
          <p:cNvSpPr/>
          <p:nvPr/>
        </p:nvSpPr>
        <p:spPr>
          <a:xfrm>
            <a:off x="7132320" y="1731264"/>
            <a:ext cx="43891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dirty="0">
                <a:solidFill>
                  <a:srgbClr val="FFFFFF"/>
                </a:solidFill>
              </a:rPr>
              <a:t>What's inside a .nupkg?</a:t>
            </a:r>
            <a:endParaRPr lang="en-US" sz="1667" dirty="0"/>
          </a:p>
        </p:txBody>
      </p:sp>
      <p:sp>
        <p:nvSpPr>
          <p:cNvPr id="36" name="Shape 34"/>
          <p:cNvSpPr/>
          <p:nvPr/>
        </p:nvSpPr>
        <p:spPr>
          <a:xfrm>
            <a:off x="7132320" y="2194560"/>
            <a:ext cx="4389120" cy="31089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35"/>
          <p:cNvSpPr/>
          <p:nvPr/>
        </p:nvSpPr>
        <p:spPr>
          <a:xfrm>
            <a:off x="7132320" y="2194560"/>
            <a:ext cx="4389120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8" name="Shape 36"/>
          <p:cNvSpPr/>
          <p:nvPr/>
        </p:nvSpPr>
        <p:spPr>
          <a:xfrm>
            <a:off x="7242048" y="2255520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Shape 37"/>
          <p:cNvSpPr/>
          <p:nvPr/>
        </p:nvSpPr>
        <p:spPr>
          <a:xfrm>
            <a:off x="7461504" y="2255520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0" name="Shape 38"/>
          <p:cNvSpPr/>
          <p:nvPr/>
        </p:nvSpPr>
        <p:spPr>
          <a:xfrm>
            <a:off x="7680960" y="2255520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9"/>
          <p:cNvSpPr/>
          <p:nvPr/>
        </p:nvSpPr>
        <p:spPr>
          <a:xfrm>
            <a:off x="7278624" y="2462784"/>
            <a:ext cx="4120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MyAwesomeLib.1.0.0.nupkg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(it's a ZIP file!)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MyAwesomeLib.nuspec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└─ package metadata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lib/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net8.0/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MyAwesomeLib.dll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MyAwesomeLib.xml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[Content_Types].xml</a:t>
            </a:r>
            <a:endParaRPr lang="en-US" sz="1333" dirty="0"/>
          </a:p>
          <a:p>
            <a:r>
              <a:rPr lang="en-US" sz="1333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_rels/.rels</a:t>
            </a:r>
            <a:endParaRPr lang="en-US" sz="1333" dirty="0"/>
          </a:p>
        </p:txBody>
      </p:sp>
      <p:sp>
        <p:nvSpPr>
          <p:cNvPr id="42" name="Text 40"/>
          <p:cNvSpPr/>
          <p:nvPr/>
        </p:nvSpPr>
        <p:spPr>
          <a:xfrm>
            <a:off x="7132320" y="5388864"/>
            <a:ext cx="43891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64748B"/>
                </a:solidFill>
              </a:rPr>
              <a:t>💡 Rename .nupkg → .zip to inspect it with any archive tool.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2685577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06 · PUBLISH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to GitHub Packages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371600"/>
            <a:ext cx="5425440" cy="3390900"/>
          </a:xfrm>
          <a:prstGeom prst="rect">
            <a:avLst/>
          </a:prstGeom>
          <a:solidFill>
            <a:srgbClr val="1A2533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371600"/>
            <a:ext cx="85344" cy="33893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877824" y="15544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Option A — Push via dotnet CLI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77824" y="2066544"/>
            <a:ext cx="4974336" cy="2590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877824" y="2066544"/>
            <a:ext cx="4974336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987552" y="21275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1207008" y="21275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1426464" y="21275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1024128" y="2334768"/>
            <a:ext cx="4706112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push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bin/Release/MyAwesomeLib.1.0.0.nupkg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--source "github"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--api-key YOUR_PAT_TOKEN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Wildcard — push all packages: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push bin/Release/*.nupkg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--source "github" \</a:t>
            </a:r>
            <a:endParaRPr lang="en-US" sz="1333" dirty="0"/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--api-key $GITHUB_TOKEN</a:t>
            </a:r>
            <a:endParaRPr lang="en-US" sz="1333" dirty="0"/>
          </a:p>
        </p:txBody>
      </p:sp>
      <p:sp>
        <p:nvSpPr>
          <p:cNvPr id="15" name="Shape 13"/>
          <p:cNvSpPr/>
          <p:nvPr/>
        </p:nvSpPr>
        <p:spPr>
          <a:xfrm>
            <a:off x="6278880" y="1371600"/>
            <a:ext cx="5425440" cy="3390900"/>
          </a:xfrm>
          <a:prstGeom prst="rect">
            <a:avLst/>
          </a:prstGeom>
          <a:solidFill>
            <a:srgbClr val="1A2533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278880" y="1371600"/>
            <a:ext cx="85344" cy="33893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6547104" y="155448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Option B — GitHub Actions (CI/CD)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47104" y="2066544"/>
            <a:ext cx="4974336" cy="2590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6547104" y="2066544"/>
            <a:ext cx="4974336" cy="243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6656832" y="2127504"/>
            <a:ext cx="158496" cy="1584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876288" y="2127504"/>
            <a:ext cx="158496" cy="1584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20"/>
          <p:cNvSpPr/>
          <p:nvPr/>
        </p:nvSpPr>
        <p:spPr>
          <a:xfrm>
            <a:off x="7095744" y="2127504"/>
            <a:ext cx="158496" cy="1584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693408" y="2334768"/>
            <a:ext cx="4706112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name: Publish to GitHub Packages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on: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push: { tags: ['v*.*.*'] }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jobs: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publish: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runs-on: ubuntu-latest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steps: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- uses: actions/checkout@v4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- run: dotnet pack -c Release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- run: dotnet nuget push \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    **/*.nupkg --source github \</a:t>
            </a:r>
          </a:p>
          <a:p>
            <a:r>
              <a:rPr lang="en-US" sz="1333" dirty="0">
                <a:solidFill>
                  <a:srgbClr val="A8FF60"/>
                </a:solidFill>
                <a:latin typeface="Consolas" pitchFamily="34" charset="0"/>
              </a:rPr>
              <a:t>        --api-key ${{secrets.GITHUB_TOKEN}}</a:t>
            </a:r>
          </a:p>
        </p:txBody>
      </p:sp>
      <p:sp>
        <p:nvSpPr>
          <p:cNvPr id="24" name="Shape 22"/>
          <p:cNvSpPr/>
          <p:nvPr/>
        </p:nvSpPr>
        <p:spPr>
          <a:xfrm>
            <a:off x="426720" y="5105400"/>
            <a:ext cx="1975104" cy="635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42672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Build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240182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2743200" y="5105400"/>
            <a:ext cx="1975104" cy="635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274320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Pack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471830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8"/>
          <p:cNvSpPr/>
          <p:nvPr/>
        </p:nvSpPr>
        <p:spPr>
          <a:xfrm>
            <a:off x="5059680" y="5105400"/>
            <a:ext cx="1975104" cy="63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505968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Authenticate</a:t>
            </a:r>
            <a:endParaRPr lang="en-US" sz="1467" dirty="0"/>
          </a:p>
        </p:txBody>
      </p:sp>
      <p:sp>
        <p:nvSpPr>
          <p:cNvPr id="32" name="Shape 30"/>
          <p:cNvSpPr/>
          <p:nvPr/>
        </p:nvSpPr>
        <p:spPr>
          <a:xfrm>
            <a:off x="703478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Shape 31"/>
          <p:cNvSpPr/>
          <p:nvPr/>
        </p:nvSpPr>
        <p:spPr>
          <a:xfrm>
            <a:off x="7376160" y="5105400"/>
            <a:ext cx="1975104" cy="635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737616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Push</a:t>
            </a:r>
            <a:endParaRPr lang="en-US" sz="1467" dirty="0"/>
          </a:p>
        </p:txBody>
      </p:sp>
      <p:sp>
        <p:nvSpPr>
          <p:cNvPr id="35" name="Shape 33"/>
          <p:cNvSpPr/>
          <p:nvPr/>
        </p:nvSpPr>
        <p:spPr>
          <a:xfrm>
            <a:off x="9351264" y="5105400"/>
            <a:ext cx="34137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Shape 34"/>
          <p:cNvSpPr/>
          <p:nvPr/>
        </p:nvSpPr>
        <p:spPr>
          <a:xfrm>
            <a:off x="9692640" y="5105400"/>
            <a:ext cx="1975104" cy="63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9692640" y="5105400"/>
            <a:ext cx="197510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Verify on GitHub</a:t>
            </a:r>
            <a:endParaRPr lang="en-US" sz="1467" dirty="0"/>
          </a:p>
        </p:txBody>
      </p:sp>
      <p:sp>
        <p:nvSpPr>
          <p:cNvPr id="38" name="Shape 36"/>
          <p:cNvSpPr/>
          <p:nvPr/>
        </p:nvSpPr>
        <p:spPr>
          <a:xfrm>
            <a:off x="609600" y="5867400"/>
            <a:ext cx="10972800" cy="633984"/>
          </a:xfrm>
          <a:prstGeom prst="rect">
            <a:avLst/>
          </a:prstGeom>
          <a:solidFill>
            <a:srgbClr val="0D4A42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Text 37"/>
          <p:cNvSpPr/>
          <p:nvPr/>
        </p:nvSpPr>
        <p:spPr>
          <a:xfrm>
            <a:off x="853440" y="5867400"/>
            <a:ext cx="1060704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E2F8F5"/>
                </a:solidFill>
              </a:rPr>
              <a:t>✅  After pushing, navigate to your GitHub repo → click the Packages tab to see your published package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27740740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E93292-F795-51B3-64D9-73E12F883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85" y="315168"/>
            <a:ext cx="11916095" cy="6375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53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19456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914400"/>
            <a:ext cx="10972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dirty="0">
                <a:solidFill>
                  <a:srgbClr val="94A3B8"/>
                </a:solidFill>
              </a:rPr>
              <a:t>From code to published package — step by step</a:t>
            </a:r>
            <a:endParaRPr lang="en-US" sz="1733" dirty="0"/>
          </a:p>
        </p:txBody>
      </p:sp>
      <p:sp>
        <p:nvSpPr>
          <p:cNvPr id="4" name="Shape 2"/>
          <p:cNvSpPr/>
          <p:nvPr/>
        </p:nvSpPr>
        <p:spPr>
          <a:xfrm>
            <a:off x="36576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365760" y="1487424"/>
            <a:ext cx="1804416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926592" y="1731264"/>
            <a:ext cx="682752" cy="6827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92659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1</a:t>
            </a:r>
            <a:endParaRPr lang="en-US" sz="2667" dirty="0"/>
          </a:p>
        </p:txBody>
      </p:sp>
      <p:sp>
        <p:nvSpPr>
          <p:cNvPr id="8" name="Text 6"/>
          <p:cNvSpPr/>
          <p:nvPr/>
        </p:nvSpPr>
        <p:spPr>
          <a:xfrm>
            <a:off x="43891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Create Library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classlib</a:t>
            </a:r>
            <a:endParaRPr lang="en-US" sz="1133" dirty="0"/>
          </a:p>
        </p:txBody>
      </p:sp>
      <p:sp>
        <p:nvSpPr>
          <p:cNvPr id="10" name="Shape 8"/>
          <p:cNvSpPr/>
          <p:nvPr/>
        </p:nvSpPr>
        <p:spPr>
          <a:xfrm>
            <a:off x="217017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237744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2377440" y="1487424"/>
            <a:ext cx="1804416" cy="8534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2938272" y="1731264"/>
            <a:ext cx="682752" cy="6827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293827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2</a:t>
            </a:r>
            <a:endParaRPr lang="en-US" sz="2667" dirty="0"/>
          </a:p>
        </p:txBody>
      </p:sp>
      <p:sp>
        <p:nvSpPr>
          <p:cNvPr id="15" name="Text 13"/>
          <p:cNvSpPr/>
          <p:nvPr/>
        </p:nvSpPr>
        <p:spPr>
          <a:xfrm>
            <a:off x="245059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Write &amp; Test Code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5059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your public API</a:t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418185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438912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4389120" y="1487424"/>
            <a:ext cx="1804416" cy="853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4949952" y="1731264"/>
            <a:ext cx="682752" cy="6827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494995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3</a:t>
            </a:r>
            <a:endParaRPr lang="en-US" sz="2667" dirty="0"/>
          </a:p>
        </p:txBody>
      </p:sp>
      <p:sp>
        <p:nvSpPr>
          <p:cNvPr id="22" name="Text 20"/>
          <p:cNvSpPr/>
          <p:nvPr/>
        </p:nvSpPr>
        <p:spPr>
          <a:xfrm>
            <a:off x="446227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Edit Metadata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6227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PackageId, Version, Authors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619353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40080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Shape 24"/>
          <p:cNvSpPr/>
          <p:nvPr/>
        </p:nvSpPr>
        <p:spPr>
          <a:xfrm>
            <a:off x="6400800" y="1487424"/>
            <a:ext cx="1804416" cy="85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6961632" y="1731264"/>
            <a:ext cx="682752" cy="6827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696163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4</a:t>
            </a:r>
            <a:endParaRPr lang="en-US" sz="2667" dirty="0"/>
          </a:p>
        </p:txBody>
      </p:sp>
      <p:sp>
        <p:nvSpPr>
          <p:cNvPr id="29" name="Text 27"/>
          <p:cNvSpPr/>
          <p:nvPr/>
        </p:nvSpPr>
        <p:spPr>
          <a:xfrm>
            <a:off x="647395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Build &amp; Pack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7395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pack -c Release</a:t>
            </a:r>
            <a:endParaRPr lang="en-US" sz="1133" dirty="0"/>
          </a:p>
        </p:txBody>
      </p:sp>
      <p:sp>
        <p:nvSpPr>
          <p:cNvPr id="31" name="Shape 29"/>
          <p:cNvSpPr/>
          <p:nvPr/>
        </p:nvSpPr>
        <p:spPr>
          <a:xfrm>
            <a:off x="820521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Shape 30"/>
          <p:cNvSpPr/>
          <p:nvPr/>
        </p:nvSpPr>
        <p:spPr>
          <a:xfrm>
            <a:off x="841248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3" name="Shape 31"/>
          <p:cNvSpPr/>
          <p:nvPr/>
        </p:nvSpPr>
        <p:spPr>
          <a:xfrm>
            <a:off x="8412480" y="1487424"/>
            <a:ext cx="1804416" cy="853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" name="Shape 32"/>
          <p:cNvSpPr/>
          <p:nvPr/>
        </p:nvSpPr>
        <p:spPr>
          <a:xfrm>
            <a:off x="8973312" y="1731264"/>
            <a:ext cx="682752" cy="6827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5" name="Text 33"/>
          <p:cNvSpPr/>
          <p:nvPr/>
        </p:nvSpPr>
        <p:spPr>
          <a:xfrm>
            <a:off x="897331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5</a:t>
            </a:r>
            <a:endParaRPr lang="en-US" sz="2667" dirty="0"/>
          </a:p>
        </p:txBody>
      </p:sp>
      <p:sp>
        <p:nvSpPr>
          <p:cNvPr id="36" name="Text 34"/>
          <p:cNvSpPr/>
          <p:nvPr/>
        </p:nvSpPr>
        <p:spPr>
          <a:xfrm>
            <a:off x="848563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Authenticate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48563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source + PAT token</a:t>
            </a:r>
            <a:endParaRPr lang="en-US" sz="1133" dirty="0"/>
          </a:p>
        </p:txBody>
      </p:sp>
      <p:sp>
        <p:nvSpPr>
          <p:cNvPr id="38" name="Shape 36"/>
          <p:cNvSpPr/>
          <p:nvPr/>
        </p:nvSpPr>
        <p:spPr>
          <a:xfrm>
            <a:off x="10216896" y="3230880"/>
            <a:ext cx="207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Shape 37"/>
          <p:cNvSpPr/>
          <p:nvPr/>
        </p:nvSpPr>
        <p:spPr>
          <a:xfrm>
            <a:off x="10424160" y="1487424"/>
            <a:ext cx="1804416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Shape 38"/>
          <p:cNvSpPr/>
          <p:nvPr/>
        </p:nvSpPr>
        <p:spPr>
          <a:xfrm>
            <a:off x="10424160" y="1487424"/>
            <a:ext cx="1804416" cy="8534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Shape 39"/>
          <p:cNvSpPr/>
          <p:nvPr/>
        </p:nvSpPr>
        <p:spPr>
          <a:xfrm>
            <a:off x="10984992" y="1731264"/>
            <a:ext cx="682752" cy="6827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2" name="Text 40"/>
          <p:cNvSpPr/>
          <p:nvPr/>
        </p:nvSpPr>
        <p:spPr>
          <a:xfrm>
            <a:off x="10984992" y="1731264"/>
            <a:ext cx="68275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FFFFFF"/>
                </a:solidFill>
              </a:rPr>
              <a:t>6</a:t>
            </a:r>
            <a:endParaRPr lang="en-US" sz="2667" dirty="0"/>
          </a:p>
        </p:txBody>
      </p:sp>
      <p:sp>
        <p:nvSpPr>
          <p:cNvPr id="43" name="Text 41"/>
          <p:cNvSpPr/>
          <p:nvPr/>
        </p:nvSpPr>
        <p:spPr>
          <a:xfrm>
            <a:off x="10497312" y="2584704"/>
            <a:ext cx="1658112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Push Package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0497312" y="3352800"/>
            <a:ext cx="165811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nuget push</a:t>
            </a:r>
            <a:endParaRPr lang="en-US" sz="1133" dirty="0"/>
          </a:p>
        </p:txBody>
      </p:sp>
      <p:sp>
        <p:nvSpPr>
          <p:cNvPr id="45" name="Shape 43"/>
          <p:cNvSpPr/>
          <p:nvPr/>
        </p:nvSpPr>
        <p:spPr>
          <a:xfrm>
            <a:off x="609600" y="5181600"/>
            <a:ext cx="10972800" cy="1316736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Shape 44"/>
          <p:cNvSpPr/>
          <p:nvPr/>
        </p:nvSpPr>
        <p:spPr>
          <a:xfrm>
            <a:off x="609600" y="5181600"/>
            <a:ext cx="109728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7" name="Text 45"/>
          <p:cNvSpPr/>
          <p:nvPr/>
        </p:nvSpPr>
        <p:spPr>
          <a:xfrm>
            <a:off x="853440" y="5388864"/>
            <a:ext cx="4145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FFFFFF"/>
                </a:solidFill>
              </a:rPr>
              <a:t>Package consumers install with:</a:t>
            </a:r>
            <a:endParaRPr lang="en-US" sz="1533" dirty="0"/>
          </a:p>
        </p:txBody>
      </p:sp>
      <p:sp>
        <p:nvSpPr>
          <p:cNvPr id="48" name="Text 46"/>
          <p:cNvSpPr/>
          <p:nvPr/>
        </p:nvSpPr>
        <p:spPr>
          <a:xfrm>
            <a:off x="5120640" y="5388864"/>
            <a:ext cx="62179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MyAwesomeLib --source "github"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53440" y="5876544"/>
            <a:ext cx="106070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&lt;PackageReference Include="MyAwesomeLib" Version="1.0.0" /&gt;</a:t>
            </a:r>
            <a:endParaRPr lang="en-US" sz="1333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292608"/>
            <a:ext cx="231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</a:rPr>
              <a:t>BEST PRACTICES</a:t>
            </a:r>
            <a:endParaRPr lang="en-US" sz="1133" dirty="0"/>
          </a:p>
        </p:txBody>
      </p:sp>
      <p:sp>
        <p:nvSpPr>
          <p:cNvPr id="5" name="Text 3"/>
          <p:cNvSpPr/>
          <p:nvPr/>
        </p:nvSpPr>
        <p:spPr>
          <a:xfrm>
            <a:off x="609600" y="707136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&amp; Key Takeaways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600" y="15849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609600" y="1584960"/>
            <a:ext cx="5364480" cy="4876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792480" y="16459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Versioning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853440" y="231648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1170432" y="22189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Always follow Semantic Versioning (SemVer)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853440" y="280416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1170432" y="27066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Bump MAJOR for any breaking API change</a:t>
            </a:r>
            <a:endParaRPr lang="en-US" sz="1467" dirty="0"/>
          </a:p>
        </p:txBody>
      </p:sp>
      <p:sp>
        <p:nvSpPr>
          <p:cNvPr id="13" name="Shape 11"/>
          <p:cNvSpPr/>
          <p:nvPr/>
        </p:nvSpPr>
        <p:spPr>
          <a:xfrm>
            <a:off x="853440" y="3291840"/>
            <a:ext cx="182880" cy="1828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1170432" y="31943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Use pre-release tags (alpha/beta/rc) for staging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6400800" y="15849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6400800" y="1584960"/>
            <a:ext cx="5364480" cy="4876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6583680" y="16459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Security</a:t>
            </a:r>
            <a:endParaRPr lang="en-US" sz="1733" dirty="0"/>
          </a:p>
        </p:txBody>
      </p:sp>
      <p:sp>
        <p:nvSpPr>
          <p:cNvPr id="18" name="Shape 16"/>
          <p:cNvSpPr/>
          <p:nvPr/>
        </p:nvSpPr>
        <p:spPr>
          <a:xfrm>
            <a:off x="6644640" y="231648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6961632" y="22189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Never commit PAT tokens to source control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6644640" y="280416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961632" y="27066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Use environment variables or GitHub Secrets</a:t>
            </a:r>
            <a:endParaRPr lang="en-US" sz="1467" dirty="0"/>
          </a:p>
        </p:txBody>
      </p:sp>
      <p:sp>
        <p:nvSpPr>
          <p:cNvPr id="22" name="Shape 20"/>
          <p:cNvSpPr/>
          <p:nvPr/>
        </p:nvSpPr>
        <p:spPr>
          <a:xfrm>
            <a:off x="6644640" y="3291840"/>
            <a:ext cx="182880" cy="182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961632" y="31943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Rotate tokens regularly and limit scopes</a:t>
            </a:r>
            <a:endParaRPr lang="en-US" sz="1467" dirty="0"/>
          </a:p>
        </p:txBody>
      </p:sp>
      <p:sp>
        <p:nvSpPr>
          <p:cNvPr id="24" name="Shape 22"/>
          <p:cNvSpPr/>
          <p:nvPr/>
        </p:nvSpPr>
        <p:spPr>
          <a:xfrm>
            <a:off x="609600" y="40233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09600" y="4023360"/>
            <a:ext cx="5364480" cy="487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792480" y="40843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Quality</a:t>
            </a:r>
            <a:endParaRPr lang="en-US" sz="1733" dirty="0"/>
          </a:p>
        </p:txBody>
      </p:sp>
      <p:sp>
        <p:nvSpPr>
          <p:cNvPr id="27" name="Shape 25"/>
          <p:cNvSpPr/>
          <p:nvPr/>
        </p:nvSpPr>
        <p:spPr>
          <a:xfrm>
            <a:off x="853440" y="475488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1170432" y="46573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Add XML doc comments to all public APIs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853440" y="524256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1170432" y="51450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Include a README.md in your package</a:t>
            </a:r>
            <a:endParaRPr lang="en-US" sz="1467" dirty="0"/>
          </a:p>
        </p:txBody>
      </p:sp>
      <p:sp>
        <p:nvSpPr>
          <p:cNvPr id="31" name="Shape 29"/>
          <p:cNvSpPr/>
          <p:nvPr/>
        </p:nvSpPr>
        <p:spPr>
          <a:xfrm>
            <a:off x="853440" y="5730240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2" name="Text 30"/>
          <p:cNvSpPr/>
          <p:nvPr/>
        </p:nvSpPr>
        <p:spPr>
          <a:xfrm>
            <a:off x="1170432" y="56327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Write unit tests before publishing stable versions</a:t>
            </a:r>
            <a:endParaRPr lang="en-US" sz="1467" dirty="0"/>
          </a:p>
        </p:txBody>
      </p:sp>
      <p:sp>
        <p:nvSpPr>
          <p:cNvPr id="33" name="Shape 31"/>
          <p:cNvSpPr/>
          <p:nvPr/>
        </p:nvSpPr>
        <p:spPr>
          <a:xfrm>
            <a:off x="6400800" y="4023360"/>
            <a:ext cx="5364480" cy="221894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4" name="Shape 32"/>
          <p:cNvSpPr/>
          <p:nvPr/>
        </p:nvSpPr>
        <p:spPr>
          <a:xfrm>
            <a:off x="6400800" y="4023360"/>
            <a:ext cx="5364480" cy="487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5" name="Text 33"/>
          <p:cNvSpPr/>
          <p:nvPr/>
        </p:nvSpPr>
        <p:spPr>
          <a:xfrm>
            <a:off x="6583680" y="4084320"/>
            <a:ext cx="499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CI / CD</a:t>
            </a:r>
            <a:endParaRPr lang="en-US" sz="1733" dirty="0"/>
          </a:p>
        </p:txBody>
      </p:sp>
      <p:sp>
        <p:nvSpPr>
          <p:cNvPr id="36" name="Shape 34"/>
          <p:cNvSpPr/>
          <p:nvPr/>
        </p:nvSpPr>
        <p:spPr>
          <a:xfrm>
            <a:off x="6644640" y="475488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6961632" y="465734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Automate publishing with GitHub Actions</a:t>
            </a:r>
            <a:endParaRPr lang="en-US" sz="1467" dirty="0"/>
          </a:p>
        </p:txBody>
      </p:sp>
      <p:sp>
        <p:nvSpPr>
          <p:cNvPr id="38" name="Shape 36"/>
          <p:cNvSpPr/>
          <p:nvPr/>
        </p:nvSpPr>
        <p:spPr>
          <a:xfrm>
            <a:off x="6644640" y="524256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Text 37"/>
          <p:cNvSpPr/>
          <p:nvPr/>
        </p:nvSpPr>
        <p:spPr>
          <a:xfrm>
            <a:off x="6961632" y="514502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Trigger publish only on version tags (v*.*.*)</a:t>
            </a:r>
            <a:endParaRPr lang="en-US" sz="1467" dirty="0"/>
          </a:p>
        </p:txBody>
      </p:sp>
      <p:sp>
        <p:nvSpPr>
          <p:cNvPr id="40" name="Shape 38"/>
          <p:cNvSpPr/>
          <p:nvPr/>
        </p:nvSpPr>
        <p:spPr>
          <a:xfrm>
            <a:off x="6644640" y="573024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9"/>
          <p:cNvSpPr/>
          <p:nvPr/>
        </p:nvSpPr>
        <p:spPr>
          <a:xfrm>
            <a:off x="6961632" y="5632704"/>
            <a:ext cx="460857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1E293B"/>
                </a:solidFill>
              </a:rPr>
              <a:t>Use GITHUB_TOKEN where possible — no PAT needed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25267332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4EE49-5CAB-CB3D-2A6D-96F32E8A03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r>
              <a:rPr lang="en-US" sz="4000" b="1" dirty="0">
                <a:solidFill>
                  <a:srgbClr val="E8EDF2"/>
                </a:solidFill>
              </a:rPr>
              <a:t>Key Takeaways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5E770-2BAB-6E8F-F4A7-CF9C30205B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ctr">
              <a:buNone/>
            </a:pPr>
            <a:r>
              <a:rPr lang="en-US" sz="1600" dirty="0">
                <a:solidFill>
                  <a:srgbClr val="B0BEC5"/>
                </a:solidFill>
              </a:rPr>
              <a:t>MassTransit = consistent .NET messaging API across brokers</a:t>
            </a:r>
          </a:p>
          <a:p>
            <a:pPr algn="ctr">
              <a:buNone/>
            </a:pPr>
            <a:r>
              <a:rPr lang="en-US" sz="1600" dirty="0">
                <a:solidFill>
                  <a:srgbClr val="B0BEC5"/>
                </a:solidFill>
              </a:rPr>
              <a:t>RabbitMQ = exchanges + queues + exchange-to-exchange bindings</a:t>
            </a:r>
          </a:p>
          <a:p>
            <a:pPr algn="ctr">
              <a:buNone/>
            </a:pPr>
            <a:r>
              <a:rPr lang="en-US" sz="1600" dirty="0">
                <a:solidFill>
                  <a:srgbClr val="B0BEC5"/>
                </a:solidFill>
              </a:rPr>
              <a:t>Commands target queues — Events fan out to all subscribers</a:t>
            </a:r>
          </a:p>
          <a:p>
            <a:pPr algn="ctr">
              <a:buNone/>
            </a:pPr>
            <a:r>
              <a:rPr lang="en-US" sz="1600" dirty="0">
                <a:solidFill>
                  <a:srgbClr val="FF6B35"/>
                </a:solidFill>
              </a:rPr>
              <a:t>Reliability: Retries + Redelivery + Outbox + Fault Queues</a:t>
            </a:r>
          </a:p>
          <a:p>
            <a:pPr algn="ctr">
              <a:buNone/>
            </a:pPr>
            <a:r>
              <a:rPr lang="en-US" sz="1600" dirty="0">
                <a:solidFill>
                  <a:srgbClr val="FF6B35"/>
                </a:solidFill>
              </a:rPr>
              <a:t>Sagas: Long-running workflows via explicit state machines</a:t>
            </a:r>
          </a:p>
        </p:txBody>
      </p:sp>
    </p:spTree>
    <p:extLst>
      <p:ext uri="{BB962C8B-B14F-4D97-AF65-F5344CB8AC3E}">
        <p14:creationId xmlns:p14="http://schemas.microsoft.com/office/powerpoint/2010/main" val="4202436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638906048]">
  <a:themeElements>
    <a:clrScheme name="Office">
      <a:dk1>
        <a:srgbClr val="E8EDF2"/>
      </a:dk1>
      <a:lt1>
        <a:srgbClr val="0F1923"/>
      </a:lt1>
      <a:dk2>
        <a:srgbClr val="B0BEC5"/>
      </a:dk2>
      <a:lt2>
        <a:srgbClr val="1A2533"/>
      </a:lt2>
      <a:accent1>
        <a:srgbClr val="FF6B35"/>
      </a:accent1>
      <a:accent2>
        <a:srgbClr val="00C9A7"/>
      </a:accent2>
      <a:accent3>
        <a:srgbClr val="4A90D9"/>
      </a:accent3>
      <a:accent4>
        <a:srgbClr val="F7B731"/>
      </a:accent4>
      <a:accent5>
        <a:srgbClr val="9B59B6"/>
      </a:accent5>
      <a:accent6>
        <a:srgbClr val="E74C3C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 [1779070745011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9F8B87-703B-4820-8609-0CE555C84ACF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0ab7cb11-795e-4faa-a2b3-bde83ccb5db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4496</Words>
  <Application>Microsoft Office PowerPoint</Application>
  <PresentationFormat>Widescreen</PresentationFormat>
  <Paragraphs>679</Paragraphs>
  <Slides>40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Aptos</vt:lpstr>
      <vt:lpstr>Arial</vt:lpstr>
      <vt:lpstr>Calibri</vt:lpstr>
      <vt:lpstr>Cascadia Code</vt:lpstr>
      <vt:lpstr>Consolas</vt:lpstr>
      <vt:lpstr>Segoe UI</vt:lpstr>
      <vt:lpstr>Segoe UI Semibold</vt:lpstr>
      <vt:lpstr>Office Theme [1778638906048]</vt:lpstr>
      <vt:lpstr>Office Theme [1779070745011]</vt:lpstr>
      <vt:lpstr>PowerPoint Presentation</vt:lpstr>
      <vt:lpstr>Agenda</vt:lpstr>
      <vt:lpstr>What is MassTransit?</vt:lpstr>
      <vt:lpstr>RabbitMQ Overview</vt:lpstr>
      <vt:lpstr>Messages &amp; Contracts</vt:lpstr>
      <vt:lpstr>Producers &amp; Consumers</vt:lpstr>
      <vt:lpstr>Publish vs Send</vt:lpstr>
      <vt:lpstr>When to Use Publish vs Send</vt:lpstr>
      <vt:lpstr>PowerPoint Presentation</vt:lpstr>
      <vt:lpstr>PowerPoint Presentation</vt:lpstr>
      <vt:lpstr>PUBLISH — Event (fan-out)</vt:lpstr>
      <vt:lpstr>SEND — Command (point-to-point)</vt:lpstr>
      <vt:lpstr>Competing Consumers — Scale-out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Reliability: Retries, Redelivery &amp; Outbox</vt:lpstr>
      <vt:lpstr>Sagas &amp; State Machines</vt:lpstr>
      <vt:lpstr>State Machine Example: Order Flow</vt:lpstr>
      <vt:lpstr>Configuration &amp; Setup</vt:lpstr>
      <vt:lpstr>Best Practices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Khoa Cao</dc:creator>
  <cp:lastModifiedBy>Khoa Cao</cp:lastModifiedBy>
  <cp:revision>10</cp:revision>
  <dcterms:created xsi:type="dcterms:W3CDTF">2026-05-13T02:21:45Z</dcterms:created>
  <dcterms:modified xsi:type="dcterms:W3CDTF">2026-05-22T04:24:57Z</dcterms:modified>
</cp:coreProperties>
</file>