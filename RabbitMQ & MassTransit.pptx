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4" r:id="rId2"/>
  </p:sldMasterIdLst>
  <p:notesMasterIdLst>
    <p:notesMasterId r:id="rId49"/>
  </p:notesMasterIdLst>
  <p:sldIdLst>
    <p:sldId id="291" r:id="rId3"/>
    <p:sldId id="258" r:id="rId4"/>
    <p:sldId id="259" r:id="rId5"/>
    <p:sldId id="260" r:id="rId6"/>
    <p:sldId id="261" r:id="rId7"/>
    <p:sldId id="279" r:id="rId8"/>
    <p:sldId id="319" r:id="rId9"/>
    <p:sldId id="322" r:id="rId10"/>
    <p:sldId id="323" r:id="rId11"/>
    <p:sldId id="324" r:id="rId12"/>
    <p:sldId id="341" r:id="rId13"/>
    <p:sldId id="337" r:id="rId14"/>
    <p:sldId id="342" r:id="rId15"/>
    <p:sldId id="343" r:id="rId16"/>
    <p:sldId id="344" r:id="rId17"/>
    <p:sldId id="346" r:id="rId18"/>
    <p:sldId id="357" r:id="rId19"/>
    <p:sldId id="352" r:id="rId20"/>
    <p:sldId id="353" r:id="rId21"/>
    <p:sldId id="354" r:id="rId22"/>
    <p:sldId id="274" r:id="rId23"/>
    <p:sldId id="365" r:id="rId24"/>
    <p:sldId id="369" r:id="rId25"/>
    <p:sldId id="372" r:id="rId26"/>
    <p:sldId id="266" r:id="rId27"/>
    <p:sldId id="378" r:id="rId28"/>
    <p:sldId id="383" r:id="rId29"/>
    <p:sldId id="275" r:id="rId30"/>
    <p:sldId id="273" r:id="rId31"/>
    <p:sldId id="269" r:id="rId32"/>
    <p:sldId id="288" r:id="rId33"/>
    <p:sldId id="314" r:id="rId34"/>
    <p:sldId id="312" r:id="rId35"/>
    <p:sldId id="304" r:id="rId36"/>
    <p:sldId id="294" r:id="rId37"/>
    <p:sldId id="315" r:id="rId38"/>
    <p:sldId id="306" r:id="rId39"/>
    <p:sldId id="307" r:id="rId40"/>
    <p:sldId id="308" r:id="rId41"/>
    <p:sldId id="309" r:id="rId42"/>
    <p:sldId id="316" r:id="rId43"/>
    <p:sldId id="270" r:id="rId44"/>
    <p:sldId id="267" r:id="rId45"/>
    <p:sldId id="317" r:id="rId46"/>
    <p:sldId id="277" r:id="rId47"/>
    <p:sldId id="37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31C5A-1C44-43A2-8CD5-DBA9B3FCE99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EA256-5092-482B-BA31-42FEE81CA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25A1-5BD9-F6F5-D460-599F4791A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BBFE0-1714-6A9D-A9C5-C2092BFF7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B7958-E529-798D-8486-42684668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CAC81-5008-C6BE-10A0-18BB380F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5D559-CCD5-8891-301B-D8738213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7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C4A0-0414-4C44-9771-01079C76D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D5D2A-2792-82CB-6B14-963E4D273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66557-6780-FF91-1E61-1EA98D91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22F69-7F2A-3735-32FD-0DDDCD7A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801A6-69FF-5FAB-78DA-3A45A9EE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0E86-533F-07E7-1263-2E77A803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ADA4B-D66F-067B-0902-97CB05676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9571A-9AB2-080C-2F87-68E31DBD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2EA96-4269-9ECE-B7B1-031110D7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EE299-D356-0B26-B45D-22DE3707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FF73-C83A-0EC4-17CA-95EB8735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53B88-1C4E-DAC5-8D4C-68A225FF0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62FAB-C7CD-49B8-59F1-9E2E8072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7227E-8197-45DB-A11D-42ABBAC0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125E1-2F24-7D04-5E7D-8A78ED4A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A498D-2AD3-5A6D-86FD-6CC97217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9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F059-3D98-5103-116A-2451D88A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7602E-AF4E-2744-2E50-1CE747691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064FF-C24D-E80E-2862-AF4D3C2DF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AC92D-73C2-45BB-F647-7EFE91CD0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5FB71-CA79-8A85-1D3C-C2EFB78A6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6DD43-998A-EFB8-DA3A-4606C4E7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94DAD6-B7B5-2590-D701-1F03590B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6CF48-53F5-1058-2A96-8CF11E3F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4F32-F4DC-E25C-F6E1-2EB58A6F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8FFF6-3A45-46A3-5F95-29D075A9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FB6AA-DE82-1916-CBDF-06167223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B0C9D-6D29-C1B8-F6AD-B12DB22A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5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B7F5-FFEF-5FEB-009C-E5B10ACA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C706-7731-9DD1-CCB4-2A395B48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94BEF-2BDF-BB05-6B64-3FA66E7C1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AB7CD-DE94-4C81-EC05-D478297E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94663-6804-ED8C-45F7-CB4BC22B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ADDCB-923B-278C-C22F-09A50B25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6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61ED-C343-9165-D82C-0EDF66ED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96B6D-45E3-9A66-9A0C-1FAEA7A98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01A16-F9B5-1FCA-2664-D6E1521E9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B18AC-417A-820F-91C3-BA3B2EC7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2AF18-EF7C-E648-F7D3-A5FC0770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82E83-5EAB-C0BC-073E-9B924FE8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2B28-1127-C4B2-731D-24FECD9E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CDBFB-514E-A5D8-DC39-92CCF2ECB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56B21-F43A-E4E9-F2CB-01F5DA31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20B9E-228C-C829-1993-42C36CDEF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8AD62-1BBC-3F92-9C1F-15D10EA6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5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E8294-F920-8376-ED42-2B97BFF70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DD5FE-256A-DF00-01FD-4B1FCD260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0FDCB-2C47-5758-C703-737A8C8D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1F9A-4262-6252-DF94-CA118BFD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C56C1-D96B-010B-82B7-BC6EF1F9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5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EF082-4CB7-FBD0-C331-DDAE1C8DB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5E7F1-5D27-52AC-BF58-8A5209FC9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DB72-0AF5-073A-7220-904E46218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76FC4-8E05-4A38-8859-27ED204A1698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18BC8-B5E7-F537-F09E-E107305DE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2157C-12B3-306D-FDB5-001491B91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BB3FE-6D66-4514-AF32-8D419E46FA06}" type="slidenum">
              <a:rPr lang="en-US" smtClean="0"/>
              <a:t>‹#›</a:t>
            </a:fld>
            <a:endParaRPr lang="en-US"/>
          </a:p>
        </p:txBody>
      </p:sp>
      <p:sp>
        <p:nvSpPr>
          <p:cNvPr id="901" name="AccentBar"/>
          <p:cNvSpPr>
            <a:spLocks noGrp="1"/>
          </p:cNvSpPr>
          <p:nvPr>
            <p:ph type="body" sz="quarter" idx="1"/>
          </p:nvPr>
        </p:nvSpPr>
        <p:spPr>
          <a:xfrm>
            <a:off x="0" y="6096000"/>
            <a:ext cx="9144000" cy="57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LeftStrip"/>
          <p:cNvSpPr>
            <a:spLocks noGrp="1"/>
          </p:cNvSpPr>
          <p:nvPr/>
        </p:nvSpPr>
        <p:spPr>
          <a:xfrm>
            <a:off x="0" y="0"/>
            <a:ext cx="288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07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DF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B0BEC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09600" y="0"/>
            <a:ext cx="115824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778240" y="3657600"/>
            <a:ext cx="4876800" cy="4876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10363200" y="-975360"/>
            <a:ext cx="3413760" cy="341376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975360" y="1097280"/>
            <a:ext cx="2438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975360" y="109728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dirty="0">
                <a:solidFill>
                  <a:srgbClr val="0F172A"/>
                </a:solidFill>
              </a:rPr>
              <a:t>DEVELOPER TRAINING</a:t>
            </a:r>
          </a:p>
        </p:txBody>
      </p:sp>
      <p:sp>
        <p:nvSpPr>
          <p:cNvPr id="8" name="Text 6"/>
          <p:cNvSpPr/>
          <p:nvPr/>
        </p:nvSpPr>
        <p:spPr>
          <a:xfrm>
            <a:off x="975360" y="168249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FFFFFF"/>
                </a:solidFill>
                <a:latin typeface="Calibri" pitchFamily="34" charset="0"/>
              </a:rPr>
              <a:t>RabbitMQ &amp;</a:t>
            </a:r>
          </a:p>
        </p:txBody>
      </p:sp>
      <p:sp>
        <p:nvSpPr>
          <p:cNvPr id="9" name="Text 7"/>
          <p:cNvSpPr/>
          <p:nvPr/>
        </p:nvSpPr>
        <p:spPr>
          <a:xfrm>
            <a:off x="975360" y="249936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FFFFFF"/>
                </a:solidFill>
                <a:latin typeface="Calibri" pitchFamily="34" charset="0"/>
              </a:rPr>
              <a:t>MassTransit</a:t>
            </a:r>
          </a:p>
        </p:txBody>
      </p:sp>
      <p:sp>
        <p:nvSpPr>
          <p:cNvPr id="10" name="Text 8"/>
          <p:cNvSpPr/>
          <p:nvPr/>
        </p:nvSpPr>
        <p:spPr>
          <a:xfrm>
            <a:off x="975360" y="331622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2DD4BF"/>
                </a:solidFill>
                <a:latin typeface="Calibri" pitchFamily="34" charset="0"/>
              </a:rPr>
              <a:t>Deep Dive</a:t>
            </a:r>
          </a:p>
        </p:txBody>
      </p:sp>
      <p:sp>
        <p:nvSpPr>
          <p:cNvPr id="11" name="Text 9"/>
          <p:cNvSpPr/>
          <p:nvPr/>
        </p:nvSpPr>
        <p:spPr>
          <a:xfrm>
            <a:off x="975360" y="432816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94A3B8"/>
                </a:solidFill>
              </a:rPr>
              <a:t>Message Brokers · Event-Driven Architecture · .NET Integration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975360" y="4974336"/>
            <a:ext cx="7315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975360" y="5145024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64748B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80807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764F-4671-96A7-B14E-C2CAD292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7129C-CD9E-BC75-FAE0-B8A5E1829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What is </a:t>
            </a:r>
            <a:r>
              <a:rPr lang="en-US" sz="1800" dirty="0" err="1"/>
              <a:t>MassTransit</a:t>
            </a:r>
            <a:r>
              <a:rPr lang="en-US" sz="1800" dirty="0"/>
              <a:t>?
RabbitMQ Overview &amp; Architecture
Messages &amp; Contracts
Producers &amp; Consumers
RabbitMQ Topology
Message Patterns (Send / Publish / Request-Response)
Reliability: Retries, Redelivery &amp; Outbox
Sagas &amp; State Machines
Configuration &amp; Setup
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40130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FB17-5577-7ECA-8B4E-4A1C0BCF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What is MassTransit?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F0408-26D6-8613-5700-C5DAFB4F5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Distributed application framework for .NET
Abstracts message broker complexity — RabbitMQ, Azure Service Bus, Amazon SQS, ActiveMQ, SQL
Defines a consistent programming model across transports
More than an abstraction — it defines operational patterns:
     Retries &amp; delayed redelivery
     Outbox for at-least-once delivery
     Scheduling, workflows, unit test harness
Battle-tested: 15+ years, most popular .NET messaging framework
v9 (</a:t>
            </a:r>
            <a:r>
              <a:rPr lang="en-US" sz="1600" dirty="0" err="1"/>
              <a:t>Massient</a:t>
            </a:r>
            <a:r>
              <a:rPr lang="en-US" sz="1600" dirty="0"/>
              <a:t>): commercial product with full support</a:t>
            </a:r>
          </a:p>
        </p:txBody>
      </p:sp>
    </p:spTree>
    <p:extLst>
      <p:ext uri="{BB962C8B-B14F-4D97-AF65-F5344CB8AC3E}">
        <p14:creationId xmlns:p14="http://schemas.microsoft.com/office/powerpoint/2010/main" val="258384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B112-3FA7-A26A-8BB3-63BE8061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RabbitMQ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5CA21-F0EC-184A-5A65-4100416D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Open-source message broker implementing AMQP
Lightweight — runs on-premises or in the cloud
High availability: distributed &amp; federated configurations
Key features:
     Exchanges — routing agents directing messages to queues
     Queues — durable storage for incoming messages
     Bindings — rules linking exchanges to queues
     Plugins — management UI, delayed exchange, federation
Management UI at http://localhost:15672 (guest / guest)
MassTransit fully supports RabbitMQ including advanced features</a:t>
            </a:r>
          </a:p>
        </p:txBody>
      </p:sp>
    </p:spTree>
    <p:extLst>
      <p:ext uri="{BB962C8B-B14F-4D97-AF65-F5344CB8AC3E}">
        <p14:creationId xmlns:p14="http://schemas.microsoft.com/office/powerpoint/2010/main" val="86769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7A30-D4E3-DABF-99BA-EC508900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Messages &amp; 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21F6C-1F06-6973-4CA5-D31E3C8D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 message is a contract — defined as a .NET class or interface
Contracts define stable ports between services; implementations evolve independently
Two primary message types:
     Commands — tell a service to do something (verb-noun: </a:t>
            </a:r>
            <a:r>
              <a:rPr lang="en-US" sz="1600" dirty="0" err="1"/>
              <a:t>SubmitOrder</a:t>
            </a:r>
            <a:r>
              <a:rPr lang="en-US" sz="1600" dirty="0"/>
              <a:t>, </a:t>
            </a:r>
            <a:r>
              <a:rPr lang="en-US" sz="1600" dirty="0" err="1"/>
              <a:t>ProcessPayment</a:t>
            </a:r>
            <a:r>
              <a:rPr lang="en-US" sz="1600" dirty="0"/>
              <a:t>)
               → sent to a specific endpoint (queue)
     Events — signal that something happened (</a:t>
            </a:r>
            <a:r>
              <a:rPr lang="en-US" sz="1600" dirty="0" err="1"/>
              <a:t>OrderSubmitted</a:t>
            </a:r>
            <a:r>
              <a:rPr lang="en-US" sz="1600" dirty="0"/>
              <a:t>, </a:t>
            </a:r>
            <a:r>
              <a:rPr lang="en-US" sz="1600" dirty="0" err="1"/>
              <a:t>PaymentProcessed</a:t>
            </a:r>
            <a:r>
              <a:rPr lang="en-US" sz="1600" dirty="0"/>
              <a:t>)
               → published to all interested consumers
Keep message contracts in a shared assembly for consistency
Messages are serialized (JSON by default) and routed by </a:t>
            </a:r>
            <a:r>
              <a:rPr lang="en-US" sz="1600" dirty="0" err="1"/>
              <a:t>MassTransit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862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4C72-59F2-71BF-A678-F3E9C3FE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Producers &amp; Consumers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D206-9A1A-D280-7630-9E34B4D6DF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6B35"/>
                </a:solidFill>
              </a:rPr>
              <a:t>Producer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Sends or publishes messages via </a:t>
            </a:r>
            <a:r>
              <a:rPr lang="en-US" sz="1400" dirty="0">
                <a:solidFill>
                  <a:srgbClr val="00C9A7"/>
                </a:solidFill>
                <a:latin typeface="Cascadia Code"/>
              </a:rPr>
              <a:t>IBus</a:t>
            </a:r>
            <a:r>
              <a:rPr lang="en-US" sz="1400" dirty="0">
                <a:solidFill>
                  <a:srgbClr val="B0BEC5"/>
                </a:solidFill>
              </a:rPr>
              <a:t> or </a:t>
            </a:r>
            <a:r>
              <a:rPr lang="en-US" sz="1400" dirty="0">
                <a:solidFill>
                  <a:srgbClr val="00C9A7"/>
                </a:solidFill>
                <a:latin typeface="Cascadia Code"/>
              </a:rPr>
              <a:t>IPublishEndpoint</a:t>
            </a:r>
          </a:p>
          <a:p>
            <a:pPr>
              <a:spcBef>
                <a:spcPts val="600"/>
              </a:spcBef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await bus.Publish&lt;OrderSubmitted&gt;(new { });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await endpoint.Send&lt;SubmitOrder&gt;(new { });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Decoupled from consumers — does not know who handles the message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Messages are buffered before sending for higher throughput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E5086-3562-015D-A1EC-7EDC9D44C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78000"/>
            <a:ext cx="5181600" cy="4699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6B35"/>
                </a:solidFill>
              </a:rPr>
              <a:t>Consumer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Implements </a:t>
            </a:r>
            <a:r>
              <a:rPr lang="en-US" sz="1400" dirty="0">
                <a:solidFill>
                  <a:srgbClr val="00C9A7"/>
                </a:solidFill>
                <a:latin typeface="Cascadia Code"/>
              </a:rPr>
              <a:t>IConsumer&lt;TMessage&gt;</a:t>
            </a:r>
          </a:p>
          <a:p>
            <a:pPr>
              <a:spcBef>
                <a:spcPts val="600"/>
              </a:spcBef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public class OrderConsumer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: IConsumer&lt;SubmitOrder&gt;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{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public async Task Consume(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  ConsumeContext&lt;SubmitOrder&gt; ctx)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{  </a:t>
            </a:r>
            <a:r>
              <a:rPr lang="en-US" sz="1200" dirty="0">
                <a:solidFill>
                  <a:srgbClr val="F7B731"/>
                </a:solidFill>
                <a:latin typeface="Cascadia Code"/>
              </a:rPr>
              <a:t>// handle message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  }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}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Registered via </a:t>
            </a:r>
            <a:r>
              <a:rPr lang="en-US" sz="1400" dirty="0">
                <a:solidFill>
                  <a:srgbClr val="00C9A7"/>
                </a:solidFill>
                <a:latin typeface="Cascadia Code"/>
              </a:rPr>
              <a:t>AddConsumer&lt;T&gt;()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MassTransit handles concurrency, retries, and error routing</a:t>
            </a:r>
          </a:p>
        </p:txBody>
      </p:sp>
    </p:spTree>
    <p:extLst>
      <p:ext uri="{BB962C8B-B14F-4D97-AF65-F5344CB8AC3E}">
        <p14:creationId xmlns:p14="http://schemas.microsoft.com/office/powerpoint/2010/main" val="205228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4D1E-7D2D-7FF6-283B-4CA2725E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Publish vs Send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E6BA6-DDC7-48F7-4117-760A7A7B27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FF6B35"/>
                </a:solidFill>
              </a:rPr>
              <a:t>Publish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Broadcast to </a:t>
            </a:r>
            <a:r>
              <a:rPr lang="en-US" sz="1400" dirty="0">
                <a:solidFill>
                  <a:srgbClr val="00C9A7"/>
                </a:solidFill>
              </a:rPr>
              <a:t>all subscribers</a:t>
            </a:r>
            <a:r>
              <a:rPr lang="en-US" sz="1400" dirty="0">
                <a:solidFill>
                  <a:srgbClr val="B0BEC5"/>
                </a:solidFill>
              </a:rPr>
              <a:t> of the message type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Uses a </a:t>
            </a:r>
            <a:r>
              <a:rPr lang="en-US" sz="1400" dirty="0">
                <a:solidFill>
                  <a:srgbClr val="00C9A7"/>
                </a:solidFill>
                <a:latin typeface="Cascadia Code"/>
              </a:rPr>
              <a:t>fanout</a:t>
            </a:r>
            <a:r>
              <a:rPr lang="en-US" sz="1400" dirty="0">
                <a:solidFill>
                  <a:srgbClr val="B0BEC5"/>
                </a:solidFill>
              </a:rPr>
              <a:t> exchange in RabbitMQ — zero or more consumers receive it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No destination required — MassTransit routes automatically</a:t>
            </a:r>
          </a:p>
          <a:p>
            <a:pPr>
              <a:spcBef>
                <a:spcPts val="500"/>
              </a:spcBef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// via IBus or IPublishEndpoint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await bus.Publish&lt;OrderPlaced&gt;(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new { OrderId = id });</a:t>
            </a:r>
          </a:p>
          <a:p>
            <a:pPr>
              <a:spcBef>
                <a:spcPts val="5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Use for </a:t>
            </a:r>
            <a:r>
              <a:rPr lang="en-US" sz="1400" b="1" dirty="0">
                <a:solidFill>
                  <a:srgbClr val="FFC000"/>
                </a:solidFill>
              </a:rPr>
              <a:t>events</a:t>
            </a:r>
            <a:r>
              <a:rPr lang="en-US" sz="1400" dirty="0">
                <a:solidFill>
                  <a:srgbClr val="B0BEC5"/>
                </a:solidFill>
              </a:rPr>
              <a:t> — something that happened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7BFB8-2F15-922F-987F-C18FE25A70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FF6B35"/>
                </a:solidFill>
              </a:rPr>
              <a:t>Send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Targets a </a:t>
            </a:r>
            <a:r>
              <a:rPr lang="en-US" sz="1400" dirty="0">
                <a:solidFill>
                  <a:srgbClr val="00C9A7"/>
                </a:solidFill>
              </a:rPr>
              <a:t>specific endpoint</a:t>
            </a:r>
            <a:r>
              <a:rPr lang="en-US" sz="1400" dirty="0">
                <a:solidFill>
                  <a:srgbClr val="B0BEC5"/>
                </a:solidFill>
              </a:rPr>
              <a:t> (queue address)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Routes to a single known consumer queue — direct exchange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Caller must know the destination URI</a:t>
            </a:r>
          </a:p>
          <a:p>
            <a:pPr>
              <a:spcBef>
                <a:spcPts val="500"/>
              </a:spcBef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var ep = await bus.GetSendEndpoint(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new Uri("queue:order-service"));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await ep.Send&lt;SubmitOrder&gt;(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new { OrderId = id });</a:t>
            </a:r>
          </a:p>
          <a:p>
            <a:pPr>
              <a:spcBef>
                <a:spcPts val="5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Use for </a:t>
            </a:r>
            <a:r>
              <a:rPr lang="en-US" sz="1400" b="1" dirty="0">
                <a:solidFill>
                  <a:srgbClr val="FFC000"/>
                </a:solidFill>
              </a:rPr>
              <a:t>commands</a:t>
            </a:r>
            <a:r>
              <a:rPr lang="en-US" sz="1400" dirty="0">
                <a:solidFill>
                  <a:srgbClr val="B0BEC5"/>
                </a:solidFill>
              </a:rPr>
              <a:t> — a request to do something</a:t>
            </a:r>
          </a:p>
        </p:txBody>
      </p:sp>
    </p:spTree>
    <p:extLst>
      <p:ext uri="{BB962C8B-B14F-4D97-AF65-F5344CB8AC3E}">
        <p14:creationId xmlns:p14="http://schemas.microsoft.com/office/powerpoint/2010/main" val="141711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ECE7-5DA6-D435-14DE-20F10233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When to Use Publish vs Send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93E74-4D2D-61E1-EF1D-BF3367D6E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FF6B35"/>
                </a:solidFill>
              </a:rPr>
              <a:t>Publish  </a:t>
            </a:r>
            <a:r>
              <a:rPr lang="en-US" sz="1400" dirty="0">
                <a:solidFill>
                  <a:srgbClr val="B0BEC5"/>
                </a:solidFill>
              </a:rPr>
              <a:t>— use when you are raising an </a:t>
            </a:r>
            <a:r>
              <a:rPr lang="en-US" sz="1400" b="1" dirty="0">
                <a:solidFill>
                  <a:srgbClr val="FFC000"/>
                </a:solidFill>
              </a:rPr>
              <a:t>event</a:t>
            </a:r>
            <a:r>
              <a:rPr lang="en-US" sz="1400" dirty="0">
                <a:solidFill>
                  <a:srgbClr val="B0BEC5"/>
                </a:solidFill>
              </a:rPr>
              <a:t> (something that already happened)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OrderPlaced, PaymentProcessed, StockReserved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Multiple services can react independently; sender is fully decoupled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If no consumer is subscribed, the message is silently dropped</a:t>
            </a:r>
          </a:p>
          <a:p>
            <a:pPr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FF6B35"/>
                </a:solidFill>
              </a:rPr>
              <a:t>Send  </a:t>
            </a:r>
            <a:r>
              <a:rPr lang="en-US" sz="1400" dirty="0">
                <a:solidFill>
                  <a:srgbClr val="B0BEC5"/>
                </a:solidFill>
              </a:rPr>
              <a:t>— use when you are issuing a </a:t>
            </a:r>
            <a:r>
              <a:rPr lang="en-US" sz="1400" b="1" dirty="0">
                <a:solidFill>
                  <a:srgbClr val="FFC000"/>
                </a:solidFill>
              </a:rPr>
              <a:t>command</a:t>
            </a:r>
            <a:r>
              <a:rPr lang="en-US" sz="1400" dirty="0">
                <a:solidFill>
                  <a:srgbClr val="B0BEC5"/>
                </a:solidFill>
              </a:rPr>
              <a:t> (an instruction to do something)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SubmitOrder, CancelReservation, SendConfirmationEmail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Exactly one consumer handles it; sender knows the target queue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B0BEC5"/>
                </a:solidFill>
              </a:rPr>
              <a:t>Fails if the queue does not exist — routing is explicit, not automatic</a:t>
            </a:r>
          </a:p>
          <a:p>
            <a:pPr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A5A5A5"/>
                </a:solidFill>
              </a:rPr>
              <a:t>Rule of thumb: </a:t>
            </a:r>
            <a:r>
              <a:rPr lang="en-US" sz="1400" dirty="0">
                <a:solidFill>
                  <a:srgbClr val="B0BEC5"/>
                </a:solidFill>
              </a:rPr>
              <a:t>name events in </a:t>
            </a:r>
            <a:r>
              <a:rPr lang="en-US" sz="1400" b="1" dirty="0">
                <a:solidFill>
                  <a:srgbClr val="00C9A7"/>
                </a:solidFill>
              </a:rPr>
              <a:t>past tense</a:t>
            </a:r>
            <a:r>
              <a:rPr lang="en-US" sz="1400" dirty="0">
                <a:solidFill>
                  <a:srgbClr val="B0BEC5"/>
                </a:solidFill>
              </a:rPr>
              <a:t>, commands in </a:t>
            </a:r>
            <a:r>
              <a:rPr lang="en-US" sz="1400" b="1" dirty="0">
                <a:solidFill>
                  <a:srgbClr val="00C9A7"/>
                </a:solidFill>
              </a:rPr>
              <a:t>imperative</a:t>
            </a:r>
          </a:p>
        </p:txBody>
      </p:sp>
    </p:spTree>
    <p:extLst>
      <p:ext uri="{BB962C8B-B14F-4D97-AF65-F5344CB8AC3E}">
        <p14:creationId xmlns:p14="http://schemas.microsoft.com/office/powerpoint/2010/main" val="3520689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9DD21F-643D-7239-42F2-CAC51F5A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53" y="68263"/>
            <a:ext cx="9741268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591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314359-CA22-C385-CEA3-C66A82DE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6021"/>
            <a:ext cx="12192000" cy="108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3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4C72-59F2-71BF-A678-F3E9C3FE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6B35"/>
                </a:solidFill>
              </a:rPr>
              <a:t>PUBLISH — Event (fan-out)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D206-9A1A-D280-7630-9E34B4D6DF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00" dirty="0">
                <a:solidFill>
                  <a:srgbClr val="0F1923"/>
                </a:solidFill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E5086-3562-015D-A1EC-7EDC9D44C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78000"/>
            <a:ext cx="5181600" cy="4699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5B9BD5"/>
                </a:solidFill>
              </a:rPr>
              <a:t>How it works</a:t>
            </a:r>
          </a:p>
          <a:p>
            <a:pPr>
              <a:spcBef>
                <a:spcPts val="400"/>
              </a:spcBef>
              <a:buNone/>
            </a:pPr>
            <a:r>
              <a:rPr lang="en-US" sz="1200" dirty="0">
                <a:solidFill>
                  <a:srgbClr val="B0BEC5"/>
                </a:solidFill>
              </a:rPr>
              <a:t>1.  MassTransit creates a fanout exchange</a:t>
            </a:r>
          </a:p>
          <a:p>
            <a:pPr>
              <a:buNone/>
            </a:pPr>
            <a:r>
              <a:rPr lang="en-US" sz="1150" dirty="0">
                <a:solidFill>
                  <a:srgbClr val="718096"/>
                </a:solidFill>
              </a:rPr>
              <a:t>    named after the message type</a:t>
            </a:r>
          </a:p>
          <a:p>
            <a:pPr>
              <a:spcBef>
                <a:spcPts val="300"/>
              </a:spcBef>
              <a:buNone/>
            </a:pPr>
            <a:r>
              <a:rPr lang="en-US" sz="1200" dirty="0">
                <a:solidFill>
                  <a:srgbClr val="B0BEC5"/>
                </a:solidFill>
              </a:rPr>
              <a:t>2.  RabbitMQ delivers a copy to every</a:t>
            </a:r>
          </a:p>
          <a:p>
            <a:pPr>
              <a:buNone/>
            </a:pPr>
            <a:r>
              <a:rPr lang="en-US" sz="1150" dirty="0">
                <a:solidFill>
                  <a:srgbClr val="718096"/>
                </a:solidFill>
              </a:rPr>
              <a:t>    queue bound to that exchange</a:t>
            </a:r>
          </a:p>
          <a:p>
            <a:pPr>
              <a:spcBef>
                <a:spcPts val="300"/>
              </a:spcBef>
              <a:buNone/>
            </a:pPr>
            <a:r>
              <a:rPr lang="en-US" sz="1200" dirty="0">
                <a:solidFill>
                  <a:srgbClr val="B0BEC5"/>
                </a:solidFill>
              </a:rPr>
              <a:t>3.  Each consumer reads from its own queue</a:t>
            </a:r>
          </a:p>
          <a:p>
            <a:pPr>
              <a:buNone/>
            </a:pPr>
            <a:r>
              <a:rPr lang="en-US" sz="1150" dirty="0">
                <a:solidFill>
                  <a:srgbClr val="718096"/>
                </a:solidFill>
              </a:rPr>
              <a:t>    independently — fully decoupled</a:t>
            </a:r>
          </a:p>
          <a:p>
            <a:pPr>
              <a:spcBef>
                <a:spcPts val="300"/>
              </a:spcBef>
              <a:buNone/>
            </a:pPr>
            <a:r>
              <a:rPr lang="en-US" sz="1200" dirty="0">
                <a:solidFill>
                  <a:srgbClr val="B0BEC5"/>
                </a:solidFill>
              </a:rPr>
              <a:t>4.  Zero subscribers: message dropped</a:t>
            </a:r>
          </a:p>
          <a:p>
            <a:pPr>
              <a:buNone/>
            </a:pPr>
            <a:r>
              <a:rPr lang="en-US" sz="1150" dirty="0">
                <a:solidFill>
                  <a:srgbClr val="718096"/>
                </a:solidFill>
              </a:rPr>
              <a:t>    silently — no exception thrown</a:t>
            </a:r>
          </a:p>
          <a:p>
            <a:pPr>
              <a:spcBef>
                <a:spcPts val="500"/>
              </a:spcBef>
              <a:buNone/>
            </a:pPr>
            <a:r>
              <a:rPr lang="en-US" sz="1300" b="1" dirty="0">
                <a:solidFill>
                  <a:srgbClr val="FFC000"/>
                </a:solidFill>
              </a:rPr>
              <a:t>Use for: events (past-tense names)</a:t>
            </a:r>
          </a:p>
          <a:p>
            <a:pPr>
              <a:buNone/>
            </a:pPr>
            <a:r>
              <a:rPr lang="en-US" sz="1150" dirty="0">
                <a:solidFill>
                  <a:srgbClr val="A0AEC0"/>
                </a:solidFill>
                <a:latin typeface="Cascadia Code"/>
              </a:rPr>
              <a:t>OrderPlaced, UserRegistered</a:t>
            </a:r>
          </a:p>
        </p:txBody>
      </p:sp>
      <p:sp>
        <p:nvSpPr>
          <p:cNvPr id="101" name="pub_code"/>
          <p:cNvSpPr>
            <a:spLocks noGrp="1"/>
          </p:cNvSpPr>
          <p:nvPr/>
        </p:nvSpPr>
        <p:spPr>
          <a:xfrm>
            <a:off x="1841500" y="1879600"/>
            <a:ext cx="3048000" cy="584200"/>
          </a:xfrm>
          <a:prstGeom prst="rect">
            <a:avLst/>
          </a:prstGeom>
          <a:solidFill>
            <a:srgbClr val="1E2533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900" b="0" dirty="0">
                <a:solidFill>
                  <a:srgbClr val="FF6B35"/>
                </a:solidFill>
                <a:latin typeface="Consolas"/>
              </a:rPr>
              <a:t>bus.Publish&lt;OrderPlaced&gt;(evt)</a:t>
            </a:r>
          </a:p>
        </p:txBody>
      </p:sp>
      <p:sp>
        <p:nvSpPr>
          <p:cNvPr id="102" name="stem1"/>
          <p:cNvSpPr>
            <a:spLocks noGrp="1"/>
          </p:cNvSpPr>
          <p:nvPr/>
        </p:nvSpPr>
        <p:spPr>
          <a:xfrm>
            <a:off x="3340100" y="2463800"/>
            <a:ext cx="50800" cy="228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03" name="ah1"/>
          <p:cNvSpPr>
            <a:spLocks noGrp="1"/>
          </p:cNvSpPr>
          <p:nvPr/>
        </p:nvSpPr>
        <p:spPr>
          <a:xfrm>
            <a:off x="3302000" y="26670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04" name="exchange"/>
          <p:cNvSpPr>
            <a:spLocks noGrp="1"/>
          </p:cNvSpPr>
          <p:nvPr/>
        </p:nvSpPr>
        <p:spPr>
          <a:xfrm>
            <a:off x="1651000" y="2743200"/>
            <a:ext cx="3429000" cy="482600"/>
          </a:xfrm>
          <a:prstGeom prst="rect">
            <a:avLst/>
          </a:prstGeom>
          <a:solidFill>
            <a:srgbClr val="4472C4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/>
              </a:rPr>
              <a:t>Exchange (Topic / Fan-out)</a:t>
            </a:r>
          </a:p>
        </p:txBody>
      </p:sp>
      <p:sp>
        <p:nvSpPr>
          <p:cNvPr id="105" name="stem2"/>
          <p:cNvSpPr>
            <a:spLocks noGrp="1"/>
          </p:cNvSpPr>
          <p:nvPr/>
        </p:nvSpPr>
        <p:spPr>
          <a:xfrm>
            <a:off x="3340100" y="3225800"/>
            <a:ext cx="50800" cy="228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06" name="hline"/>
          <p:cNvSpPr>
            <a:spLocks noGrp="1"/>
          </p:cNvSpPr>
          <p:nvPr/>
        </p:nvSpPr>
        <p:spPr>
          <a:xfrm>
            <a:off x="1968500" y="3454400"/>
            <a:ext cx="2794000" cy="508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07" name="stem_L"/>
          <p:cNvSpPr>
            <a:spLocks noGrp="1"/>
          </p:cNvSpPr>
          <p:nvPr/>
        </p:nvSpPr>
        <p:spPr>
          <a:xfrm>
            <a:off x="1993900" y="3505200"/>
            <a:ext cx="50800" cy="25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08" name="ah_L"/>
          <p:cNvSpPr>
            <a:spLocks noGrp="1"/>
          </p:cNvSpPr>
          <p:nvPr/>
        </p:nvSpPr>
        <p:spPr>
          <a:xfrm>
            <a:off x="1930400" y="37211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09" name="stem_C"/>
          <p:cNvSpPr>
            <a:spLocks noGrp="1"/>
          </p:cNvSpPr>
          <p:nvPr/>
        </p:nvSpPr>
        <p:spPr>
          <a:xfrm>
            <a:off x="3340100" y="3505200"/>
            <a:ext cx="50800" cy="25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0" name="ah_C"/>
          <p:cNvSpPr>
            <a:spLocks noGrp="1"/>
          </p:cNvSpPr>
          <p:nvPr/>
        </p:nvSpPr>
        <p:spPr>
          <a:xfrm>
            <a:off x="3302000" y="37211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1" name="stem_R"/>
          <p:cNvSpPr>
            <a:spLocks noGrp="1"/>
          </p:cNvSpPr>
          <p:nvPr/>
        </p:nvSpPr>
        <p:spPr>
          <a:xfrm>
            <a:off x="4737100" y="3505200"/>
            <a:ext cx="50800" cy="25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2" name="ah_R"/>
          <p:cNvSpPr>
            <a:spLocks noGrp="1"/>
          </p:cNvSpPr>
          <p:nvPr/>
        </p:nvSpPr>
        <p:spPr>
          <a:xfrm>
            <a:off x="4673600" y="37211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3" name="q1"/>
          <p:cNvSpPr>
            <a:spLocks noGrp="1"/>
          </p:cNvSpPr>
          <p:nvPr/>
        </p:nvSpPr>
        <p:spPr>
          <a:xfrm>
            <a:off x="1397000" y="3797300"/>
            <a:ext cx="1219200" cy="381000"/>
          </a:xfrm>
          <a:prstGeom prst="rect">
            <a:avLst/>
          </a:prstGeom>
          <a:solidFill>
            <a:srgbClr val="1E2B3C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B0BEC5"/>
                </a:solidFill>
                <a:latin typeface="Consolas"/>
              </a:rPr>
              <a:t>Queue A</a:t>
            </a:r>
          </a:p>
        </p:txBody>
      </p:sp>
      <p:sp>
        <p:nvSpPr>
          <p:cNvPr id="114" name="q2"/>
          <p:cNvSpPr>
            <a:spLocks noGrp="1"/>
          </p:cNvSpPr>
          <p:nvPr/>
        </p:nvSpPr>
        <p:spPr>
          <a:xfrm>
            <a:off x="2755900" y="3797300"/>
            <a:ext cx="1219200" cy="381000"/>
          </a:xfrm>
          <a:prstGeom prst="rect">
            <a:avLst/>
          </a:prstGeom>
          <a:solidFill>
            <a:srgbClr val="1E2B3C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B0BEC5"/>
                </a:solidFill>
                <a:latin typeface="Consolas"/>
              </a:rPr>
              <a:t>Queue B</a:t>
            </a:r>
          </a:p>
        </p:txBody>
      </p:sp>
      <p:sp>
        <p:nvSpPr>
          <p:cNvPr id="115" name="q3"/>
          <p:cNvSpPr>
            <a:spLocks noGrp="1"/>
          </p:cNvSpPr>
          <p:nvPr/>
        </p:nvSpPr>
        <p:spPr>
          <a:xfrm>
            <a:off x="4114800" y="3797300"/>
            <a:ext cx="1219200" cy="381000"/>
          </a:xfrm>
          <a:prstGeom prst="rect">
            <a:avLst/>
          </a:prstGeom>
          <a:solidFill>
            <a:srgbClr val="1E2B3C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B0BEC5"/>
                </a:solidFill>
                <a:latin typeface="Consolas"/>
              </a:rPr>
              <a:t>Queue C</a:t>
            </a:r>
          </a:p>
        </p:txBody>
      </p:sp>
      <p:sp>
        <p:nvSpPr>
          <p:cNvPr id="116" name="stem_Lc"/>
          <p:cNvSpPr>
            <a:spLocks noGrp="1"/>
          </p:cNvSpPr>
          <p:nvPr/>
        </p:nvSpPr>
        <p:spPr>
          <a:xfrm>
            <a:off x="1993900" y="4178300"/>
            <a:ext cx="50800" cy="25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7" name="ah_Lc"/>
          <p:cNvSpPr>
            <a:spLocks noGrp="1"/>
          </p:cNvSpPr>
          <p:nvPr/>
        </p:nvSpPr>
        <p:spPr>
          <a:xfrm>
            <a:off x="1930400" y="43942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8" name="stem_Cc"/>
          <p:cNvSpPr>
            <a:spLocks noGrp="1"/>
          </p:cNvSpPr>
          <p:nvPr/>
        </p:nvSpPr>
        <p:spPr>
          <a:xfrm>
            <a:off x="3340100" y="4178300"/>
            <a:ext cx="50800" cy="25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19" name="ah_Cc"/>
          <p:cNvSpPr>
            <a:spLocks noGrp="1"/>
          </p:cNvSpPr>
          <p:nvPr/>
        </p:nvSpPr>
        <p:spPr>
          <a:xfrm>
            <a:off x="3302000" y="43942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20" name="stem_Rc"/>
          <p:cNvSpPr>
            <a:spLocks noGrp="1"/>
          </p:cNvSpPr>
          <p:nvPr/>
        </p:nvSpPr>
        <p:spPr>
          <a:xfrm>
            <a:off x="4737100" y="4178300"/>
            <a:ext cx="50800" cy="254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21" name="ah_Rc"/>
          <p:cNvSpPr>
            <a:spLocks noGrp="1"/>
          </p:cNvSpPr>
          <p:nvPr/>
        </p:nvSpPr>
        <p:spPr>
          <a:xfrm>
            <a:off x="4673600" y="43942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122" name="c1"/>
          <p:cNvSpPr>
            <a:spLocks noGrp="1"/>
          </p:cNvSpPr>
          <p:nvPr/>
        </p:nvSpPr>
        <p:spPr>
          <a:xfrm>
            <a:off x="1397000" y="4470400"/>
            <a:ext cx="1219200" cy="381000"/>
          </a:xfrm>
          <a:prstGeom prst="rect">
            <a:avLst/>
          </a:prstGeom>
          <a:solidFill>
            <a:srgbClr val="2E7D32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Consolas"/>
              </a:rPr>
              <a:t>Consumer 1</a:t>
            </a:r>
          </a:p>
        </p:txBody>
      </p:sp>
      <p:sp>
        <p:nvSpPr>
          <p:cNvPr id="123" name="c2"/>
          <p:cNvSpPr>
            <a:spLocks noGrp="1"/>
          </p:cNvSpPr>
          <p:nvPr/>
        </p:nvSpPr>
        <p:spPr>
          <a:xfrm>
            <a:off x="2755900" y="4470400"/>
            <a:ext cx="1219200" cy="381000"/>
          </a:xfrm>
          <a:prstGeom prst="rect">
            <a:avLst/>
          </a:prstGeom>
          <a:solidFill>
            <a:srgbClr val="2E7D32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Consolas"/>
              </a:rPr>
              <a:t>Consumer 2</a:t>
            </a:r>
          </a:p>
        </p:txBody>
      </p:sp>
      <p:sp>
        <p:nvSpPr>
          <p:cNvPr id="124" name="c3"/>
          <p:cNvSpPr>
            <a:spLocks noGrp="1"/>
          </p:cNvSpPr>
          <p:nvPr/>
        </p:nvSpPr>
        <p:spPr>
          <a:xfrm>
            <a:off x="4114800" y="4470400"/>
            <a:ext cx="1219200" cy="381000"/>
          </a:xfrm>
          <a:prstGeom prst="rect">
            <a:avLst/>
          </a:prstGeom>
          <a:solidFill>
            <a:srgbClr val="2E7D32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Consolas"/>
              </a:rPr>
              <a:t>Consumer 3</a:t>
            </a:r>
          </a:p>
        </p:txBody>
      </p:sp>
      <p:sp>
        <p:nvSpPr>
          <p:cNvPr id="125" name="label_all"/>
          <p:cNvSpPr>
            <a:spLocks noGrp="1"/>
          </p:cNvSpPr>
          <p:nvPr/>
        </p:nvSpPr>
        <p:spPr>
          <a:xfrm>
            <a:off x="1651000" y="4978400"/>
            <a:ext cx="3429000" cy="304800"/>
          </a:xfrm>
          <a:prstGeom prst="rect">
            <a:avLst/>
          </a:prstGeom>
          <a:solidFill>
            <a:srgbClr val="0F1923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C000"/>
                </a:solidFill>
                <a:latin typeface="Consolas"/>
              </a:rPr>
              <a:t>ALL consumers receive a copy</a:t>
            </a:r>
          </a:p>
        </p:txBody>
      </p:sp>
    </p:spTree>
    <p:extLst>
      <p:ext uri="{BB962C8B-B14F-4D97-AF65-F5344CB8AC3E}">
        <p14:creationId xmlns:p14="http://schemas.microsoft.com/office/powerpoint/2010/main" val="4248601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9A39-FFFE-7018-E839-7FE8C3E66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6B35"/>
                </a:solidFill>
              </a:rPr>
              <a:t>SEND — Command (point-to-point)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CE0D4-AEC4-B05A-F852-E90B6586F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00" dirty="0">
                <a:solidFill>
                  <a:srgbClr val="0F1923"/>
                </a:solidFill>
              </a:rPr>
              <a:t> </a:t>
            </a:r>
          </a:p>
        </p:txBody>
      </p:sp>
      <p:sp>
        <p:nvSpPr>
          <p:cNvPr id="201" name="send_code"/>
          <p:cNvSpPr>
            <a:spLocks noGrp="1"/>
          </p:cNvSpPr>
          <p:nvPr/>
        </p:nvSpPr>
        <p:spPr>
          <a:xfrm>
            <a:off x="1346200" y="1930400"/>
            <a:ext cx="3276600" cy="584200"/>
          </a:xfrm>
          <a:prstGeom prst="rect">
            <a:avLst/>
          </a:prstGeom>
          <a:solidFill>
            <a:srgbClr val="1E2533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900" b="0" dirty="0">
                <a:solidFill>
                  <a:srgbClr val="FF6B35"/>
                </a:solidFill>
                <a:latin typeface="Consolas"/>
              </a:rPr>
              <a:t>bus.Send&lt;ProcessOrder&gt;(cmd)</a:t>
            </a:r>
          </a:p>
        </p:txBody>
      </p:sp>
      <p:sp>
        <p:nvSpPr>
          <p:cNvPr id="202" name="send_stem1"/>
          <p:cNvSpPr>
            <a:spLocks noGrp="1"/>
          </p:cNvSpPr>
          <p:nvPr/>
        </p:nvSpPr>
        <p:spPr>
          <a:xfrm>
            <a:off x="2959100" y="2514600"/>
            <a:ext cx="50800" cy="279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203" name="send_ah1"/>
          <p:cNvSpPr>
            <a:spLocks noGrp="1"/>
          </p:cNvSpPr>
          <p:nvPr/>
        </p:nvSpPr>
        <p:spPr>
          <a:xfrm>
            <a:off x="2921000" y="27686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204" name="send_exch"/>
          <p:cNvSpPr>
            <a:spLocks noGrp="1"/>
          </p:cNvSpPr>
          <p:nvPr/>
        </p:nvSpPr>
        <p:spPr>
          <a:xfrm>
            <a:off x="1397000" y="2844800"/>
            <a:ext cx="3175000" cy="482600"/>
          </a:xfrm>
          <a:prstGeom prst="rect">
            <a:avLst/>
          </a:prstGeom>
          <a:solidFill>
            <a:srgbClr val="4472C4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Direct Exchange (named queue)</a:t>
            </a:r>
          </a:p>
        </p:txBody>
      </p:sp>
      <p:sp>
        <p:nvSpPr>
          <p:cNvPr id="205" name="send_stem2"/>
          <p:cNvSpPr>
            <a:spLocks noGrp="1"/>
          </p:cNvSpPr>
          <p:nvPr/>
        </p:nvSpPr>
        <p:spPr>
          <a:xfrm>
            <a:off x="2959100" y="3327400"/>
            <a:ext cx="50800" cy="279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206" name="send_ah2"/>
          <p:cNvSpPr>
            <a:spLocks noGrp="1"/>
          </p:cNvSpPr>
          <p:nvPr/>
        </p:nvSpPr>
        <p:spPr>
          <a:xfrm>
            <a:off x="2921000" y="35814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207" name="send_queue"/>
          <p:cNvSpPr>
            <a:spLocks noGrp="1"/>
          </p:cNvSpPr>
          <p:nvPr/>
        </p:nvSpPr>
        <p:spPr>
          <a:xfrm>
            <a:off x="1879600" y="3657600"/>
            <a:ext cx="2209800" cy="431800"/>
          </a:xfrm>
          <a:prstGeom prst="rect">
            <a:avLst/>
          </a:prstGeom>
          <a:solidFill>
            <a:srgbClr val="1E2B3C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B0BEC5"/>
                </a:solidFill>
                <a:latin typeface="Consolas"/>
              </a:rPr>
              <a:t>Queue: order-processor</a:t>
            </a:r>
          </a:p>
        </p:txBody>
      </p:sp>
      <p:sp>
        <p:nvSpPr>
          <p:cNvPr id="208" name="send_stem3"/>
          <p:cNvSpPr>
            <a:spLocks noGrp="1"/>
          </p:cNvSpPr>
          <p:nvPr/>
        </p:nvSpPr>
        <p:spPr>
          <a:xfrm>
            <a:off x="2959100" y="4089400"/>
            <a:ext cx="50800" cy="279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209" name="send_ah3"/>
          <p:cNvSpPr>
            <a:spLocks noGrp="1"/>
          </p:cNvSpPr>
          <p:nvPr/>
        </p:nvSpPr>
        <p:spPr>
          <a:xfrm>
            <a:off x="2921000" y="43434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210" name="send_consumer"/>
          <p:cNvSpPr>
            <a:spLocks noGrp="1"/>
          </p:cNvSpPr>
          <p:nvPr/>
        </p:nvSpPr>
        <p:spPr>
          <a:xfrm>
            <a:off x="1879600" y="4419600"/>
            <a:ext cx="2209800" cy="431800"/>
          </a:xfrm>
          <a:prstGeom prst="rect">
            <a:avLst/>
          </a:prstGeom>
          <a:solidFill>
            <a:srgbClr val="00C9A7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0F1923"/>
                </a:solidFill>
                <a:latin typeface="Calibri"/>
              </a:rPr>
              <a:t>Consumer (ONE instance)</a:t>
            </a:r>
          </a:p>
        </p:txBody>
      </p:sp>
      <p:sp>
        <p:nvSpPr>
          <p:cNvPr id="211" name="send_label"/>
          <p:cNvSpPr>
            <a:spLocks noGrp="1"/>
          </p:cNvSpPr>
          <p:nvPr/>
        </p:nvSpPr>
        <p:spPr>
          <a:xfrm>
            <a:off x="1397000" y="5003800"/>
            <a:ext cx="3175000" cy="304800"/>
          </a:xfrm>
          <a:prstGeom prst="rect">
            <a:avLst/>
          </a:prstGeom>
          <a:solidFill>
            <a:srgbClr val="0F1923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C000"/>
                </a:solidFill>
                <a:latin typeface="Calibri"/>
              </a:rPr>
              <a:t>EXACTLY ONE consumer receives it</a:t>
            </a:r>
          </a:p>
        </p:txBody>
      </p:sp>
      <p:sp>
        <p:nvSpPr>
          <p:cNvPr id="220" name="send_howto"/>
          <p:cNvSpPr txBox="1">
            <a:spLocks noGrp="1"/>
          </p:cNvSpPr>
          <p:nvPr/>
        </p:nvSpPr>
        <p:spPr>
          <a:xfrm>
            <a:off x="6223000" y="1879600"/>
            <a:ext cx="4699000" cy="419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spcBef>
                <a:spcPts val="100"/>
              </a:spcBef>
              <a:buNone/>
            </a:pPr>
            <a:r>
              <a:rPr lang="en-US" sz="1100" b="1" dirty="0">
                <a:solidFill>
                  <a:srgbClr val="FF6B35"/>
                </a:solidFill>
              </a:rPr>
              <a:t>How it works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1.  Sender specifies an endpoint address</a:t>
            </a:r>
          </a:p>
          <a:p>
            <a:pPr>
              <a:spcBef>
                <a:spcPts val="100"/>
              </a:spcBef>
              <a:buNone/>
            </a:pPr>
            <a:r>
              <a:rPr lang="en-US" sz="900" b="0" dirty="0">
                <a:solidFill>
                  <a:srgbClr val="718096"/>
                </a:solidFill>
              </a:rPr>
              <a:t>    (queue name or URI)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2.  Message routed to that exact queue</a:t>
            </a:r>
          </a:p>
          <a:p>
            <a:pPr>
              <a:spcBef>
                <a:spcPts val="100"/>
              </a:spcBef>
              <a:buNone/>
            </a:pPr>
            <a:r>
              <a:rPr lang="en-US" sz="900" b="0" dirty="0">
                <a:solidFill>
                  <a:srgbClr val="718096"/>
                </a:solidFill>
              </a:rPr>
              <a:t>    via a direct exchange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3.  Exactly ONE consumer processes it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4.  If queue missing → exception thrown</a:t>
            </a:r>
          </a:p>
          <a:p>
            <a:pPr>
              <a:spcBef>
                <a:spcPts val="100"/>
              </a:spcBef>
              <a:buNone/>
            </a:pPr>
            <a:endParaRPr lang="en-US" sz="1000" b="0" dirty="0">
              <a:solidFill>
                <a:srgbClr val="FFFFFF"/>
              </a:solidFill>
            </a:endParaRPr>
          </a:p>
          <a:p>
            <a:pPr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C000"/>
                </a:solidFill>
              </a:rPr>
              <a:t>Use for: commands (imperative names)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00C9A7"/>
                </a:solidFill>
              </a:rPr>
              <a:t>ProcessOrder, SendInvoice</a:t>
            </a:r>
          </a:p>
          <a:p>
            <a:pPr>
              <a:spcBef>
                <a:spcPts val="100"/>
              </a:spcBef>
              <a:buNone/>
            </a:pPr>
            <a:endParaRPr lang="en-US" sz="1000" b="0" dirty="0">
              <a:solidFill>
                <a:srgbClr val="00C9A7"/>
              </a:solidFill>
            </a:endParaRPr>
          </a:p>
          <a:p>
            <a:pPr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B0BEC5"/>
                </a:solidFill>
              </a:rPr>
              <a:t>Key difference vs Publish: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B0BEC5"/>
                </a:solidFill>
              </a:rPr>
              <a:t>• Must have a registered consumer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B0BEC5"/>
                </a:solidFill>
              </a:rPr>
              <a:t>• Throws if endpoint not found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B0BEC5"/>
                </a:solidFill>
              </a:rPr>
              <a:t>• One message = one handler</a:t>
            </a:r>
          </a:p>
        </p:txBody>
      </p:sp>
    </p:spTree>
    <p:extLst>
      <p:ext uri="{BB962C8B-B14F-4D97-AF65-F5344CB8AC3E}">
        <p14:creationId xmlns:p14="http://schemas.microsoft.com/office/powerpoint/2010/main" val="61881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3C8B-7B46-508E-6708-103A59FA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6B35"/>
                </a:solidFill>
              </a:rPr>
              <a:t>Competing Consumers — Scale-out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EE600-2E83-387E-9C32-C191358D9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963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00" dirty="0">
                <a:solidFill>
                  <a:srgbClr val="0F1923"/>
                </a:solidFill>
              </a:rPr>
              <a:t> </a:t>
            </a:r>
          </a:p>
        </p:txBody>
      </p:sp>
      <p:sp>
        <p:nvSpPr>
          <p:cNvPr id="301" name="cc_code"/>
          <p:cNvSpPr>
            <a:spLocks noGrp="1"/>
          </p:cNvSpPr>
          <p:nvPr/>
        </p:nvSpPr>
        <p:spPr>
          <a:xfrm>
            <a:off x="1346200" y="1930400"/>
            <a:ext cx="3276600" cy="584200"/>
          </a:xfrm>
          <a:prstGeom prst="rect">
            <a:avLst/>
          </a:prstGeom>
          <a:solidFill>
            <a:srgbClr val="1E2533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900" b="0" dirty="0">
                <a:solidFill>
                  <a:srgbClr val="FF6B35"/>
                </a:solidFill>
                <a:latin typeface="Consolas"/>
              </a:rPr>
              <a:t>bus.Publish&lt;OrderPlaced&gt;(evt)</a:t>
            </a:r>
          </a:p>
        </p:txBody>
      </p:sp>
      <p:sp>
        <p:nvSpPr>
          <p:cNvPr id="302" name="cc_stem1"/>
          <p:cNvSpPr>
            <a:spLocks noGrp="1"/>
          </p:cNvSpPr>
          <p:nvPr/>
        </p:nvSpPr>
        <p:spPr>
          <a:xfrm>
            <a:off x="2959100" y="2514600"/>
            <a:ext cx="50800" cy="279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03" name="cc_ah1"/>
          <p:cNvSpPr>
            <a:spLocks noGrp="1"/>
          </p:cNvSpPr>
          <p:nvPr/>
        </p:nvSpPr>
        <p:spPr>
          <a:xfrm>
            <a:off x="2921000" y="27686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04" name="cc_exch"/>
          <p:cNvSpPr>
            <a:spLocks noGrp="1"/>
          </p:cNvSpPr>
          <p:nvPr/>
        </p:nvSpPr>
        <p:spPr>
          <a:xfrm>
            <a:off x="1397000" y="2844800"/>
            <a:ext cx="3175000" cy="482600"/>
          </a:xfrm>
          <a:prstGeom prst="rect">
            <a:avLst/>
          </a:prstGeom>
          <a:solidFill>
            <a:srgbClr val="4472C4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Exchange (Fan-out)</a:t>
            </a:r>
          </a:p>
        </p:txBody>
      </p:sp>
      <p:sp>
        <p:nvSpPr>
          <p:cNvPr id="305" name="cc_stem2"/>
          <p:cNvSpPr>
            <a:spLocks noGrp="1"/>
          </p:cNvSpPr>
          <p:nvPr/>
        </p:nvSpPr>
        <p:spPr>
          <a:xfrm>
            <a:off x="2959100" y="3327400"/>
            <a:ext cx="50800" cy="2794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06" name="cc_ah2"/>
          <p:cNvSpPr>
            <a:spLocks noGrp="1"/>
          </p:cNvSpPr>
          <p:nvPr/>
        </p:nvSpPr>
        <p:spPr>
          <a:xfrm>
            <a:off x="2921000" y="35814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07" name="cc_queue"/>
          <p:cNvSpPr>
            <a:spLocks noGrp="1"/>
          </p:cNvSpPr>
          <p:nvPr/>
        </p:nvSpPr>
        <p:spPr>
          <a:xfrm>
            <a:off x="1651000" y="3657600"/>
            <a:ext cx="2667000" cy="482600"/>
          </a:xfrm>
          <a:prstGeom prst="rect">
            <a:avLst/>
          </a:prstGeom>
          <a:solidFill>
            <a:srgbClr val="FFC000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1" dirty="0">
                <a:solidFill>
                  <a:srgbClr val="0F1923"/>
                </a:solidFill>
                <a:latin typeface="Calibri"/>
              </a:rPr>
              <a:t>Shared Queue (order-processor)</a:t>
            </a:r>
          </a:p>
        </p:txBody>
      </p:sp>
      <p:sp>
        <p:nvSpPr>
          <p:cNvPr id="308" name="cc_stemQ"/>
          <p:cNvSpPr>
            <a:spLocks noGrp="1"/>
          </p:cNvSpPr>
          <p:nvPr/>
        </p:nvSpPr>
        <p:spPr>
          <a:xfrm>
            <a:off x="2959100" y="4140200"/>
            <a:ext cx="50800" cy="203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09" name="cc_hline"/>
          <p:cNvSpPr>
            <a:spLocks noGrp="1"/>
          </p:cNvSpPr>
          <p:nvPr/>
        </p:nvSpPr>
        <p:spPr>
          <a:xfrm>
            <a:off x="1778000" y="4343400"/>
            <a:ext cx="2413000" cy="508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0" name="cc_stemL"/>
          <p:cNvSpPr>
            <a:spLocks noGrp="1"/>
          </p:cNvSpPr>
          <p:nvPr/>
        </p:nvSpPr>
        <p:spPr>
          <a:xfrm>
            <a:off x="1803400" y="4394200"/>
            <a:ext cx="50800" cy="228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1" name="cc_ahL"/>
          <p:cNvSpPr>
            <a:spLocks noGrp="1"/>
          </p:cNvSpPr>
          <p:nvPr/>
        </p:nvSpPr>
        <p:spPr>
          <a:xfrm>
            <a:off x="1739900" y="45974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2" name="cc_stemC"/>
          <p:cNvSpPr>
            <a:spLocks noGrp="1"/>
          </p:cNvSpPr>
          <p:nvPr/>
        </p:nvSpPr>
        <p:spPr>
          <a:xfrm>
            <a:off x="2959100" y="4394200"/>
            <a:ext cx="50800" cy="228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3" name="cc_ahC"/>
          <p:cNvSpPr>
            <a:spLocks noGrp="1"/>
          </p:cNvSpPr>
          <p:nvPr/>
        </p:nvSpPr>
        <p:spPr>
          <a:xfrm>
            <a:off x="2921000" y="45974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4" name="cc_stemR"/>
          <p:cNvSpPr>
            <a:spLocks noGrp="1"/>
          </p:cNvSpPr>
          <p:nvPr/>
        </p:nvSpPr>
        <p:spPr>
          <a:xfrm>
            <a:off x="4165600" y="4394200"/>
            <a:ext cx="50800" cy="2286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5" name="cc_ahR"/>
          <p:cNvSpPr>
            <a:spLocks noGrp="1"/>
          </p:cNvSpPr>
          <p:nvPr/>
        </p:nvSpPr>
        <p:spPr>
          <a:xfrm>
            <a:off x="4102100" y="4597400"/>
            <a:ext cx="127000" cy="76200"/>
          </a:xfrm>
          <a:prstGeom prst="triangle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pPr>
              <a:buNone/>
            </a:pPr>
            <a:r>
              <a:rPr lang="en-US" sz="100" dirty="0"/>
              <a:t> </a:t>
            </a:r>
          </a:p>
        </p:txBody>
      </p:sp>
      <p:sp>
        <p:nvSpPr>
          <p:cNvPr id="316" name="cc_c1"/>
          <p:cNvSpPr>
            <a:spLocks noGrp="1"/>
          </p:cNvSpPr>
          <p:nvPr/>
        </p:nvSpPr>
        <p:spPr>
          <a:xfrm>
            <a:off x="1117600" y="4673600"/>
            <a:ext cx="1219200" cy="381000"/>
          </a:xfrm>
          <a:prstGeom prst="rect">
            <a:avLst/>
          </a:prstGeom>
          <a:solidFill>
            <a:srgbClr val="2E7D32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Calibri"/>
              </a:rPr>
              <a:t>Consumer 1</a:t>
            </a:r>
          </a:p>
        </p:txBody>
      </p:sp>
      <p:sp>
        <p:nvSpPr>
          <p:cNvPr id="317" name="cc_c2"/>
          <p:cNvSpPr>
            <a:spLocks noGrp="1"/>
          </p:cNvSpPr>
          <p:nvPr/>
        </p:nvSpPr>
        <p:spPr>
          <a:xfrm>
            <a:off x="2425700" y="4673600"/>
            <a:ext cx="1219200" cy="381000"/>
          </a:xfrm>
          <a:prstGeom prst="rect">
            <a:avLst/>
          </a:prstGeom>
          <a:solidFill>
            <a:srgbClr val="2E7D32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Calibri"/>
              </a:rPr>
              <a:t>Consumer 2</a:t>
            </a:r>
          </a:p>
        </p:txBody>
      </p:sp>
      <p:sp>
        <p:nvSpPr>
          <p:cNvPr id="318" name="cc_c3"/>
          <p:cNvSpPr>
            <a:spLocks noGrp="1"/>
          </p:cNvSpPr>
          <p:nvPr/>
        </p:nvSpPr>
        <p:spPr>
          <a:xfrm>
            <a:off x="3746500" y="4673600"/>
            <a:ext cx="1219200" cy="381000"/>
          </a:xfrm>
          <a:prstGeom prst="rect">
            <a:avLst/>
          </a:prstGeom>
          <a:solidFill>
            <a:srgbClr val="2E7D32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Calibri"/>
              </a:rPr>
              <a:t>Consumer 3</a:t>
            </a:r>
          </a:p>
        </p:txBody>
      </p:sp>
      <p:sp>
        <p:nvSpPr>
          <p:cNvPr id="319" name="cc_label"/>
          <p:cNvSpPr>
            <a:spLocks noGrp="1"/>
          </p:cNvSpPr>
          <p:nvPr/>
        </p:nvSpPr>
        <p:spPr>
          <a:xfrm>
            <a:off x="1397000" y="5181600"/>
            <a:ext cx="3175000" cy="330200"/>
          </a:xfrm>
          <a:prstGeom prst="rect">
            <a:avLst/>
          </a:prstGeom>
          <a:solidFill>
            <a:srgbClr val="0F1923"/>
          </a:solidFill>
          <a:ln w="9525">
            <a:solidFill>
              <a:srgbClr val="71809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900" b="0" dirty="0">
                <a:solidFill>
                  <a:srgbClr val="FFC000"/>
                </a:solidFill>
                <a:latin typeface="Calibri"/>
              </a:rPr>
              <a:t>ONLY ONE consumer processes each msg</a:t>
            </a:r>
          </a:p>
        </p:txBody>
      </p:sp>
      <p:sp>
        <p:nvSpPr>
          <p:cNvPr id="330" name="cc_text"/>
          <p:cNvSpPr txBox="1">
            <a:spLocks noGrp="1"/>
          </p:cNvSpPr>
          <p:nvPr/>
        </p:nvSpPr>
        <p:spPr>
          <a:xfrm>
            <a:off x="6223000" y="1879600"/>
            <a:ext cx="469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spcBef>
                <a:spcPts val="100"/>
              </a:spcBef>
              <a:buNone/>
            </a:pPr>
            <a:r>
              <a:rPr lang="en-US" sz="1100" b="1" dirty="0">
                <a:solidFill>
                  <a:srgbClr val="FF6B35"/>
                </a:solidFill>
              </a:rPr>
              <a:t>How it works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1.  All instances subscribe to same queue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2.  RabbitMQ delivers each message once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3.  First consumer to pull gets the msg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FFFFFF"/>
                </a:solidFill>
              </a:rPr>
              <a:t>4.  Others never see that message</a:t>
            </a:r>
          </a:p>
          <a:p>
            <a:pPr>
              <a:spcBef>
                <a:spcPts val="100"/>
              </a:spcBef>
              <a:buNone/>
            </a:pPr>
            <a:endParaRPr lang="en-US" sz="1000" b="0" dirty="0">
              <a:solidFill>
                <a:srgbClr val="FFFFFF"/>
              </a:solidFill>
            </a:endParaRPr>
          </a:p>
          <a:p>
            <a:pPr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C000"/>
                </a:solidFill>
              </a:rPr>
              <a:t>Why this matters for scaling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B0BEC5"/>
                </a:solidFill>
              </a:rPr>
              <a:t>• 3 instances = 3x message throughput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B0BEC5"/>
                </a:solidFill>
              </a:rPr>
              <a:t>• No duplicates, no coordination needed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B0BEC5"/>
                </a:solidFill>
              </a:rPr>
              <a:t>• MassTransit sets this up automatically</a:t>
            </a:r>
          </a:p>
          <a:p>
            <a:pPr>
              <a:spcBef>
                <a:spcPts val="100"/>
              </a:spcBef>
              <a:buNone/>
            </a:pPr>
            <a:endParaRPr lang="en-US" sz="1000" b="0" dirty="0">
              <a:solidFill>
                <a:srgbClr val="B0BEC5"/>
              </a:solidFill>
            </a:endParaRPr>
          </a:p>
          <a:p>
            <a:pPr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B0BEC5"/>
                </a:solidFill>
              </a:rPr>
              <a:t>vs Publish fan-out: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718096"/>
                </a:solidFill>
              </a:rPr>
              <a:t>• Fan-out: ALL consumers get a copy</a:t>
            </a:r>
          </a:p>
          <a:p>
            <a:pPr>
              <a:spcBef>
                <a:spcPts val="100"/>
              </a:spcBef>
              <a:buNone/>
            </a:pPr>
            <a:r>
              <a:rPr lang="en-US" sz="1000" b="0" dirty="0">
                <a:solidFill>
                  <a:srgbClr val="718096"/>
                </a:solidFill>
              </a:rPr>
              <a:t>• Competing: ONE consumer gets it</a:t>
            </a:r>
          </a:p>
          <a:p>
            <a:pPr>
              <a:spcBef>
                <a:spcPts val="100"/>
              </a:spcBef>
              <a:buNone/>
            </a:pPr>
            <a:endParaRPr lang="en-US" sz="1000" b="0" dirty="0">
              <a:solidFill>
                <a:srgbClr val="718096"/>
              </a:solidFill>
            </a:endParaRPr>
          </a:p>
          <a:p>
            <a:pPr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00C9A7"/>
                </a:solidFill>
              </a:rPr>
              <a:t>Horizontal scale = add more instances</a:t>
            </a:r>
          </a:p>
        </p:txBody>
      </p:sp>
    </p:spTree>
    <p:extLst>
      <p:ext uri="{BB962C8B-B14F-4D97-AF65-F5344CB8AC3E}">
        <p14:creationId xmlns:p14="http://schemas.microsoft.com/office/powerpoint/2010/main" val="106340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59BB69-0D9A-4BA2-84D2-688BA9C9148A}"/>
              </a:ext>
            </a:extLst>
          </p:cNvPr>
          <p:cNvSpPr txBox="1"/>
          <p:nvPr/>
        </p:nvSpPr>
        <p:spPr>
          <a:xfrm>
            <a:off x="838200" y="304800"/>
            <a:ext cx="10515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6B35"/>
                </a:solidFill>
              </a:rPr>
              <a:t>Request / Response Pattern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8D2481-B859-4902-9C85-8CBFFA664B91}"/>
              </a:ext>
            </a:extLst>
          </p:cNvPr>
          <p:cNvSpPr txBox="1"/>
          <p:nvPr/>
        </p:nvSpPr>
        <p:spPr>
          <a:xfrm>
            <a:off x="838200" y="1092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B0BEC5"/>
                </a:solidFill>
              </a:rPr>
              <a:t>MassTransit — IRequestClient&lt;T&gt;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F75FE-A10B-45C4-AD56-144C1E0C63FD}"/>
              </a:ext>
            </a:extLst>
          </p:cNvPr>
          <p:cNvSpPr txBox="1"/>
          <p:nvPr/>
        </p:nvSpPr>
        <p:spPr>
          <a:xfrm>
            <a:off x="838200" y="1651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What is it?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99423-4DB6-4AB6-B840-FA2F3179680D}"/>
              </a:ext>
            </a:extLst>
          </p:cNvPr>
          <p:cNvSpPr txBox="1"/>
          <p:nvPr/>
        </p:nvSpPr>
        <p:spPr>
          <a:xfrm>
            <a:off x="838200" y="2057400"/>
            <a:ext cx="4826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 messaging pattern where one service sends a request to another and waits for a response — like a function call, but over the network.
MassTransit creates a temporary reply queue automatically. The caller simply awaits a Task.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A17962-4925-4482-A972-363DC22BB02F}"/>
              </a:ext>
            </a:extLst>
          </p:cNvPr>
          <p:cNvSpPr txBox="1"/>
          <p:nvPr/>
        </p:nvSpPr>
        <p:spPr>
          <a:xfrm>
            <a:off x="838200" y="35052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C000"/>
                </a:solidFill>
              </a:rPr>
              <a:t>Benefits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CF914-7133-4519-B6D7-3F54445A2429}"/>
              </a:ext>
            </a:extLst>
          </p:cNvPr>
          <p:cNvSpPr txBox="1"/>
          <p:nvPr/>
        </p:nvSpPr>
        <p:spPr>
          <a:xfrm>
            <a:off x="838200" y="3835400"/>
            <a:ext cx="228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B0BEC5"/>
                </a:solidFill>
              </a:rPr>
              <a:t>✔  Loose coupling
✔  Location transparency
✔  Async / await friendly
✔  Auto Fault&lt;T&gt; on error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171F6-25CB-416E-9ACA-DDEA05BA8310}"/>
              </a:ext>
            </a:extLst>
          </p:cNvPr>
          <p:cNvSpPr txBox="1"/>
          <p:nvPr/>
        </p:nvSpPr>
        <p:spPr>
          <a:xfrm>
            <a:off x="3378200" y="35052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FC000"/>
                </a:solidFill>
              </a:rPr>
              <a:t>Watch out for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8AD628-C098-4984-B2B8-A3143E91F4F3}"/>
              </a:ext>
            </a:extLst>
          </p:cNvPr>
          <p:cNvSpPr txBox="1"/>
          <p:nvPr/>
        </p:nvSpPr>
        <p:spPr>
          <a:xfrm>
            <a:off x="3378200" y="3835400"/>
            <a:ext cx="228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B0BEC5"/>
                </a:solidFill>
              </a:rPr>
              <a:t>⚠  Added network latency
⚠  Timeout if bus not started
⚠  Default timeout: 30 s
⚠  Avoid for fire-and-forget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BC59BF-558A-4F7D-95F6-16E4C837A79D}"/>
              </a:ext>
            </a:extLst>
          </p:cNvPr>
          <p:cNvSpPr txBox="1"/>
          <p:nvPr/>
        </p:nvSpPr>
        <p:spPr>
          <a:xfrm>
            <a:off x="6477000" y="1651000"/>
            <a:ext cx="487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How it flows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6D8D98-2B1E-4E85-B425-364D75BACB5B}"/>
              </a:ext>
            </a:extLst>
          </p:cNvPr>
          <p:cNvSpPr/>
          <p:nvPr/>
        </p:nvSpPr>
        <p:spPr>
          <a:xfrm>
            <a:off x="6502400" y="2133600"/>
            <a:ext cx="3048000" cy="457200"/>
          </a:xfrm>
          <a:prstGeom prst="round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C65EF-FF88-4380-95A0-34B99E19EA8A}"/>
              </a:ext>
            </a:extLst>
          </p:cNvPr>
          <p:cNvSpPr txBox="1"/>
          <p:nvPr/>
        </p:nvSpPr>
        <p:spPr>
          <a:xfrm>
            <a:off x="6604000" y="2133600"/>
            <a:ext cx="2844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</a:rPr>
              <a:t>① Requester: </a:t>
            </a:r>
            <a:r>
              <a:rPr lang="en-US" sz="1200" dirty="0" err="1">
                <a:solidFill>
                  <a:srgbClr val="FFFFFF"/>
                </a:solidFill>
              </a:rPr>
              <a:t>IRequestClient.GetResponse</a:t>
            </a:r>
            <a:r>
              <a:rPr lang="en-US" sz="1200" dirty="0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DACFB81-AB72-45D4-8C0E-3B6EA291A472}"/>
              </a:ext>
            </a:extLst>
          </p:cNvPr>
          <p:cNvSpPr/>
          <p:nvPr/>
        </p:nvSpPr>
        <p:spPr>
          <a:xfrm>
            <a:off x="7874000" y="2641600"/>
            <a:ext cx="304800" cy="177800"/>
          </a:xfrm>
          <a:prstGeom prst="downArrow">
            <a:avLst/>
          </a:prstGeom>
          <a:solidFill>
            <a:srgbClr val="7180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AA7C20-584E-4F6B-A8E3-CE901C18A4F7}"/>
              </a:ext>
            </a:extLst>
          </p:cNvPr>
          <p:cNvSpPr/>
          <p:nvPr/>
        </p:nvSpPr>
        <p:spPr>
          <a:xfrm>
            <a:off x="6502400" y="2870200"/>
            <a:ext cx="3048000" cy="457200"/>
          </a:xfrm>
          <a:prstGeom prst="roundRect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BBC2B-9A5E-4698-AAF7-939C4EDCE98C}"/>
              </a:ext>
            </a:extLst>
          </p:cNvPr>
          <p:cNvSpPr txBox="1"/>
          <p:nvPr/>
        </p:nvSpPr>
        <p:spPr>
          <a:xfrm>
            <a:off x="6604000" y="2895600"/>
            <a:ext cx="2844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</a:rPr>
              <a:t>② </a:t>
            </a:r>
            <a:r>
              <a:rPr lang="en-US" sz="1200" dirty="0" err="1">
                <a:solidFill>
                  <a:srgbClr val="FFFFFF"/>
                </a:solidFill>
              </a:rPr>
              <a:t>MassTransit</a:t>
            </a:r>
            <a:r>
              <a:rPr lang="en-US" sz="1200" dirty="0">
                <a:solidFill>
                  <a:srgbClr val="FFFFFF"/>
                </a:solidFill>
              </a:rPr>
              <a:t> routes to consumer queue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80BC607-17F7-420A-9F15-6F0B049B29EC}"/>
              </a:ext>
            </a:extLst>
          </p:cNvPr>
          <p:cNvSpPr/>
          <p:nvPr/>
        </p:nvSpPr>
        <p:spPr>
          <a:xfrm>
            <a:off x="7874000" y="3378200"/>
            <a:ext cx="304800" cy="177800"/>
          </a:xfrm>
          <a:prstGeom prst="downArrow">
            <a:avLst/>
          </a:prstGeom>
          <a:solidFill>
            <a:srgbClr val="7180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4BCD7B-1BF1-44D2-BF93-F2670996B391}"/>
              </a:ext>
            </a:extLst>
          </p:cNvPr>
          <p:cNvSpPr/>
          <p:nvPr/>
        </p:nvSpPr>
        <p:spPr>
          <a:xfrm>
            <a:off x="6502400" y="3606800"/>
            <a:ext cx="3048000" cy="457200"/>
          </a:xfrm>
          <a:prstGeom prst="round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CFF4D3-4FBA-43BD-86B3-83376B1D9FF0}"/>
              </a:ext>
            </a:extLst>
          </p:cNvPr>
          <p:cNvSpPr txBox="1"/>
          <p:nvPr/>
        </p:nvSpPr>
        <p:spPr>
          <a:xfrm>
            <a:off x="6604000" y="3606800"/>
            <a:ext cx="2844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</a:rPr>
              <a:t>③ Consumer: </a:t>
            </a:r>
            <a:r>
              <a:rPr lang="en-US" sz="1200" dirty="0" err="1">
                <a:solidFill>
                  <a:srgbClr val="FFFFFF"/>
                </a:solidFill>
              </a:rPr>
              <a:t>context.RespondAsync</a:t>
            </a:r>
            <a:r>
              <a:rPr lang="en-US" sz="1200" dirty="0">
                <a:solidFill>
                  <a:srgbClr val="FFFFFF"/>
                </a:solidFill>
              </a:rPr>
              <a:t>(result)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663C07C-13FB-4388-87A8-D6F471B141E9}"/>
              </a:ext>
            </a:extLst>
          </p:cNvPr>
          <p:cNvSpPr/>
          <p:nvPr/>
        </p:nvSpPr>
        <p:spPr>
          <a:xfrm>
            <a:off x="7874000" y="4114800"/>
            <a:ext cx="304800" cy="177800"/>
          </a:xfrm>
          <a:prstGeom prst="downArrow">
            <a:avLst/>
          </a:prstGeom>
          <a:solidFill>
            <a:srgbClr val="7180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270383-BC56-4C76-BEA4-56FECD41ED5A}"/>
              </a:ext>
            </a:extLst>
          </p:cNvPr>
          <p:cNvSpPr/>
          <p:nvPr/>
        </p:nvSpPr>
        <p:spPr>
          <a:xfrm>
            <a:off x="6502400" y="4343400"/>
            <a:ext cx="3048000" cy="457200"/>
          </a:xfrm>
          <a:prstGeom prst="round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7CA5DE-CBF5-431B-B1F9-37DFAE09265A}"/>
              </a:ext>
            </a:extLst>
          </p:cNvPr>
          <p:cNvSpPr txBox="1"/>
          <p:nvPr/>
        </p:nvSpPr>
        <p:spPr>
          <a:xfrm>
            <a:off x="6604000" y="44323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</a:rPr>
              <a:t>④ Requester awaits response Task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039C87-31B1-45F8-B89B-301A2B7B9413}"/>
              </a:ext>
            </a:extLst>
          </p:cNvPr>
          <p:cNvSpPr txBox="1"/>
          <p:nvPr/>
        </p:nvSpPr>
        <p:spPr>
          <a:xfrm>
            <a:off x="6477000" y="5765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718096"/>
                </a:solidFill>
              </a:rPr>
              <a:t>⟳  Temporary reply queue auto-created by MassTransit</a:t>
            </a:r>
          </a:p>
        </p:txBody>
      </p:sp>
    </p:spTree>
    <p:extLst>
      <p:ext uri="{BB962C8B-B14F-4D97-AF65-F5344CB8AC3E}">
        <p14:creationId xmlns:p14="http://schemas.microsoft.com/office/powerpoint/2010/main" val="53284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25F38-D82A-45EE-83E0-FDBF9EBD9604}"/>
              </a:ext>
            </a:extLst>
          </p:cNvPr>
          <p:cNvSpPr txBox="1"/>
          <p:nvPr/>
        </p:nvSpPr>
        <p:spPr>
          <a:xfrm>
            <a:off x="838200" y="304800"/>
            <a:ext cx="1051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F6B35"/>
                </a:solidFill>
              </a:rPr>
              <a:t>Using IRequestClient&lt;T&gt;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5A1895-5B15-4EF7-9D7E-92A3476DF037}"/>
              </a:ext>
            </a:extLst>
          </p:cNvPr>
          <p:cNvSpPr/>
          <p:nvPr/>
        </p:nvSpPr>
        <p:spPr>
          <a:xfrm>
            <a:off x="838200" y="1244600"/>
            <a:ext cx="6350000" cy="5080000"/>
          </a:xfrm>
          <a:prstGeom prst="rect">
            <a:avLst/>
          </a:prstGeom>
          <a:solidFill>
            <a:srgbClr val="0D1117"/>
          </a:solidFill>
          <a:ln w="12700" cap="flat" cmpd="sng" algn="ctr">
            <a:solidFill>
              <a:srgbClr val="3036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6227A-14AD-4D0C-98EA-478D3F3E6648}"/>
              </a:ext>
            </a:extLst>
          </p:cNvPr>
          <p:cNvSpPr txBox="1"/>
          <p:nvPr/>
        </p:nvSpPr>
        <p:spPr>
          <a:xfrm>
            <a:off x="914400" y="12700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718096"/>
                </a:solidFill>
              </a:rPr>
              <a:t>C#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0A99F-49E5-48AE-AD12-FB8CFEEFE55B}"/>
              </a:ext>
            </a:extLst>
          </p:cNvPr>
          <p:cNvSpPr txBox="1"/>
          <p:nvPr/>
        </p:nvSpPr>
        <p:spPr>
          <a:xfrm>
            <a:off x="939800" y="1549400"/>
            <a:ext cx="6172200" cy="4673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dirty="0">
                <a:solidFill>
                  <a:srgbClr val="E2E8F0"/>
                </a:solidFill>
                <a:latin typeface="Consolas"/>
              </a:rPr>
              <a:t>// 1. Message contracts
public record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Guid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OrderId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);
public record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OrderStatusResult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Guid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OrderId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, string Status);
// 2. Register 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Program.cs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
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builder.Services.AddMassTransit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(x =&gt; {
   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x.AddConsumer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&lt;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CheckOrderStatusConsumer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&gt;();
   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x.UsingRabbitMq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ctx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cfg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 =&gt;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cfg.ConfigureEndpoints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ctx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));
});
// 3. Inject &amp; use request client
public class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OrderController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IRequestClient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&lt;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&gt; client) {
    public async Task&lt;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IActionResult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&gt;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GetStatus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Guid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 id) {
        var response = await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client.GetResponse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&lt;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OrderStatusResult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&gt;(
            new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(id));
        return Ok(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response.Message.Status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);
    }
}
// 4. Consumer — respond to the request
public class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CheckOrderStatusConsumer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 :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IConsumer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&lt;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&gt; {
    public async Task Consume(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ConsumeContext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&lt;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CheckOrderStatus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&gt;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ctx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 {
        var status =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LookUpStatus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ctx.Message.OrderId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);
        await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ctx.RespondAsync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
            new 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OrderStatusResult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onsolas"/>
              </a:rPr>
              <a:t>ctx.Message.OrderId</a:t>
            </a:r>
            <a:r>
              <a:rPr lang="en-US" sz="1000" dirty="0">
                <a:solidFill>
                  <a:srgbClr val="E2E8F0"/>
                </a:solidFill>
                <a:latin typeface="Consolas"/>
              </a:rPr>
              <a:t>, status));
    }
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EAD1B-CFD9-4363-9FE2-393B3A390AAD}"/>
              </a:ext>
            </a:extLst>
          </p:cNvPr>
          <p:cNvSpPr txBox="1"/>
          <p:nvPr/>
        </p:nvSpPr>
        <p:spPr>
          <a:xfrm>
            <a:off x="7391400" y="1270000"/>
            <a:ext cx="4089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Key Points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27ED0-CE80-4C8A-B499-996A9AE2F56B}"/>
              </a:ext>
            </a:extLst>
          </p:cNvPr>
          <p:cNvSpPr/>
          <p:nvPr/>
        </p:nvSpPr>
        <p:spPr>
          <a:xfrm>
            <a:off x="7391400" y="1752600"/>
            <a:ext cx="4089400" cy="736600"/>
          </a:xfrm>
          <a:prstGeom prst="roundRect">
            <a:avLst/>
          </a:prstGeom>
          <a:solidFill>
            <a:srgbClr val="1E2530"/>
          </a:solidFill>
          <a:ln w="12700" cap="flat" cmpd="sng" algn="ctr">
            <a:solidFill>
              <a:srgbClr val="3036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37D4F-2380-4FB2-B268-C35BFAC30DFC}"/>
              </a:ext>
            </a:extLst>
          </p:cNvPr>
          <p:cNvSpPr txBox="1"/>
          <p:nvPr/>
        </p:nvSpPr>
        <p:spPr>
          <a:xfrm>
            <a:off x="7493000" y="18542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/>
              <a:t>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D3315-B5AC-4F35-8F82-2FE6FFF41B78}"/>
              </a:ext>
            </a:extLst>
          </p:cNvPr>
          <p:cNvSpPr txBox="1"/>
          <p:nvPr/>
        </p:nvSpPr>
        <p:spPr>
          <a:xfrm>
            <a:off x="7899400" y="1828800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C000"/>
                </a:solidFill>
              </a:rPr>
              <a:t>Message Contracts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982D0-1B3C-41BE-8A4E-7D247B729B31}"/>
              </a:ext>
            </a:extLst>
          </p:cNvPr>
          <p:cNvSpPr txBox="1"/>
          <p:nvPr/>
        </p:nvSpPr>
        <p:spPr>
          <a:xfrm>
            <a:off x="7899400" y="2082800"/>
            <a:ext cx="3479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B0BEC5"/>
                </a:solidFill>
              </a:rPr>
              <a:t>Define request &amp; response as plain C# records or interfaces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03482E-AF81-4B95-8EA4-867A622FC12D}"/>
              </a:ext>
            </a:extLst>
          </p:cNvPr>
          <p:cNvSpPr/>
          <p:nvPr/>
        </p:nvSpPr>
        <p:spPr>
          <a:xfrm>
            <a:off x="7391400" y="2641600"/>
            <a:ext cx="4089400" cy="736600"/>
          </a:xfrm>
          <a:prstGeom prst="roundRect">
            <a:avLst/>
          </a:prstGeom>
          <a:solidFill>
            <a:srgbClr val="1E2530"/>
          </a:solidFill>
          <a:ln w="12700" cap="flat" cmpd="sng" algn="ctr">
            <a:solidFill>
              <a:srgbClr val="3036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90994-82D9-4896-9693-DFC61363F213}"/>
              </a:ext>
            </a:extLst>
          </p:cNvPr>
          <p:cNvSpPr txBox="1"/>
          <p:nvPr/>
        </p:nvSpPr>
        <p:spPr>
          <a:xfrm>
            <a:off x="7493000" y="27432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/>
              <a:t>⚙️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8BA88-8AA4-45DE-A51F-CAC7A365A571}"/>
              </a:ext>
            </a:extLst>
          </p:cNvPr>
          <p:cNvSpPr txBox="1"/>
          <p:nvPr/>
        </p:nvSpPr>
        <p:spPr>
          <a:xfrm>
            <a:off x="7899400" y="2717800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C000"/>
                </a:solidFill>
              </a:rPr>
              <a:t>Auto-wired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FBA2E-0642-4DF0-BD23-332237677F2F}"/>
              </a:ext>
            </a:extLst>
          </p:cNvPr>
          <p:cNvSpPr txBox="1"/>
          <p:nvPr/>
        </p:nvSpPr>
        <p:spPr>
          <a:xfrm>
            <a:off x="7899400" y="2971800"/>
            <a:ext cx="3479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B0BEC5"/>
                </a:solidFill>
              </a:rPr>
              <a:t>AddMassTransit registers IRequestClient&lt;T&gt; automatically — just inject it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564E1-A9D2-4E90-80E7-D69C44ADEE9B}"/>
              </a:ext>
            </a:extLst>
          </p:cNvPr>
          <p:cNvSpPr/>
          <p:nvPr/>
        </p:nvSpPr>
        <p:spPr>
          <a:xfrm>
            <a:off x="7391400" y="3530600"/>
            <a:ext cx="4089400" cy="736600"/>
          </a:xfrm>
          <a:prstGeom prst="roundRect">
            <a:avLst/>
          </a:prstGeom>
          <a:solidFill>
            <a:srgbClr val="1E2530"/>
          </a:solidFill>
          <a:ln w="12700" cap="flat" cmpd="sng" algn="ctr">
            <a:solidFill>
              <a:srgbClr val="3036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752D60-DCB6-49AC-8E83-0C241BD24BE4}"/>
              </a:ext>
            </a:extLst>
          </p:cNvPr>
          <p:cNvSpPr txBox="1"/>
          <p:nvPr/>
        </p:nvSpPr>
        <p:spPr>
          <a:xfrm>
            <a:off x="7493000" y="36322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/>
              <a:t>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87E74-D028-41B8-90E6-00CDA281B803}"/>
              </a:ext>
            </a:extLst>
          </p:cNvPr>
          <p:cNvSpPr txBox="1"/>
          <p:nvPr/>
        </p:nvSpPr>
        <p:spPr>
          <a:xfrm>
            <a:off x="7899400" y="3606800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C000"/>
                </a:solidFill>
              </a:rPr>
              <a:t>Timeout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00B898-DBF7-43B2-BFA7-08CCBFBBB645}"/>
              </a:ext>
            </a:extLst>
          </p:cNvPr>
          <p:cNvSpPr txBox="1"/>
          <p:nvPr/>
        </p:nvSpPr>
        <p:spPr>
          <a:xfrm>
            <a:off x="7899400" y="3860800"/>
            <a:ext cx="3479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B0BEC5"/>
                </a:solidFill>
              </a:rPr>
              <a:t>Default 30s. Use RequestTimeout.After(s:10) to customize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9EEF07-13A9-45DD-B610-64FFEB8CEF2F}"/>
              </a:ext>
            </a:extLst>
          </p:cNvPr>
          <p:cNvSpPr/>
          <p:nvPr/>
        </p:nvSpPr>
        <p:spPr>
          <a:xfrm>
            <a:off x="7391400" y="4419600"/>
            <a:ext cx="4089400" cy="736600"/>
          </a:xfrm>
          <a:prstGeom prst="roundRect">
            <a:avLst/>
          </a:prstGeom>
          <a:solidFill>
            <a:srgbClr val="1E2530"/>
          </a:solidFill>
          <a:ln w="12700" cap="flat" cmpd="sng" algn="ctr">
            <a:solidFill>
              <a:srgbClr val="3036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F791A-9BA6-42AF-8B7F-A15B3A4F3143}"/>
              </a:ext>
            </a:extLst>
          </p:cNvPr>
          <p:cNvSpPr txBox="1"/>
          <p:nvPr/>
        </p:nvSpPr>
        <p:spPr>
          <a:xfrm>
            <a:off x="7493000" y="45212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/>
              <a:t>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DEDC78-2BBF-480A-8F17-0B42DA432DC4}"/>
              </a:ext>
            </a:extLst>
          </p:cNvPr>
          <p:cNvSpPr txBox="1"/>
          <p:nvPr/>
        </p:nvSpPr>
        <p:spPr>
          <a:xfrm>
            <a:off x="7899400" y="4495800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C000"/>
                </a:solidFill>
              </a:rPr>
              <a:t>Fault handling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B5FC0A-A028-4FA8-8A4C-57BC0CE7031F}"/>
              </a:ext>
            </a:extLst>
          </p:cNvPr>
          <p:cNvSpPr txBox="1"/>
          <p:nvPr/>
        </p:nvSpPr>
        <p:spPr>
          <a:xfrm>
            <a:off x="7899400" y="4749800"/>
            <a:ext cx="3479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B0BEC5"/>
                </a:solidFill>
              </a:rPr>
              <a:t>On exception → Fault&lt;T&gt; sent back; client throws RequestFaultException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59DD8A5-9C52-4E38-BDFE-E76C080DA87B}"/>
              </a:ext>
            </a:extLst>
          </p:cNvPr>
          <p:cNvSpPr/>
          <p:nvPr/>
        </p:nvSpPr>
        <p:spPr>
          <a:xfrm>
            <a:off x="7391400" y="5308600"/>
            <a:ext cx="4089400" cy="736600"/>
          </a:xfrm>
          <a:prstGeom prst="roundRect">
            <a:avLst/>
          </a:prstGeom>
          <a:solidFill>
            <a:srgbClr val="1E2530"/>
          </a:solidFill>
          <a:ln w="12700" cap="flat" cmpd="sng" algn="ctr">
            <a:solidFill>
              <a:srgbClr val="3036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96393F-C172-4D42-8362-B8CC7BA2B762}"/>
              </a:ext>
            </a:extLst>
          </p:cNvPr>
          <p:cNvSpPr txBox="1"/>
          <p:nvPr/>
        </p:nvSpPr>
        <p:spPr>
          <a:xfrm>
            <a:off x="7493000" y="54102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/>
              <a:t>✉️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A44B54-958D-4846-A7DC-431E0157DF24}"/>
              </a:ext>
            </a:extLst>
          </p:cNvPr>
          <p:cNvSpPr txBox="1"/>
          <p:nvPr/>
        </p:nvSpPr>
        <p:spPr>
          <a:xfrm>
            <a:off x="7899400" y="5384800"/>
            <a:ext cx="3479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FFC000"/>
                </a:solidFill>
              </a:rPr>
              <a:t>Multiple responses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DF7780-9297-4733-A7E4-F4236FAD59EE}"/>
              </a:ext>
            </a:extLst>
          </p:cNvPr>
          <p:cNvSpPr txBox="1"/>
          <p:nvPr/>
        </p:nvSpPr>
        <p:spPr>
          <a:xfrm>
            <a:off x="7899400" y="5638800"/>
            <a:ext cx="3479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B0BEC5"/>
                </a:solidFill>
              </a:rPr>
              <a:t>GetResponse&lt;T1, T2&gt;() supports awaiting two response types at once</a:t>
            </a:r>
          </a:p>
        </p:txBody>
      </p:sp>
    </p:spTree>
    <p:extLst>
      <p:ext uri="{BB962C8B-B14F-4D97-AF65-F5344CB8AC3E}">
        <p14:creationId xmlns:p14="http://schemas.microsoft.com/office/powerpoint/2010/main" val="33148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b400"/>
          <p:cNvSpPr txBox="1">
            <a:spLocks noGrp="1"/>
          </p:cNvSpPr>
          <p:nvPr/>
        </p:nvSpPr>
        <p:spPr>
          <a:xfrm>
            <a:off x="5080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2000" b="1" i="0" dirty="0">
                <a:solidFill>
                  <a:srgbClr val="FF6B35"/>
                </a:solidFill>
                <a:latin typeface="Consolas"/>
              </a:rPr>
              <a:t>RPC over RabbitMQ — Request/Response Flow</a:t>
            </a:r>
          </a:p>
        </p:txBody>
      </p:sp>
      <p:sp>
        <p:nvSpPr>
          <p:cNvPr id="401" name="sh401"/>
          <p:cNvSpPr>
            <a:spLocks noGrp="1"/>
          </p:cNvSpPr>
          <p:nvPr/>
        </p:nvSpPr>
        <p:spPr>
          <a:xfrm>
            <a:off x="889000" y="660400"/>
            <a:ext cx="1524000" cy="4318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tb402"/>
          <p:cNvSpPr txBox="1">
            <a:spLocks noGrp="1"/>
          </p:cNvSpPr>
          <p:nvPr/>
        </p:nvSpPr>
        <p:spPr>
          <a:xfrm>
            <a:off x="889000" y="762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Client</a:t>
            </a:r>
          </a:p>
        </p:txBody>
      </p:sp>
      <p:sp>
        <p:nvSpPr>
          <p:cNvPr id="403" name="sh403"/>
          <p:cNvSpPr>
            <a:spLocks noGrp="1"/>
          </p:cNvSpPr>
          <p:nvPr/>
        </p:nvSpPr>
        <p:spPr>
          <a:xfrm>
            <a:off x="5334000" y="660400"/>
            <a:ext cx="1524000" cy="431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5334000" y="762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RabbitMQ</a:t>
            </a:r>
          </a:p>
        </p:txBody>
      </p:sp>
      <p:sp>
        <p:nvSpPr>
          <p:cNvPr id="405" name="sh405"/>
          <p:cNvSpPr>
            <a:spLocks noGrp="1"/>
          </p:cNvSpPr>
          <p:nvPr/>
        </p:nvSpPr>
        <p:spPr>
          <a:xfrm>
            <a:off x="9779000" y="660400"/>
            <a:ext cx="1524000" cy="4318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tb406"/>
          <p:cNvSpPr txBox="1">
            <a:spLocks noGrp="1"/>
          </p:cNvSpPr>
          <p:nvPr/>
        </p:nvSpPr>
        <p:spPr>
          <a:xfrm>
            <a:off x="9779000" y="762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Server</a:t>
            </a:r>
          </a:p>
        </p:txBody>
      </p:sp>
      <p:sp>
        <p:nvSpPr>
          <p:cNvPr id="407" name="dl407"/>
          <p:cNvSpPr>
            <a:spLocks noGrp="1"/>
          </p:cNvSpPr>
          <p:nvPr/>
        </p:nvSpPr>
        <p:spPr>
          <a:xfrm>
            <a:off x="1638300" y="1524000"/>
            <a:ext cx="25400" cy="4953000"/>
          </a:xfrm>
          <a:prstGeom prst="line">
            <a:avLst/>
          </a:prstGeom>
          <a:noFill/>
          <a:ln w="9525">
            <a:solidFill>
              <a:srgbClr val="4472C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08" name="dl408"/>
          <p:cNvSpPr>
            <a:spLocks noGrp="1"/>
          </p:cNvSpPr>
          <p:nvPr/>
        </p:nvSpPr>
        <p:spPr>
          <a:xfrm>
            <a:off x="6083300" y="1524000"/>
            <a:ext cx="25400" cy="4953000"/>
          </a:xfrm>
          <a:prstGeom prst="line">
            <a:avLst/>
          </a:prstGeom>
          <a:noFill/>
          <a:ln w="9525">
            <a:solidFill>
              <a:srgbClr val="ED7D31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09" name="dl409"/>
          <p:cNvSpPr>
            <a:spLocks noGrp="1"/>
          </p:cNvSpPr>
          <p:nvPr/>
        </p:nvSpPr>
        <p:spPr>
          <a:xfrm>
            <a:off x="10528300" y="1524000"/>
            <a:ext cx="25400" cy="4953000"/>
          </a:xfrm>
          <a:prstGeom prst="line">
            <a:avLst/>
          </a:prstGeom>
          <a:noFill/>
          <a:ln w="9525">
            <a:solidFill>
              <a:srgbClr val="5B9BD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10" name="sh410"/>
          <p:cNvSpPr>
            <a:spLocks noGrp="1"/>
          </p:cNvSpPr>
          <p:nvPr/>
        </p:nvSpPr>
        <p:spPr>
          <a:xfrm>
            <a:off x="1587500" y="2120900"/>
            <a:ext cx="127000" cy="42545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sh411"/>
          <p:cNvSpPr>
            <a:spLocks noGrp="1"/>
          </p:cNvSpPr>
          <p:nvPr/>
        </p:nvSpPr>
        <p:spPr>
          <a:xfrm>
            <a:off x="6032500" y="2120900"/>
            <a:ext cx="127000" cy="3429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sh412"/>
          <p:cNvSpPr>
            <a:spLocks noGrp="1"/>
          </p:cNvSpPr>
          <p:nvPr/>
        </p:nvSpPr>
        <p:spPr>
          <a:xfrm>
            <a:off x="10477500" y="3302000"/>
            <a:ext cx="127000" cy="1168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ln413"/>
          <p:cNvSpPr>
            <a:spLocks noGrp="1"/>
          </p:cNvSpPr>
          <p:nvPr/>
        </p:nvSpPr>
        <p:spPr>
          <a:xfrm flipH="1">
            <a:off x="1663700" y="2298700"/>
            <a:ext cx="4368800" cy="25400"/>
          </a:xfrm>
          <a:prstGeom prst="line">
            <a:avLst/>
          </a:prstGeom>
          <a:noFill/>
          <a:ln w="25400">
            <a:solidFill>
              <a:srgbClr val="4472C4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14" name="tb414"/>
          <p:cNvSpPr txBox="1">
            <a:spLocks noGrp="1"/>
          </p:cNvSpPr>
          <p:nvPr/>
        </p:nvSpPr>
        <p:spPr>
          <a:xfrm>
            <a:off x="1778000" y="19685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i="0" dirty="0">
                <a:solidFill>
                  <a:srgbClr val="4FC3F7"/>
                </a:solidFill>
                <a:latin typeface="Consolas"/>
              </a:rPr>
              <a:t>Publish to "rpc_queue"</a:t>
            </a:r>
          </a:p>
        </p:txBody>
      </p:sp>
      <p:sp>
        <p:nvSpPr>
          <p:cNvPr id="415" name="tb415"/>
          <p:cNvSpPr txBox="1">
            <a:spLocks noGrp="1"/>
          </p:cNvSpPr>
          <p:nvPr/>
        </p:nvSpPr>
        <p:spPr>
          <a:xfrm>
            <a:off x="1778000" y="26670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0" i="1" dirty="0">
                <a:solidFill>
                  <a:srgbClr val="90A4AE"/>
                </a:solidFill>
                <a:latin typeface="Consolas"/>
              </a:rPr>
              <a:t>ReplyTo = "amq.gen-xxx"</a:t>
            </a:r>
          </a:p>
        </p:txBody>
      </p:sp>
      <p:sp>
        <p:nvSpPr>
          <p:cNvPr id="416" name="tb416"/>
          <p:cNvSpPr txBox="1">
            <a:spLocks noGrp="1"/>
          </p:cNvSpPr>
          <p:nvPr/>
        </p:nvSpPr>
        <p:spPr>
          <a:xfrm>
            <a:off x="1778000" y="28956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0" i="1" dirty="0">
                <a:solidFill>
                  <a:srgbClr val="90A4AE"/>
                </a:solidFill>
                <a:latin typeface="Consolas"/>
              </a:rPr>
              <a:t>CorrelationId = "abc-123"</a:t>
            </a:r>
          </a:p>
        </p:txBody>
      </p:sp>
      <p:sp>
        <p:nvSpPr>
          <p:cNvPr id="417" name="ln417"/>
          <p:cNvSpPr>
            <a:spLocks noGrp="1"/>
          </p:cNvSpPr>
          <p:nvPr/>
        </p:nvSpPr>
        <p:spPr>
          <a:xfrm flipH="1">
            <a:off x="6172198" y="3479800"/>
            <a:ext cx="4318001" cy="0"/>
          </a:xfrm>
          <a:prstGeom prst="line">
            <a:avLst/>
          </a:prstGeom>
          <a:noFill/>
          <a:ln w="25400">
            <a:solidFill>
              <a:srgbClr val="ED7D31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18" name="tb418"/>
          <p:cNvSpPr txBox="1">
            <a:spLocks noGrp="1"/>
          </p:cNvSpPr>
          <p:nvPr/>
        </p:nvSpPr>
        <p:spPr>
          <a:xfrm>
            <a:off x="6223000" y="31496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i="0" dirty="0">
                <a:solidFill>
                  <a:srgbClr val="FFB74D"/>
                </a:solidFill>
                <a:latin typeface="Consolas"/>
              </a:rPr>
              <a:t>Deliver to consumer</a:t>
            </a:r>
          </a:p>
        </p:txBody>
      </p:sp>
      <p:sp>
        <p:nvSpPr>
          <p:cNvPr id="419" name="tb419"/>
          <p:cNvSpPr txBox="1">
            <a:spLocks noGrp="1"/>
          </p:cNvSpPr>
          <p:nvPr/>
        </p:nvSpPr>
        <p:spPr>
          <a:xfrm>
            <a:off x="10693400" y="37465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0" i="1" dirty="0">
                <a:solidFill>
                  <a:srgbClr val="718096"/>
                </a:solidFill>
                <a:latin typeface="Consolas"/>
              </a:rPr>
              <a:t>(processes request…)</a:t>
            </a:r>
          </a:p>
        </p:txBody>
      </p:sp>
      <p:sp>
        <p:nvSpPr>
          <p:cNvPr id="420" name="ln420"/>
          <p:cNvSpPr>
            <a:spLocks noGrp="1"/>
          </p:cNvSpPr>
          <p:nvPr/>
        </p:nvSpPr>
        <p:spPr>
          <a:xfrm flipV="1">
            <a:off x="6159499" y="4392038"/>
            <a:ext cx="4318001" cy="0"/>
          </a:xfrm>
          <a:prstGeom prst="line">
            <a:avLst/>
          </a:prstGeom>
          <a:noFill/>
          <a:ln w="25400">
            <a:solidFill>
              <a:srgbClr val="5B9BD5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21" name="tb421"/>
          <p:cNvSpPr txBox="1">
            <a:spLocks noGrp="1"/>
          </p:cNvSpPr>
          <p:nvPr/>
        </p:nvSpPr>
        <p:spPr>
          <a:xfrm>
            <a:off x="6223000" y="40640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en-US" sz="1100" b="1" i="0" dirty="0">
                <a:solidFill>
                  <a:srgbClr val="80DEEA"/>
                </a:solidFill>
                <a:latin typeface="Consolas"/>
              </a:rPr>
              <a:t>Publish to "amq.gen-xxx"</a:t>
            </a:r>
          </a:p>
        </p:txBody>
      </p:sp>
      <p:sp>
        <p:nvSpPr>
          <p:cNvPr id="422" name="tb422"/>
          <p:cNvSpPr txBox="1">
            <a:spLocks noGrp="1"/>
          </p:cNvSpPr>
          <p:nvPr/>
        </p:nvSpPr>
        <p:spPr>
          <a:xfrm>
            <a:off x="6223000" y="45466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en-US" sz="1000" b="0" i="1" dirty="0">
                <a:solidFill>
                  <a:srgbClr val="90A4AE"/>
                </a:solidFill>
                <a:latin typeface="Consolas"/>
              </a:rPr>
              <a:t>CorrelationId = "abc-123"</a:t>
            </a:r>
          </a:p>
        </p:txBody>
      </p:sp>
      <p:sp>
        <p:nvSpPr>
          <p:cNvPr id="423" name="ln423"/>
          <p:cNvSpPr>
            <a:spLocks noGrp="1"/>
          </p:cNvSpPr>
          <p:nvPr/>
        </p:nvSpPr>
        <p:spPr>
          <a:xfrm flipV="1">
            <a:off x="1689100" y="5422900"/>
            <a:ext cx="4343400" cy="25400"/>
          </a:xfrm>
          <a:prstGeom prst="line">
            <a:avLst/>
          </a:prstGeom>
          <a:noFill/>
          <a:ln w="25400">
            <a:solidFill>
              <a:srgbClr val="ED7D31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24" name="tb424"/>
          <p:cNvSpPr txBox="1">
            <a:spLocks noGrp="1"/>
          </p:cNvSpPr>
          <p:nvPr/>
        </p:nvSpPr>
        <p:spPr>
          <a:xfrm>
            <a:off x="1778000" y="50165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i="0" dirty="0">
                <a:solidFill>
                  <a:srgbClr val="FFB74D"/>
                </a:solidFill>
                <a:latin typeface="Consolas"/>
              </a:rPr>
              <a:t>Deliver response</a:t>
            </a:r>
          </a:p>
        </p:txBody>
      </p:sp>
      <p:sp>
        <p:nvSpPr>
          <p:cNvPr id="425" name="sh425"/>
          <p:cNvSpPr>
            <a:spLocks noGrp="1"/>
          </p:cNvSpPr>
          <p:nvPr/>
        </p:nvSpPr>
        <p:spPr>
          <a:xfrm>
            <a:off x="889000" y="6223000"/>
            <a:ext cx="1524000" cy="4318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6" name="tb426"/>
          <p:cNvSpPr txBox="1">
            <a:spLocks noGrp="1"/>
          </p:cNvSpPr>
          <p:nvPr/>
        </p:nvSpPr>
        <p:spPr>
          <a:xfrm>
            <a:off x="889000" y="6324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Client</a:t>
            </a:r>
          </a:p>
        </p:txBody>
      </p:sp>
      <p:sp>
        <p:nvSpPr>
          <p:cNvPr id="427" name="sh427"/>
          <p:cNvSpPr>
            <a:spLocks noGrp="1"/>
          </p:cNvSpPr>
          <p:nvPr/>
        </p:nvSpPr>
        <p:spPr>
          <a:xfrm>
            <a:off x="5334000" y="6223000"/>
            <a:ext cx="1524000" cy="431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8" name="tb428"/>
          <p:cNvSpPr txBox="1">
            <a:spLocks noGrp="1"/>
          </p:cNvSpPr>
          <p:nvPr/>
        </p:nvSpPr>
        <p:spPr>
          <a:xfrm>
            <a:off x="5334000" y="6324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RabbitMQ</a:t>
            </a:r>
          </a:p>
        </p:txBody>
      </p:sp>
      <p:sp>
        <p:nvSpPr>
          <p:cNvPr id="429" name="sh429"/>
          <p:cNvSpPr>
            <a:spLocks noGrp="1"/>
          </p:cNvSpPr>
          <p:nvPr/>
        </p:nvSpPr>
        <p:spPr>
          <a:xfrm>
            <a:off x="9779000" y="6223000"/>
            <a:ext cx="1524000" cy="4318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0" name="tb430"/>
          <p:cNvSpPr txBox="1">
            <a:spLocks noGrp="1"/>
          </p:cNvSpPr>
          <p:nvPr/>
        </p:nvSpPr>
        <p:spPr>
          <a:xfrm>
            <a:off x="9779000" y="6324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onsolas"/>
              </a:rPr>
              <a:t>Server</a:t>
            </a:r>
          </a:p>
        </p:txBody>
      </p:sp>
      <p:sp>
        <p:nvSpPr>
          <p:cNvPr id="431" name="sep431"/>
          <p:cNvSpPr>
            <a:spLocks noGrp="1"/>
          </p:cNvSpPr>
          <p:nvPr/>
        </p:nvSpPr>
        <p:spPr>
          <a:xfrm>
            <a:off x="3873500" y="1524000"/>
            <a:ext cx="12700" cy="4953000"/>
          </a:xfrm>
          <a:prstGeom prst="line">
            <a:avLst/>
          </a:prstGeom>
          <a:noFill/>
          <a:ln w="9525">
            <a:solidFill>
              <a:srgbClr val="2D3748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32" name="sep432"/>
          <p:cNvSpPr>
            <a:spLocks noGrp="1"/>
          </p:cNvSpPr>
          <p:nvPr/>
        </p:nvSpPr>
        <p:spPr>
          <a:xfrm>
            <a:off x="8318500" y="1524000"/>
            <a:ext cx="12700" cy="4953000"/>
          </a:xfrm>
          <a:prstGeom prst="line">
            <a:avLst/>
          </a:prstGeom>
          <a:noFill/>
          <a:ln w="9525">
            <a:solidFill>
              <a:srgbClr val="2D3748"/>
            </a:solidFill>
            <a:headEnd type="none"/>
            <a:tailEnd type="none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84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500"/>
          <p:cNvSpPr txBox="1">
            <a:spLocks noGrp="1"/>
          </p:cNvSpPr>
          <p:nvPr/>
        </p:nvSpPr>
        <p:spPr>
          <a:xfrm>
            <a:off x="508000" y="1524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i="0" dirty="0">
                <a:solidFill>
                  <a:srgbClr val="FF6B35"/>
                </a:solidFill>
              </a:rPr>
              <a:t>The Full Picture — Under the Hood</a:t>
            </a:r>
          </a:p>
        </p:txBody>
      </p:sp>
      <p:sp>
        <p:nvSpPr>
          <p:cNvPr id="501" name="t501"/>
          <p:cNvSpPr txBox="1">
            <a:spLocks noGrp="1"/>
          </p:cNvSpPr>
          <p:nvPr/>
        </p:nvSpPr>
        <p:spPr>
          <a:xfrm>
            <a:off x="508000" y="4826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0" i="1" dirty="0">
                <a:solidFill>
                  <a:srgbClr val="90A4AE"/>
                </a:solidFill>
              </a:rPr>
              <a:t>Good question. It has nothing to do with HTTP — here's the actual flow.</a:t>
            </a:r>
          </a:p>
        </p:txBody>
      </p:sp>
      <p:sp>
        <p:nvSpPr>
          <p:cNvPr id="502" name="b502"/>
          <p:cNvSpPr>
            <a:spLocks noGrp="1"/>
          </p:cNvSpPr>
          <p:nvPr/>
        </p:nvSpPr>
        <p:spPr>
          <a:xfrm>
            <a:off x="1231900" y="762000"/>
            <a:ext cx="1473200" cy="330200"/>
          </a:xfrm>
          <a:prstGeom prst="roundRect">
            <a:avLst/>
          </a:prstGeom>
          <a:solidFill>
            <a:srgbClr val="4472C4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t503"/>
          <p:cNvSpPr txBox="1">
            <a:spLocks noGrp="1"/>
          </p:cNvSpPr>
          <p:nvPr/>
        </p:nvSpPr>
        <p:spPr>
          <a:xfrm>
            <a:off x="1231900" y="8255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100" b="1" i="0" dirty="0">
                <a:solidFill>
                  <a:srgbClr val="FFFFFF"/>
                </a:solidFill>
              </a:rPr>
              <a:t>PUBLISHER</a:t>
            </a:r>
          </a:p>
        </p:txBody>
      </p:sp>
      <p:sp>
        <p:nvSpPr>
          <p:cNvPr id="504" name="b504"/>
          <p:cNvSpPr>
            <a:spLocks noGrp="1"/>
          </p:cNvSpPr>
          <p:nvPr/>
        </p:nvSpPr>
        <p:spPr>
          <a:xfrm>
            <a:off x="5359400" y="762000"/>
            <a:ext cx="1473200" cy="330200"/>
          </a:xfrm>
          <a:prstGeom prst="roundRect">
            <a:avLst/>
          </a:prstGeom>
          <a:solidFill>
            <a:srgbClr val="ED7D31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" name="t505"/>
          <p:cNvSpPr txBox="1">
            <a:spLocks noGrp="1"/>
          </p:cNvSpPr>
          <p:nvPr/>
        </p:nvSpPr>
        <p:spPr>
          <a:xfrm>
            <a:off x="5359400" y="8255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100" b="1" i="0" dirty="0">
                <a:solidFill>
                  <a:srgbClr val="FFFFFF"/>
                </a:solidFill>
              </a:rPr>
              <a:t>RABBITMQ</a:t>
            </a:r>
          </a:p>
        </p:txBody>
      </p:sp>
      <p:sp>
        <p:nvSpPr>
          <p:cNvPr id="506" name="b506"/>
          <p:cNvSpPr>
            <a:spLocks noGrp="1"/>
          </p:cNvSpPr>
          <p:nvPr/>
        </p:nvSpPr>
        <p:spPr>
          <a:xfrm>
            <a:off x="9486900" y="762000"/>
            <a:ext cx="1473200" cy="330200"/>
          </a:xfrm>
          <a:prstGeom prst="roundRect">
            <a:avLst/>
          </a:prstGeom>
          <a:solidFill>
            <a:srgbClr val="5B9BD5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7" name="t507"/>
          <p:cNvSpPr txBox="1">
            <a:spLocks noGrp="1"/>
          </p:cNvSpPr>
          <p:nvPr/>
        </p:nvSpPr>
        <p:spPr>
          <a:xfrm>
            <a:off x="9486900" y="8255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1100" b="1" i="0" dirty="0">
                <a:solidFill>
                  <a:srgbClr val="FFFFFF"/>
                </a:solidFill>
              </a:rPr>
              <a:t>CONSUMER</a:t>
            </a:r>
          </a:p>
        </p:txBody>
      </p:sp>
      <p:sp>
        <p:nvSpPr>
          <p:cNvPr id="508" name="vd508"/>
          <p:cNvSpPr>
            <a:spLocks noGrp="1"/>
          </p:cNvSpPr>
          <p:nvPr/>
        </p:nvSpPr>
        <p:spPr>
          <a:xfrm>
            <a:off x="1968500" y="1117600"/>
            <a:ext cx="12700" cy="523240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09" name="vd509"/>
          <p:cNvSpPr>
            <a:spLocks noGrp="1"/>
          </p:cNvSpPr>
          <p:nvPr/>
        </p:nvSpPr>
        <p:spPr>
          <a:xfrm>
            <a:off x="6096000" y="1117600"/>
            <a:ext cx="12700" cy="523240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10" name="vd510"/>
          <p:cNvSpPr>
            <a:spLocks noGrp="1"/>
          </p:cNvSpPr>
          <p:nvPr/>
        </p:nvSpPr>
        <p:spPr>
          <a:xfrm>
            <a:off x="10223500" y="1117600"/>
            <a:ext cx="12700" cy="523240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11" name="b511"/>
          <p:cNvSpPr>
            <a:spLocks noGrp="1"/>
          </p:cNvSpPr>
          <p:nvPr/>
        </p:nvSpPr>
        <p:spPr>
          <a:xfrm>
            <a:off x="1231900" y="1219200"/>
            <a:ext cx="1473200" cy="254000"/>
          </a:xfrm>
          <a:prstGeom prst="rect">
            <a:avLst/>
          </a:prstGeom>
          <a:solidFill>
            <a:srgbClr val="1E293B"/>
          </a:solidFill>
          <a:ln w="9525">
            <a:solidFill>
              <a:srgbClr val="3B4A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2" name="t512"/>
          <p:cNvSpPr txBox="1">
            <a:spLocks noGrp="1"/>
          </p:cNvSpPr>
          <p:nvPr/>
        </p:nvSpPr>
        <p:spPr>
          <a:xfrm>
            <a:off x="1257300" y="1257300"/>
            <a:ext cx="1422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950" b="1" i="0" dirty="0">
                <a:solidFill>
                  <a:srgbClr val="B0BEC5"/>
                </a:solidFill>
                <a:latin typeface="Consolas"/>
              </a:rPr>
              <a:t>host.StartAsync()</a:t>
            </a:r>
          </a:p>
        </p:txBody>
      </p:sp>
      <p:sp>
        <p:nvSpPr>
          <p:cNvPr id="513" name="ar513"/>
          <p:cNvSpPr>
            <a:spLocks noGrp="1"/>
          </p:cNvSpPr>
          <p:nvPr/>
        </p:nvSpPr>
        <p:spPr>
          <a:xfrm>
            <a:off x="1981200" y="1663564"/>
            <a:ext cx="3175000" cy="12835"/>
          </a:xfrm>
          <a:prstGeom prst="line">
            <a:avLst/>
          </a:prstGeom>
          <a:noFill/>
          <a:ln w="12700">
            <a:solidFill>
              <a:srgbClr val="4472C4"/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514" name="t514"/>
          <p:cNvSpPr txBox="1">
            <a:spLocks noGrp="1"/>
          </p:cNvSpPr>
          <p:nvPr/>
        </p:nvSpPr>
        <p:spPr>
          <a:xfrm>
            <a:off x="2070100" y="1447800"/>
            <a:ext cx="39243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900" b="0" i="1" dirty="0">
                <a:solidFill>
                  <a:srgbClr val="718096"/>
                </a:solidFill>
              </a:rPr>
              <a:t>creates temp reply queue</a:t>
            </a:r>
          </a:p>
        </p:txBody>
      </p:sp>
      <p:sp>
        <p:nvSpPr>
          <p:cNvPr id="515" name="b515"/>
          <p:cNvSpPr>
            <a:spLocks noGrp="1"/>
          </p:cNvSpPr>
          <p:nvPr/>
        </p:nvSpPr>
        <p:spPr>
          <a:xfrm>
            <a:off x="5181600" y="1524000"/>
            <a:ext cx="1828800" cy="279400"/>
          </a:xfrm>
          <a:prstGeom prst="roundRect">
            <a:avLst/>
          </a:prstGeom>
          <a:solidFill>
            <a:srgbClr val="102027"/>
          </a:solidFill>
          <a:ln w="9525">
            <a:solidFill>
              <a:srgbClr val="546E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6" name="t516"/>
          <p:cNvSpPr txBox="1">
            <a:spLocks noGrp="1"/>
          </p:cNvSpPr>
          <p:nvPr/>
        </p:nvSpPr>
        <p:spPr>
          <a:xfrm>
            <a:off x="5207000" y="15748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820" b="0" i="0" dirty="0">
                <a:solidFill>
                  <a:srgbClr val="80DEEA"/>
                </a:solidFill>
                <a:latin typeface="Consolas"/>
              </a:rPr>
              <a:t>reply-queue-abc123  [auto-delete]</a:t>
            </a:r>
          </a:p>
        </p:txBody>
      </p:sp>
      <p:sp>
        <p:nvSpPr>
          <p:cNvPr id="517" name="b517"/>
          <p:cNvSpPr>
            <a:spLocks noGrp="1"/>
          </p:cNvSpPr>
          <p:nvPr/>
        </p:nvSpPr>
        <p:spPr>
          <a:xfrm>
            <a:off x="1231900" y="2286000"/>
            <a:ext cx="2286000" cy="254000"/>
          </a:xfrm>
          <a:prstGeom prst="rect">
            <a:avLst/>
          </a:prstGeom>
          <a:solidFill>
            <a:srgbClr val="1E293B"/>
          </a:solidFill>
          <a:ln w="9525">
            <a:solidFill>
              <a:srgbClr val="3B4A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8" name="t518"/>
          <p:cNvSpPr txBox="1">
            <a:spLocks noGrp="1"/>
          </p:cNvSpPr>
          <p:nvPr/>
        </p:nvSpPr>
        <p:spPr>
          <a:xfrm>
            <a:off x="1257300" y="2324100"/>
            <a:ext cx="2235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900" b="1" i="0" dirty="0">
                <a:solidFill>
                  <a:srgbClr val="B0BEC5"/>
                </a:solidFill>
                <a:latin typeface="Consolas"/>
              </a:rPr>
              <a:t>client.GetResponse&lt;...&gt;(request)</a:t>
            </a:r>
          </a:p>
        </p:txBody>
      </p:sp>
      <p:sp>
        <p:nvSpPr>
          <p:cNvPr id="519" name="ar519"/>
          <p:cNvSpPr>
            <a:spLocks noGrp="1"/>
          </p:cNvSpPr>
          <p:nvPr/>
        </p:nvSpPr>
        <p:spPr>
          <a:xfrm>
            <a:off x="2032000" y="2743200"/>
            <a:ext cx="4000500" cy="12700"/>
          </a:xfrm>
          <a:prstGeom prst="line">
            <a:avLst/>
          </a:prstGeom>
          <a:noFill/>
          <a:ln w="19050">
            <a:solidFill>
              <a:srgbClr val="4472C4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20" name="t520"/>
          <p:cNvSpPr txBox="1">
            <a:spLocks noGrp="1"/>
          </p:cNvSpPr>
          <p:nvPr/>
        </p:nvSpPr>
        <p:spPr>
          <a:xfrm>
            <a:off x="2070100" y="2565400"/>
            <a:ext cx="39243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950" b="0" i="1" dirty="0">
                <a:solidFill>
                  <a:srgbClr val="718096"/>
                </a:solidFill>
              </a:rPr>
              <a:t>publishes to →</a:t>
            </a:r>
          </a:p>
        </p:txBody>
      </p:sp>
      <p:sp>
        <p:nvSpPr>
          <p:cNvPr id="521" name="b521"/>
          <p:cNvSpPr>
            <a:spLocks noGrp="1"/>
          </p:cNvSpPr>
          <p:nvPr/>
        </p:nvSpPr>
        <p:spPr>
          <a:xfrm>
            <a:off x="5181600" y="2616200"/>
            <a:ext cx="1828800" cy="279400"/>
          </a:xfrm>
          <a:prstGeom prst="roundRect">
            <a:avLst/>
          </a:prstGeom>
          <a:solidFill>
            <a:srgbClr val="1A237E"/>
          </a:solidFill>
          <a:ln w="9525">
            <a:solidFill>
              <a:srgbClr val="3949A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2" name="t522"/>
          <p:cNvSpPr txBox="1">
            <a:spLocks noGrp="1"/>
          </p:cNvSpPr>
          <p:nvPr/>
        </p:nvSpPr>
        <p:spPr>
          <a:xfrm>
            <a:off x="5207000" y="2667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900" b="0" i="0" dirty="0">
                <a:solidFill>
                  <a:srgbClr val="90CAF9"/>
                </a:solidFill>
                <a:latin typeface="Consolas"/>
              </a:rPr>
              <a:t>[get-order-status]</a:t>
            </a:r>
          </a:p>
        </p:txBody>
      </p:sp>
      <p:sp>
        <p:nvSpPr>
          <p:cNvPr id="523" name="t523"/>
          <p:cNvSpPr txBox="1">
            <a:spLocks noGrp="1"/>
          </p:cNvSpPr>
          <p:nvPr/>
        </p:nvSpPr>
        <p:spPr>
          <a:xfrm>
            <a:off x="2070100" y="2921000"/>
            <a:ext cx="39243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820" b="0" i="1" dirty="0">
                <a:solidFill>
                  <a:srgbClr val="546E7A"/>
                </a:solidFill>
                <a:latin typeface="Consolas"/>
              </a:rPr>
              <a:t>ReplyAddress = "reply-queue-abc123"</a:t>
            </a:r>
          </a:p>
        </p:txBody>
      </p:sp>
      <p:sp>
        <p:nvSpPr>
          <p:cNvPr id="524" name="t524"/>
          <p:cNvSpPr txBox="1">
            <a:spLocks noGrp="1"/>
          </p:cNvSpPr>
          <p:nvPr/>
        </p:nvSpPr>
        <p:spPr>
          <a:xfrm>
            <a:off x="2070100" y="3086100"/>
            <a:ext cx="39243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820" b="0" i="1" dirty="0">
                <a:solidFill>
                  <a:srgbClr val="546E7A"/>
                </a:solidFill>
                <a:latin typeface="Consolas"/>
              </a:rPr>
              <a:t>CorrelationId = "some-guid-1234"</a:t>
            </a:r>
          </a:p>
        </p:txBody>
      </p:sp>
      <p:sp>
        <p:nvSpPr>
          <p:cNvPr id="525" name="ar525"/>
          <p:cNvSpPr>
            <a:spLocks noGrp="1"/>
          </p:cNvSpPr>
          <p:nvPr/>
        </p:nvSpPr>
        <p:spPr>
          <a:xfrm>
            <a:off x="7073900" y="2743200"/>
            <a:ext cx="2374900" cy="25400"/>
          </a:xfrm>
          <a:prstGeom prst="line">
            <a:avLst/>
          </a:prstGeom>
          <a:noFill/>
          <a:ln w="19050">
            <a:solidFill>
              <a:srgbClr val="ED7D31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26" name="t526"/>
          <p:cNvSpPr txBox="1">
            <a:spLocks noGrp="1"/>
          </p:cNvSpPr>
          <p:nvPr/>
        </p:nvSpPr>
        <p:spPr>
          <a:xfrm>
            <a:off x="9486900" y="25654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900" b="1" i="0" dirty="0">
                <a:solidFill>
                  <a:srgbClr val="80DEEA"/>
                </a:solidFill>
                <a:latin typeface="Consolas"/>
              </a:rPr>
              <a:t>Consume(context)</a:t>
            </a:r>
          </a:p>
        </p:txBody>
      </p:sp>
      <p:sp>
        <p:nvSpPr>
          <p:cNvPr id="527" name="t527"/>
          <p:cNvSpPr txBox="1">
            <a:spLocks noGrp="1"/>
          </p:cNvSpPr>
          <p:nvPr/>
        </p:nvSpPr>
        <p:spPr>
          <a:xfrm>
            <a:off x="9486900" y="27686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820" b="0" i="1" dirty="0">
                <a:solidFill>
                  <a:srgbClr val="718096"/>
                </a:solidFill>
              </a:rPr>
              <a:t>reads OrderId</a:t>
            </a:r>
          </a:p>
        </p:txBody>
      </p:sp>
      <p:sp>
        <p:nvSpPr>
          <p:cNvPr id="528" name="t528"/>
          <p:cNvSpPr txBox="1">
            <a:spLocks noGrp="1"/>
          </p:cNvSpPr>
          <p:nvPr/>
        </p:nvSpPr>
        <p:spPr>
          <a:xfrm>
            <a:off x="9486900" y="29337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820" b="0" i="1" dirty="0">
                <a:solidFill>
                  <a:srgbClr val="718096"/>
                </a:solidFill>
              </a:rPr>
              <a:t>does work…</a:t>
            </a:r>
          </a:p>
        </p:txBody>
      </p:sp>
      <p:sp>
        <p:nvSpPr>
          <p:cNvPr id="529" name="b529"/>
          <p:cNvSpPr>
            <a:spLocks noGrp="1"/>
          </p:cNvSpPr>
          <p:nvPr/>
        </p:nvSpPr>
        <p:spPr>
          <a:xfrm>
            <a:off x="9486900" y="3810000"/>
            <a:ext cx="2032000" cy="254000"/>
          </a:xfrm>
          <a:prstGeom prst="rect">
            <a:avLst/>
          </a:prstGeom>
          <a:solidFill>
            <a:srgbClr val="1E293B"/>
          </a:solidFill>
          <a:ln w="9525">
            <a:solidFill>
              <a:srgbClr val="3B4A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0" name="t530"/>
          <p:cNvSpPr txBox="1">
            <a:spLocks noGrp="1"/>
          </p:cNvSpPr>
          <p:nvPr/>
        </p:nvSpPr>
        <p:spPr>
          <a:xfrm>
            <a:off x="9512300" y="3848100"/>
            <a:ext cx="1981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900" b="1" i="0" dirty="0">
                <a:solidFill>
                  <a:srgbClr val="B0BEC5"/>
                </a:solidFill>
                <a:latin typeface="Consolas"/>
              </a:rPr>
              <a:t>context.RespondAsync(...)</a:t>
            </a:r>
          </a:p>
        </p:txBody>
      </p:sp>
      <p:sp>
        <p:nvSpPr>
          <p:cNvPr id="531" name="ar531"/>
          <p:cNvSpPr>
            <a:spLocks noGrp="1"/>
          </p:cNvSpPr>
          <p:nvPr/>
        </p:nvSpPr>
        <p:spPr>
          <a:xfrm flipH="1">
            <a:off x="6159500" y="4267200"/>
            <a:ext cx="4000500" cy="12700"/>
          </a:xfrm>
          <a:prstGeom prst="line">
            <a:avLst/>
          </a:prstGeom>
          <a:noFill/>
          <a:ln w="19050">
            <a:solidFill>
              <a:srgbClr val="5B9BD5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32" name="t532"/>
          <p:cNvSpPr txBox="1">
            <a:spLocks noGrp="1"/>
          </p:cNvSpPr>
          <p:nvPr/>
        </p:nvSpPr>
        <p:spPr>
          <a:xfrm>
            <a:off x="6197600" y="4089400"/>
            <a:ext cx="39243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en-US" sz="820" b="0" i="1" dirty="0">
                <a:solidFill>
                  <a:srgbClr val="718096"/>
                </a:solidFill>
              </a:rPr>
              <a:t>publishes to ReplyAddress →</a:t>
            </a:r>
          </a:p>
        </p:txBody>
      </p:sp>
      <p:sp>
        <p:nvSpPr>
          <p:cNvPr id="533" name="b533"/>
          <p:cNvSpPr>
            <a:spLocks noGrp="1"/>
          </p:cNvSpPr>
          <p:nvPr/>
        </p:nvSpPr>
        <p:spPr>
          <a:xfrm>
            <a:off x="5181600" y="4140200"/>
            <a:ext cx="1828800" cy="279400"/>
          </a:xfrm>
          <a:prstGeom prst="roundRect">
            <a:avLst/>
          </a:prstGeom>
          <a:solidFill>
            <a:srgbClr val="102027"/>
          </a:solidFill>
          <a:ln w="9525">
            <a:solidFill>
              <a:srgbClr val="546E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4" name="t534"/>
          <p:cNvSpPr txBox="1">
            <a:spLocks noGrp="1"/>
          </p:cNvSpPr>
          <p:nvPr/>
        </p:nvSpPr>
        <p:spPr>
          <a:xfrm>
            <a:off x="5207000" y="41910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900" b="0" i="0" dirty="0">
                <a:solidFill>
                  <a:srgbClr val="80DEEA"/>
                </a:solidFill>
                <a:latin typeface="Consolas"/>
              </a:rPr>
              <a:t>reply-queue-abc123</a:t>
            </a:r>
          </a:p>
        </p:txBody>
      </p:sp>
      <p:sp>
        <p:nvSpPr>
          <p:cNvPr id="535" name="t535"/>
          <p:cNvSpPr txBox="1">
            <a:spLocks noGrp="1"/>
          </p:cNvSpPr>
          <p:nvPr/>
        </p:nvSpPr>
        <p:spPr>
          <a:xfrm>
            <a:off x="5207000" y="4445000"/>
            <a:ext cx="1778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820" b="0" i="1" dirty="0">
                <a:solidFill>
                  <a:srgbClr val="546E7A"/>
                </a:solidFill>
                <a:latin typeface="Consolas"/>
              </a:rPr>
              <a:t>(same CorrelationId)</a:t>
            </a:r>
          </a:p>
        </p:txBody>
      </p:sp>
      <p:sp>
        <p:nvSpPr>
          <p:cNvPr id="536" name="t536"/>
          <p:cNvSpPr txBox="1">
            <a:spLocks noGrp="1"/>
          </p:cNvSpPr>
          <p:nvPr/>
        </p:nvSpPr>
        <p:spPr>
          <a:xfrm>
            <a:off x="1231900" y="4749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900" b="1" i="0" dirty="0">
                <a:solidFill>
                  <a:srgbClr val="B0BEC5"/>
                </a:solidFill>
                <a:latin typeface="Consolas"/>
              </a:rPr>
              <a:t>await GetResponse&lt;...&gt;  resolves</a:t>
            </a:r>
          </a:p>
        </p:txBody>
      </p:sp>
      <p:sp>
        <p:nvSpPr>
          <p:cNvPr id="537" name="t537"/>
          <p:cNvSpPr txBox="1">
            <a:spLocks noGrp="1"/>
          </p:cNvSpPr>
          <p:nvPr/>
        </p:nvSpPr>
        <p:spPr>
          <a:xfrm>
            <a:off x="1231900" y="4953000"/>
            <a:ext cx="2286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820" b="0" i="1" dirty="0">
                <a:solidFill>
                  <a:srgbClr val="718096"/>
                </a:solidFill>
              </a:rPr>
              <a:t>listening on reply queue…</a:t>
            </a:r>
          </a:p>
        </p:txBody>
      </p:sp>
      <p:sp>
        <p:nvSpPr>
          <p:cNvPr id="538" name="ar538"/>
          <p:cNvSpPr>
            <a:spLocks noGrp="1"/>
          </p:cNvSpPr>
          <p:nvPr/>
        </p:nvSpPr>
        <p:spPr>
          <a:xfrm flipH="1">
            <a:off x="2032000" y="5384800"/>
            <a:ext cx="4000500" cy="12700"/>
          </a:xfrm>
          <a:prstGeom prst="line">
            <a:avLst/>
          </a:prstGeom>
          <a:noFill/>
          <a:ln w="19050">
            <a:solidFill>
              <a:srgbClr val="ED7D31"/>
            </a:solidFill>
            <a:headEnd type="triangle" w="med" len="me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39" name="t539"/>
          <p:cNvSpPr txBox="1">
            <a:spLocks noGrp="1"/>
          </p:cNvSpPr>
          <p:nvPr/>
        </p:nvSpPr>
        <p:spPr>
          <a:xfrm>
            <a:off x="2032000" y="51562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820" b="0" i="1" dirty="0">
                <a:solidFill>
                  <a:srgbClr val="718096"/>
                </a:solidFill>
              </a:rPr>
              <a:t>matched by CorrelationId</a:t>
            </a:r>
          </a:p>
        </p:txBody>
      </p:sp>
      <p:sp>
        <p:nvSpPr>
          <p:cNvPr id="540" name="b540"/>
          <p:cNvSpPr>
            <a:spLocks noGrp="1"/>
          </p:cNvSpPr>
          <p:nvPr/>
        </p:nvSpPr>
        <p:spPr>
          <a:xfrm>
            <a:off x="1231900" y="5562600"/>
            <a:ext cx="2235200" cy="30480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43A0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1" name="t541"/>
          <p:cNvSpPr txBox="1">
            <a:spLocks noGrp="1"/>
          </p:cNvSpPr>
          <p:nvPr/>
        </p:nvSpPr>
        <p:spPr>
          <a:xfrm>
            <a:off x="1279593" y="5651500"/>
            <a:ext cx="2184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950" b="1" i="0" dirty="0">
                <a:solidFill>
                  <a:srgbClr val="A5D6A7"/>
                </a:solidFill>
              </a:rPr>
              <a:t>returns Response&lt;T&gt;   ✔</a:t>
            </a:r>
          </a:p>
        </p:txBody>
      </p:sp>
      <p:sp>
        <p:nvSpPr>
          <p:cNvPr id="542" name="vd542"/>
          <p:cNvSpPr>
            <a:spLocks noGrp="1"/>
          </p:cNvSpPr>
          <p:nvPr/>
        </p:nvSpPr>
        <p:spPr>
          <a:xfrm>
            <a:off x="4038600" y="1117600"/>
            <a:ext cx="12700" cy="5232400"/>
          </a:xfrm>
          <a:prstGeom prst="line">
            <a:avLst/>
          </a:prstGeom>
          <a:noFill/>
          <a:ln w="9525">
            <a:solidFill>
              <a:srgbClr val="1E293B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43" name="vd543"/>
          <p:cNvSpPr>
            <a:spLocks noGrp="1"/>
          </p:cNvSpPr>
          <p:nvPr/>
        </p:nvSpPr>
        <p:spPr>
          <a:xfrm>
            <a:off x="8153400" y="1117600"/>
            <a:ext cx="12700" cy="5232400"/>
          </a:xfrm>
          <a:prstGeom prst="line">
            <a:avLst/>
          </a:prstGeom>
          <a:noFill/>
          <a:ln w="9525">
            <a:solidFill>
              <a:srgbClr val="1E293B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44" name="b544"/>
          <p:cNvSpPr>
            <a:spLocks noGrp="1"/>
          </p:cNvSpPr>
          <p:nvPr/>
        </p:nvSpPr>
        <p:spPr>
          <a:xfrm>
            <a:off x="508000" y="6350000"/>
            <a:ext cx="11176000" cy="3556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9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5" name="t545"/>
          <p:cNvSpPr txBox="1">
            <a:spLocks noGrp="1"/>
          </p:cNvSpPr>
          <p:nvPr/>
        </p:nvSpPr>
        <p:spPr>
          <a:xfrm>
            <a:off x="635000" y="6438900"/>
            <a:ext cx="1092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en-US" sz="950" b="0" i="1" dirty="0">
                <a:solidFill>
                  <a:srgbClr val="546E7A"/>
                </a:solidFill>
              </a:rPr>
              <a:t>Two one-way queue messages  →  looks like a synchronous await from the caller's perspective</a:t>
            </a:r>
          </a:p>
        </p:txBody>
      </p:sp>
    </p:spTree>
    <p:extLst>
      <p:ext uri="{BB962C8B-B14F-4D97-AF65-F5344CB8AC3E}">
        <p14:creationId xmlns:p14="http://schemas.microsoft.com/office/powerpoint/2010/main" val="3681863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mt600"/>
          <p:cNvSpPr txBox="1">
            <a:spLocks noGrp="1"/>
          </p:cNvSpPr>
          <p:nvPr/>
        </p:nvSpPr>
        <p:spPr>
          <a:xfrm>
            <a:off x="508000" y="1524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800" b="1" i="0" dirty="0">
                <a:solidFill>
                  <a:srgbClr val="FF6B35"/>
                </a:solidFill>
              </a:rPr>
              <a:t>Mapped to Your Code</a:t>
            </a:r>
          </a:p>
        </p:txBody>
      </p:sp>
      <p:sp>
        <p:nvSpPr>
          <p:cNvPr id="601" name="mt601"/>
          <p:cNvSpPr txBox="1">
            <a:spLocks noGrp="1"/>
          </p:cNvSpPr>
          <p:nvPr/>
        </p:nvSpPr>
        <p:spPr>
          <a:xfrm>
            <a:off x="508000" y="482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0" i="1" dirty="0">
                <a:solidFill>
                  <a:srgbClr val="90A4AE"/>
                </a:solidFill>
              </a:rPr>
              <a:t>What each line actually does inside MassTransit</a:t>
            </a:r>
          </a:p>
        </p:txBody>
      </p:sp>
      <p:sp>
        <p:nvSpPr>
          <p:cNvPr id="602" name="mt602"/>
          <p:cNvSpPr txBox="1">
            <a:spLocks noGrp="1"/>
          </p:cNvSpPr>
          <p:nvPr/>
        </p:nvSpPr>
        <p:spPr>
          <a:xfrm>
            <a:off x="584200" y="8128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00" b="0" i="1" dirty="0">
                <a:solidFill>
                  <a:srgbClr val="546E7A"/>
                </a:solidFill>
              </a:rPr>
              <a:t>Consumer side  —  GetOrderStatusConsumer.cs:8</a:t>
            </a:r>
          </a:p>
        </p:txBody>
      </p:sp>
      <p:sp>
        <p:nvSpPr>
          <p:cNvPr id="603" name="b603"/>
          <p:cNvSpPr>
            <a:spLocks noGrp="1"/>
          </p:cNvSpPr>
          <p:nvPr/>
        </p:nvSpPr>
        <p:spPr>
          <a:xfrm>
            <a:off x="584200" y="990600"/>
            <a:ext cx="5461000" cy="27940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4" name="mt604"/>
          <p:cNvSpPr txBox="1">
            <a:spLocks noGrp="1"/>
          </p:cNvSpPr>
          <p:nvPr/>
        </p:nvSpPr>
        <p:spPr>
          <a:xfrm>
            <a:off x="635000" y="1041400"/>
            <a:ext cx="5359400" cy="269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MT registered a queue named "get-order-status" via ConfigureEndpoints()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It listens on that queue permanently</a:t>
            </a:r>
          </a:p>
          <a:p>
            <a:pPr algn="l">
              <a:buNone/>
            </a:pPr>
            <a:r>
              <a:rPr lang="en-US" sz="900" b="0" i="0" dirty="0">
                <a:solidFill>
                  <a:srgbClr val="E2E8F0"/>
                </a:solidFill>
                <a:latin typeface="Consolas"/>
              </a:rPr>
              <a:t>public async Task Consume(</a:t>
            </a:r>
          </a:p>
          <a:p>
            <a:pPr algn="l">
              <a:buNone/>
            </a:pPr>
            <a:r>
              <a:rPr lang="en-US" sz="900" b="0" i="0" dirty="0">
                <a:solidFill>
                  <a:srgbClr val="E2E8F0"/>
                </a:solidFill>
                <a:latin typeface="Consolas"/>
              </a:rPr>
              <a:t>    ConsumeContext&lt;GetOrderStatusRequest&gt; context)</a:t>
            </a:r>
          </a:p>
          <a:p>
            <a:pPr algn="l">
              <a:buNone/>
            </a:pPr>
            <a:r>
              <a:rPr lang="en-US" sz="900" b="0" i="0" dirty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    // context.Message        → deserialized request body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    // context.CorrelationId  → GUID publisher awaits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    // context.ReplyAddress   → "rabbitmq://localhost/reply-queue-abc123"</a:t>
            </a:r>
          </a:p>
          <a:p>
            <a:pPr algn="l">
              <a:buNone/>
            </a:pPr>
            <a:r>
              <a:rPr lang="en-US" sz="900" b="1" i="0" dirty="0">
                <a:solidFill>
                  <a:srgbClr val="90CAF9"/>
                </a:solidFill>
                <a:latin typeface="Consolas"/>
              </a:rPr>
              <a:t>    await context.RespondAsync(new GetOrderStatusResponse { ... });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    // ↑ MT reads ReplyAddress and publishes response there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    //   with same CorrelationId so publisher can match it</a:t>
            </a:r>
          </a:p>
          <a:p>
            <a:pPr algn="l">
              <a:buNone/>
            </a:pPr>
            <a:r>
              <a:rPr lang="en-US" sz="900" b="0" i="0" dirty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605" name="mt605"/>
          <p:cNvSpPr txBox="1">
            <a:spLocks noGrp="1"/>
          </p:cNvSpPr>
          <p:nvPr/>
        </p:nvSpPr>
        <p:spPr>
          <a:xfrm>
            <a:off x="584200" y="38608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80" b="1" i="0" dirty="0">
                <a:solidFill>
                  <a:srgbClr val="80DEEA"/>
                </a:solidFill>
              </a:rPr>
              <a:t>① MT auto-creates queue on startup</a:t>
            </a:r>
          </a:p>
          <a:p>
            <a:pPr algn="l">
              <a:buNone/>
            </a:pPr>
            <a:r>
              <a:rPr lang="en-US" sz="880" b="1" i="0" dirty="0">
                <a:solidFill>
                  <a:srgbClr val="80DEEA"/>
                </a:solidFill>
              </a:rPr>
              <a:t>② context carries all routing info</a:t>
            </a:r>
          </a:p>
          <a:p>
            <a:pPr algn="l">
              <a:buNone/>
            </a:pPr>
            <a:r>
              <a:rPr lang="en-US" sz="880" b="1" i="0" dirty="0">
                <a:solidFill>
                  <a:srgbClr val="80DEEA"/>
                </a:solidFill>
              </a:rPr>
              <a:t>③ RespondAsync uses ReplyAddress + CorrelationId</a:t>
            </a:r>
          </a:p>
        </p:txBody>
      </p:sp>
      <p:sp>
        <p:nvSpPr>
          <p:cNvPr id="606" name="mt606"/>
          <p:cNvSpPr txBox="1">
            <a:spLocks noGrp="1"/>
          </p:cNvSpPr>
          <p:nvPr/>
        </p:nvSpPr>
        <p:spPr>
          <a:xfrm>
            <a:off x="6223000" y="8128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00" b="0" i="1" dirty="0">
                <a:solidFill>
                  <a:srgbClr val="546E7A"/>
                </a:solidFill>
              </a:rPr>
              <a:t>Publisher side  —  Publisher/Program.cs:32</a:t>
            </a:r>
          </a:p>
        </p:txBody>
      </p:sp>
      <p:sp>
        <p:nvSpPr>
          <p:cNvPr id="607" name="b607"/>
          <p:cNvSpPr>
            <a:spLocks noGrp="1"/>
          </p:cNvSpPr>
          <p:nvPr/>
        </p:nvSpPr>
        <p:spPr>
          <a:xfrm>
            <a:off x="6223000" y="990600"/>
            <a:ext cx="5461000" cy="27940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8" name="mt608"/>
          <p:cNvSpPr txBox="1">
            <a:spLocks noGrp="1"/>
          </p:cNvSpPr>
          <p:nvPr/>
        </p:nvSpPr>
        <p:spPr>
          <a:xfrm>
            <a:off x="6273800" y="1041400"/>
            <a:ext cx="5359400" cy="269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NOT a blocking thread — registers a TaskCompletionSource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keyed on CorrelationId, then awaits it</a:t>
            </a:r>
          </a:p>
          <a:p>
            <a:pPr algn="l">
              <a:buNone/>
            </a:pPr>
            <a:r>
              <a:rPr lang="en-US" sz="900" b="0" i="0" dirty="0">
                <a:solidFill>
                  <a:srgbClr val="E2E8F0"/>
                </a:solidFill>
                <a:latin typeface="Consolas"/>
              </a:rPr>
              <a:t>var response = await client.GetResponse&lt;GetOrderStatusResponse&gt;(</a:t>
            </a:r>
          </a:p>
          <a:p>
            <a:pPr algn="l">
              <a:buNone/>
            </a:pPr>
            <a:r>
              <a:rPr lang="en-US" sz="900" b="0" i="0" dirty="0">
                <a:solidFill>
                  <a:srgbClr val="E2E8F0"/>
                </a:solidFill>
                <a:latin typeface="Consolas"/>
              </a:rPr>
              <a:t>    new GetOrderStatusRequest { OrderId = orderId });</a:t>
            </a:r>
          </a:p>
          <a:p>
            <a:pPr algn="l">
              <a:buNone/>
            </a:pPr>
            <a:endParaRPr lang="en-US" sz="900" b="0" i="0" dirty="0">
              <a:solidFill>
                <a:srgbClr val="E2E8F0"/>
              </a:solidFill>
              <a:latin typeface="Consolas"/>
            </a:endParaRP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Resumes only when a message arrives on the reply queue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with a matching CorrelationId</a:t>
            </a:r>
          </a:p>
          <a:p>
            <a:pPr algn="l">
              <a:buNone/>
            </a:pPr>
            <a:endParaRPr lang="en-US" sz="820" b="0" i="1" dirty="0">
              <a:solidFill>
                <a:srgbClr val="4A5568"/>
              </a:solidFill>
              <a:latin typeface="Consolas"/>
            </a:endParaRP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// Access the response:</a:t>
            </a:r>
          </a:p>
          <a:p>
            <a:pPr algn="l">
              <a:buNone/>
            </a:pPr>
            <a:r>
              <a:rPr lang="en-US" sz="900" b="1" i="0" dirty="0">
                <a:solidFill>
                  <a:srgbClr val="90CAF9"/>
                </a:solidFill>
                <a:latin typeface="Consolas"/>
              </a:rPr>
              <a:t>var status = response.Message.Status;</a:t>
            </a:r>
          </a:p>
          <a:p>
            <a:pPr algn="l">
              <a:buNone/>
            </a:pPr>
            <a:r>
              <a:rPr lang="en-US" sz="820" b="0" i="1" dirty="0">
                <a:solidFill>
                  <a:srgbClr val="4A5568"/>
                </a:solidFill>
                <a:latin typeface="Consolas"/>
              </a:rPr>
              <a:t>var corrId = response.CorrelationId;   // matches what was sent</a:t>
            </a:r>
          </a:p>
        </p:txBody>
      </p:sp>
      <p:sp>
        <p:nvSpPr>
          <p:cNvPr id="609" name="mt609"/>
          <p:cNvSpPr txBox="1">
            <a:spLocks noGrp="1"/>
          </p:cNvSpPr>
          <p:nvPr/>
        </p:nvSpPr>
        <p:spPr>
          <a:xfrm>
            <a:off x="6223000" y="38608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80" b="1" i="0" dirty="0">
                <a:solidFill>
                  <a:srgbClr val="FFB74D"/>
                </a:solidFill>
              </a:rPr>
              <a:t>① GetResponse publishes + registers TCS on CorrelationId</a:t>
            </a:r>
          </a:p>
          <a:p>
            <a:pPr algn="l">
              <a:buNone/>
            </a:pPr>
            <a:r>
              <a:rPr lang="en-US" sz="880" b="1" i="0" dirty="0">
                <a:solidFill>
                  <a:srgbClr val="FFB74D"/>
                </a:solidFill>
              </a:rPr>
              <a:t>② Task unblocks only when matching reply arrives</a:t>
            </a:r>
          </a:p>
          <a:p>
            <a:pPr algn="l">
              <a:buNone/>
            </a:pPr>
            <a:r>
              <a:rPr lang="en-US" sz="880" b="1" i="0" dirty="0">
                <a:solidFill>
                  <a:srgbClr val="FFB74D"/>
                </a:solidFill>
              </a:rPr>
              <a:t>③ response.Message is the fully deserialized T</a:t>
            </a:r>
          </a:p>
        </p:txBody>
      </p:sp>
      <p:sp>
        <p:nvSpPr>
          <p:cNvPr id="610" name="b610"/>
          <p:cNvSpPr>
            <a:spLocks noGrp="1"/>
          </p:cNvSpPr>
          <p:nvPr/>
        </p:nvSpPr>
        <p:spPr>
          <a:xfrm>
            <a:off x="584200" y="4800600"/>
            <a:ext cx="11099800" cy="635000"/>
          </a:xfrm>
          <a:prstGeom prst="roundRect">
            <a:avLst/>
          </a:prstGeom>
          <a:solidFill>
            <a:srgbClr val="102027"/>
          </a:solidFill>
          <a:ln w="9525">
            <a:solidFill>
              <a:srgbClr val="546E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1" name="mt611"/>
          <p:cNvSpPr txBox="1">
            <a:spLocks noGrp="1"/>
          </p:cNvSpPr>
          <p:nvPr/>
        </p:nvSpPr>
        <p:spPr>
          <a:xfrm>
            <a:off x="711200" y="48514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100" b="1" i="0" dirty="0">
                <a:solidFill>
                  <a:srgbClr val="FFC000"/>
                </a:solidFill>
              </a:rPr>
              <a:t>Key insight</a:t>
            </a:r>
          </a:p>
          <a:p>
            <a:pPr algn="l">
              <a:buNone/>
            </a:pPr>
            <a:r>
              <a:rPr lang="en-US" sz="950" b="0" i="0" dirty="0">
                <a:solidFill>
                  <a:srgbClr val="B0BEC5"/>
                </a:solidFill>
              </a:rPr>
              <a:t>GetResponse is asynchronous — it registers a TaskCompletionSource keyed on CorrelationId, not a blocking thread.</a:t>
            </a:r>
          </a:p>
        </p:txBody>
      </p:sp>
      <p:sp>
        <p:nvSpPr>
          <p:cNvPr id="612" name="b612"/>
          <p:cNvSpPr>
            <a:spLocks noGrp="1"/>
          </p:cNvSpPr>
          <p:nvPr/>
        </p:nvSpPr>
        <p:spPr>
          <a:xfrm>
            <a:off x="584200" y="5461000"/>
            <a:ext cx="11099800" cy="1270000"/>
          </a:xfrm>
          <a:prstGeom prst="rect">
            <a:avLst/>
          </a:prstGeom>
          <a:solidFill>
            <a:srgbClr val="0D1117"/>
          </a:solidFill>
          <a:ln w="9525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3" name="mt613"/>
          <p:cNvSpPr txBox="1">
            <a:spLocks noGrp="1"/>
          </p:cNvSpPr>
          <p:nvPr/>
        </p:nvSpPr>
        <p:spPr>
          <a:xfrm>
            <a:off x="711200" y="55118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50" b="1" i="0" dirty="0">
                <a:solidFill>
                  <a:srgbClr val="718096"/>
                </a:solidFill>
                <a:latin typeface="Consolas"/>
              </a:rPr>
              <a:t>Timeout config:</a:t>
            </a:r>
          </a:p>
          <a:p>
            <a:pPr algn="l">
              <a:buNone/>
            </a:pPr>
            <a:r>
              <a:rPr lang="en-US" sz="820" b="0" i="0" dirty="0">
                <a:solidFill>
                  <a:srgbClr val="718096"/>
                </a:solidFill>
                <a:latin typeface="Consolas"/>
              </a:rPr>
              <a:t>services.AddMassTransit(x =&gt; x.AddRequestClient&lt;GetOrderStatusRequest&gt;(timeout: RequestTimeout.After(s: 10)));</a:t>
            </a:r>
          </a:p>
          <a:p>
            <a:pPr algn="l">
              <a:buNone/>
            </a:pPr>
            <a:r>
              <a:rPr lang="en-US" sz="780" b="0" i="1" dirty="0">
                <a:solidFill>
                  <a:srgbClr val="4A5568"/>
                </a:solidFill>
                <a:latin typeface="Consolas"/>
              </a:rPr>
              <a:t>// None = wait forever (not recommended)  |  Default = 30s  |  RequestTimeout.After(...) = custom</a:t>
            </a:r>
          </a:p>
        </p:txBody>
      </p:sp>
    </p:spTree>
    <p:extLst>
      <p:ext uri="{BB962C8B-B14F-4D97-AF65-F5344CB8AC3E}">
        <p14:creationId xmlns:p14="http://schemas.microsoft.com/office/powerpoint/2010/main" val="3982966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700"/>
          <p:cNvSpPr txBox="1">
            <a:spLocks noGrp="1"/>
          </p:cNvSpPr>
          <p:nvPr/>
        </p:nvSpPr>
        <p:spPr>
          <a:xfrm>
            <a:off x="508000" y="1778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800" b="1" i="0" dirty="0">
                <a:solidFill>
                  <a:srgbClr val="FF6B35"/>
                </a:solidFill>
              </a:rPr>
              <a:t>What's in RabbitMQ</a:t>
            </a:r>
          </a:p>
        </p:txBody>
      </p:sp>
      <p:sp>
        <p:nvSpPr>
          <p:cNvPr id="701" name="t701"/>
          <p:cNvSpPr txBox="1">
            <a:spLocks noGrp="1"/>
          </p:cNvSpPr>
          <p:nvPr/>
        </p:nvSpPr>
        <p:spPr>
          <a:xfrm>
            <a:off x="508000" y="5080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0" i="1" dirty="0">
                <a:solidFill>
                  <a:srgbClr val="90A4AE"/>
                </a:solidFill>
                <a:latin typeface="Consolas"/>
              </a:rPr>
              <a:t>Open http://localhost:15672 during a run — here's what you'd see</a:t>
            </a:r>
          </a:p>
        </p:txBody>
      </p:sp>
      <p:sp>
        <p:nvSpPr>
          <p:cNvPr id="702" name="b702"/>
          <p:cNvSpPr>
            <a:spLocks noGrp="1"/>
          </p:cNvSpPr>
          <p:nvPr/>
        </p:nvSpPr>
        <p:spPr>
          <a:xfrm>
            <a:off x="508000" y="812800"/>
            <a:ext cx="11176000" cy="355600"/>
          </a:xfrm>
          <a:prstGeom prst="roundRect">
            <a:avLst/>
          </a:prstGeom>
          <a:solidFill>
            <a:srgbClr val="102027"/>
          </a:solidFill>
          <a:ln w="6350">
            <a:solidFill>
              <a:srgbClr val="546E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t703"/>
          <p:cNvSpPr txBox="1">
            <a:spLocks noGrp="1"/>
          </p:cNvSpPr>
          <p:nvPr/>
        </p:nvSpPr>
        <p:spPr>
          <a:xfrm>
            <a:off x="635000" y="889000"/>
            <a:ext cx="1092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50" b="0" i="0" dirty="0">
                <a:solidFill>
                  <a:srgbClr val="80DEEA"/>
                </a:solidFill>
                <a:latin typeface="Consolas"/>
              </a:rPr>
              <a:t>RabbitMQ Management UI  →  http://localhost:15672  (guest / guest)</a:t>
            </a:r>
          </a:p>
        </p:txBody>
      </p:sp>
      <p:sp>
        <p:nvSpPr>
          <p:cNvPr id="704" name="b704"/>
          <p:cNvSpPr>
            <a:spLocks noGrp="1"/>
          </p:cNvSpPr>
          <p:nvPr/>
        </p:nvSpPr>
        <p:spPr>
          <a:xfrm>
            <a:off x="508000" y="1295400"/>
            <a:ext cx="10414000" cy="406400"/>
          </a:xfrm>
          <a:prstGeom prst="rect">
            <a:avLst/>
          </a:prstGeom>
          <a:solidFill>
            <a:srgbClr val="1A237E"/>
          </a:solidFill>
          <a:ln w="6350">
            <a:solidFill>
              <a:srgbClr val="3949A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5" name="t705"/>
          <p:cNvSpPr txBox="1">
            <a:spLocks noGrp="1"/>
          </p:cNvSpPr>
          <p:nvPr/>
        </p:nvSpPr>
        <p:spPr>
          <a:xfrm>
            <a:off x="609600" y="13970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1" i="0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706" name="t706"/>
          <p:cNvSpPr txBox="1">
            <a:spLocks noGrp="1"/>
          </p:cNvSpPr>
          <p:nvPr/>
        </p:nvSpPr>
        <p:spPr>
          <a:xfrm>
            <a:off x="3530600" y="13970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1" i="0" dirty="0">
                <a:solidFill>
                  <a:srgbClr val="FFFFFF"/>
                </a:solidFill>
              </a:rPr>
              <a:t>Created by</a:t>
            </a:r>
          </a:p>
        </p:txBody>
      </p:sp>
      <p:sp>
        <p:nvSpPr>
          <p:cNvPr id="707" name="t707"/>
          <p:cNvSpPr txBox="1">
            <a:spLocks noGrp="1"/>
          </p:cNvSpPr>
          <p:nvPr/>
        </p:nvSpPr>
        <p:spPr>
          <a:xfrm>
            <a:off x="7975600" y="13970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1" i="0" dirty="0">
                <a:solidFill>
                  <a:srgbClr val="FFFFFF"/>
                </a:solidFill>
              </a:rPr>
              <a:t>Auto-delete</a:t>
            </a:r>
          </a:p>
        </p:txBody>
      </p:sp>
      <p:sp>
        <p:nvSpPr>
          <p:cNvPr id="708" name="b708"/>
          <p:cNvSpPr>
            <a:spLocks noGrp="1"/>
          </p:cNvSpPr>
          <p:nvPr/>
        </p:nvSpPr>
        <p:spPr>
          <a:xfrm>
            <a:off x="508000" y="1701800"/>
            <a:ext cx="10414000" cy="6604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b709"/>
          <p:cNvSpPr>
            <a:spLocks noGrp="1"/>
          </p:cNvSpPr>
          <p:nvPr/>
        </p:nvSpPr>
        <p:spPr>
          <a:xfrm>
            <a:off x="3429000" y="1701800"/>
            <a:ext cx="12700" cy="660400"/>
          </a:xfrm>
          <a:prstGeom prst="rect">
            <a:avLst/>
          </a:prstGeom>
          <a:noFill/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0" name="b710"/>
          <p:cNvSpPr>
            <a:spLocks noGrp="1"/>
          </p:cNvSpPr>
          <p:nvPr/>
        </p:nvSpPr>
        <p:spPr>
          <a:xfrm>
            <a:off x="7874000" y="1701800"/>
            <a:ext cx="12700" cy="660400"/>
          </a:xfrm>
          <a:prstGeom prst="rect">
            <a:avLst/>
          </a:prstGeom>
          <a:noFill/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t711"/>
          <p:cNvSpPr txBox="1">
            <a:spLocks noGrp="1"/>
          </p:cNvSpPr>
          <p:nvPr/>
        </p:nvSpPr>
        <p:spPr>
          <a:xfrm>
            <a:off x="609600" y="1803400"/>
            <a:ext cx="2717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1" i="0" dirty="0">
                <a:solidFill>
                  <a:srgbClr val="90CAF9"/>
                </a:solidFill>
                <a:latin typeface="Consolas"/>
              </a:rPr>
              <a:t>get-order-status</a:t>
            </a:r>
          </a:p>
        </p:txBody>
      </p:sp>
      <p:sp>
        <p:nvSpPr>
          <p:cNvPr id="712" name="t712"/>
          <p:cNvSpPr txBox="1">
            <a:spLocks noGrp="1"/>
          </p:cNvSpPr>
          <p:nvPr/>
        </p:nvSpPr>
        <p:spPr>
          <a:xfrm>
            <a:off x="3530600" y="1778000"/>
            <a:ext cx="4241800" cy="190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50" b="0" i="0" dirty="0">
                <a:solidFill>
                  <a:srgbClr val="B0BEC5"/>
                </a:solidFill>
              </a:rPr>
              <a:t>Consumer on startup via</a:t>
            </a:r>
          </a:p>
        </p:txBody>
      </p:sp>
      <p:sp>
        <p:nvSpPr>
          <p:cNvPr id="713" name="t713"/>
          <p:cNvSpPr txBox="1">
            <a:spLocks noGrp="1"/>
          </p:cNvSpPr>
          <p:nvPr/>
        </p:nvSpPr>
        <p:spPr>
          <a:xfrm>
            <a:off x="3530600" y="1955800"/>
            <a:ext cx="4241800" cy="190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50" b="0" i="0" dirty="0">
                <a:solidFill>
                  <a:srgbClr val="80DEEA"/>
                </a:solidFill>
                <a:latin typeface="Consolas"/>
              </a:rPr>
              <a:t>ConfigureEndpoints()</a:t>
            </a:r>
          </a:p>
        </p:txBody>
      </p:sp>
      <p:sp>
        <p:nvSpPr>
          <p:cNvPr id="714" name="t714"/>
          <p:cNvSpPr txBox="1">
            <a:spLocks noGrp="1"/>
          </p:cNvSpPr>
          <p:nvPr/>
        </p:nvSpPr>
        <p:spPr>
          <a:xfrm>
            <a:off x="3530600" y="2146300"/>
            <a:ext cx="42418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60" b="0" i="1" dirty="0">
                <a:solidFill>
                  <a:srgbClr val="546E7A"/>
                </a:solidFill>
              </a:rPr>
              <a:t>→ registered automatically from consumer class</a:t>
            </a:r>
          </a:p>
        </p:txBody>
      </p:sp>
      <p:sp>
        <p:nvSpPr>
          <p:cNvPr id="715" name="b715"/>
          <p:cNvSpPr>
            <a:spLocks noGrp="1"/>
          </p:cNvSpPr>
          <p:nvPr/>
        </p:nvSpPr>
        <p:spPr>
          <a:xfrm>
            <a:off x="7975600" y="1854200"/>
            <a:ext cx="2794000" cy="279400"/>
          </a:xfrm>
          <a:prstGeom prst="roundRect">
            <a:avLst/>
          </a:prstGeom>
          <a:solidFill>
            <a:srgbClr val="1B5E20"/>
          </a:solidFill>
          <a:ln w="6350">
            <a:solidFill>
              <a:srgbClr val="43A0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6" name="t716"/>
          <p:cNvSpPr txBox="1">
            <a:spLocks noGrp="1"/>
          </p:cNvSpPr>
          <p:nvPr/>
        </p:nvSpPr>
        <p:spPr>
          <a:xfrm>
            <a:off x="8001000" y="19050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ctr">
              <a:buNone/>
            </a:pPr>
            <a:r>
              <a:rPr lang="en-US" sz="900" b="1" i="0" dirty="0">
                <a:solidFill>
                  <a:srgbClr val="A5D6A7"/>
                </a:solidFill>
              </a:rPr>
              <a:t>No — persists permanently</a:t>
            </a:r>
          </a:p>
        </p:txBody>
      </p:sp>
      <p:sp>
        <p:nvSpPr>
          <p:cNvPr id="717" name="b717"/>
          <p:cNvSpPr>
            <a:spLocks noGrp="1"/>
          </p:cNvSpPr>
          <p:nvPr/>
        </p:nvSpPr>
        <p:spPr>
          <a:xfrm>
            <a:off x="508000" y="2362200"/>
            <a:ext cx="10414000" cy="6604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8" name="b718"/>
          <p:cNvSpPr>
            <a:spLocks noGrp="1"/>
          </p:cNvSpPr>
          <p:nvPr/>
        </p:nvSpPr>
        <p:spPr>
          <a:xfrm>
            <a:off x="3429000" y="2362200"/>
            <a:ext cx="12700" cy="660400"/>
          </a:xfrm>
          <a:prstGeom prst="rect">
            <a:avLst/>
          </a:prstGeom>
          <a:noFill/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9" name="b719"/>
          <p:cNvSpPr>
            <a:spLocks noGrp="1"/>
          </p:cNvSpPr>
          <p:nvPr/>
        </p:nvSpPr>
        <p:spPr>
          <a:xfrm>
            <a:off x="7874000" y="2362200"/>
            <a:ext cx="12700" cy="660400"/>
          </a:xfrm>
          <a:prstGeom prst="rect">
            <a:avLst/>
          </a:prstGeom>
          <a:noFill/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t720"/>
          <p:cNvSpPr txBox="1">
            <a:spLocks noGrp="1"/>
          </p:cNvSpPr>
          <p:nvPr/>
        </p:nvSpPr>
        <p:spPr>
          <a:xfrm>
            <a:off x="609600" y="2463800"/>
            <a:ext cx="2717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1000" b="1" i="0" dirty="0">
                <a:solidFill>
                  <a:srgbClr val="80DEEA"/>
                </a:solidFill>
                <a:latin typeface="Consolas"/>
              </a:rPr>
              <a:t>reply-queue-abc123…</a:t>
            </a:r>
          </a:p>
        </p:txBody>
      </p:sp>
      <p:sp>
        <p:nvSpPr>
          <p:cNvPr id="721" name="t721"/>
          <p:cNvSpPr txBox="1">
            <a:spLocks noGrp="1"/>
          </p:cNvSpPr>
          <p:nvPr/>
        </p:nvSpPr>
        <p:spPr>
          <a:xfrm>
            <a:off x="609600" y="2692400"/>
            <a:ext cx="27178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60" b="0" i="1" dirty="0">
                <a:solidFill>
                  <a:srgbClr val="546E7A"/>
                </a:solidFill>
                <a:latin typeface="Consolas"/>
              </a:rPr>
              <a:t>(unique per publisher instance)</a:t>
            </a:r>
          </a:p>
        </p:txBody>
      </p:sp>
      <p:sp>
        <p:nvSpPr>
          <p:cNvPr id="722" name="t722"/>
          <p:cNvSpPr txBox="1">
            <a:spLocks noGrp="1"/>
          </p:cNvSpPr>
          <p:nvPr/>
        </p:nvSpPr>
        <p:spPr>
          <a:xfrm>
            <a:off x="3530600" y="2438400"/>
            <a:ext cx="4241800" cy="190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950" b="0" i="0" dirty="0">
                <a:solidFill>
                  <a:srgbClr val="B0BEC5"/>
                </a:solidFill>
              </a:rPr>
              <a:t>Publisher on host.StartAsync()</a:t>
            </a:r>
          </a:p>
        </p:txBody>
      </p:sp>
      <p:sp>
        <p:nvSpPr>
          <p:cNvPr id="723" name="t723"/>
          <p:cNvSpPr txBox="1">
            <a:spLocks noGrp="1"/>
          </p:cNvSpPr>
          <p:nvPr/>
        </p:nvSpPr>
        <p:spPr>
          <a:xfrm>
            <a:off x="3530600" y="2641600"/>
            <a:ext cx="42418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60" b="0" i="1" dirty="0">
                <a:solidFill>
                  <a:srgbClr val="546E7A"/>
                </a:solidFill>
              </a:rPr>
              <a:t>→ MT creates before first request</a:t>
            </a:r>
          </a:p>
        </p:txBody>
      </p:sp>
      <p:sp>
        <p:nvSpPr>
          <p:cNvPr id="724" name="t724"/>
          <p:cNvSpPr txBox="1">
            <a:spLocks noGrp="1"/>
          </p:cNvSpPr>
          <p:nvPr/>
        </p:nvSpPr>
        <p:spPr>
          <a:xfrm>
            <a:off x="3530600" y="2819400"/>
            <a:ext cx="42418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l">
              <a:buNone/>
            </a:pPr>
            <a:r>
              <a:rPr lang="en-US" sz="860" b="0" i="1" dirty="0">
                <a:solidFill>
                  <a:srgbClr val="546E7A"/>
                </a:solidFill>
              </a:rPr>
              <a:t>→ exclusive to this publisher process</a:t>
            </a:r>
          </a:p>
        </p:txBody>
      </p:sp>
      <p:sp>
        <p:nvSpPr>
          <p:cNvPr id="725" name="b725"/>
          <p:cNvSpPr>
            <a:spLocks noGrp="1"/>
          </p:cNvSpPr>
          <p:nvPr/>
        </p:nvSpPr>
        <p:spPr>
          <a:xfrm>
            <a:off x="7975600" y="2514600"/>
            <a:ext cx="2794000" cy="279400"/>
          </a:xfrm>
          <a:prstGeom prst="roundRect">
            <a:avLst/>
          </a:prstGeom>
          <a:solidFill>
            <a:srgbClr val="4E1505"/>
          </a:solidFill>
          <a:ln w="6350">
            <a:solidFill>
              <a:srgbClr val="BF360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6" name="t726"/>
          <p:cNvSpPr txBox="1">
            <a:spLocks noGrp="1"/>
          </p:cNvSpPr>
          <p:nvPr/>
        </p:nvSpPr>
        <p:spPr>
          <a:xfrm>
            <a:off x="8001000" y="25654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0"/>
          <a:lstStyle/>
          <a:p>
            <a:pPr algn="ctr">
              <a:buNone/>
            </a:pPr>
            <a:r>
              <a:rPr lang="en-US" sz="900" b="1" i="0" dirty="0">
                <a:solidFill>
                  <a:srgbClr val="FF8A65"/>
                </a:solidFill>
              </a:rPr>
              <a:t>Yes — deleted on disconnect</a:t>
            </a:r>
          </a:p>
        </p:txBody>
      </p:sp>
    </p:spTree>
    <p:extLst>
      <p:ext uri="{BB962C8B-B14F-4D97-AF65-F5344CB8AC3E}">
        <p14:creationId xmlns:p14="http://schemas.microsoft.com/office/powerpoint/2010/main" val="1580476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800"/>
          <p:cNvSpPr txBox="1">
            <a:spLocks noGrp="1"/>
          </p:cNvSpPr>
          <p:nvPr/>
        </p:nvSpPr>
        <p:spPr>
          <a:xfrm>
            <a:off x="508000" y="1778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1700" b="1" i="0" dirty="0">
                <a:solidFill>
                  <a:srgbClr val="FF6B35"/>
                </a:solidFill>
              </a:rPr>
              <a:t>Key Differences — HTTP vs MassTransit Request/Response</a:t>
            </a:r>
          </a:p>
        </p:txBody>
      </p:sp>
      <p:sp>
        <p:nvSpPr>
          <p:cNvPr id="801" name="t801"/>
          <p:cNvSpPr txBox="1">
            <a:spLocks noGrp="1"/>
          </p:cNvSpPr>
          <p:nvPr/>
        </p:nvSpPr>
        <p:spPr>
          <a:xfrm>
            <a:off x="508000" y="5080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1000" b="0" i="1" dirty="0">
                <a:solidFill>
                  <a:srgbClr val="90A4AE"/>
                </a:solidFill>
              </a:rPr>
              <a:t>Same end-result from the caller's view — very different mechanics underneath</a:t>
            </a:r>
          </a:p>
        </p:txBody>
      </p:sp>
      <p:sp>
        <p:nvSpPr>
          <p:cNvPr id="802" name="b802"/>
          <p:cNvSpPr>
            <a:spLocks noGrp="1"/>
          </p:cNvSpPr>
          <p:nvPr/>
        </p:nvSpPr>
        <p:spPr>
          <a:xfrm>
            <a:off x="508000" y="838200"/>
            <a:ext cx="10922000" cy="381000"/>
          </a:xfrm>
          <a:prstGeom prst="rect">
            <a:avLst/>
          </a:prstGeom>
          <a:solidFill>
            <a:srgbClr val="1A1A2E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3" name="t803"/>
          <p:cNvSpPr txBox="1">
            <a:spLocks noGrp="1"/>
          </p:cNvSpPr>
          <p:nvPr/>
        </p:nvSpPr>
        <p:spPr>
          <a:xfrm>
            <a:off x="584200" y="9271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endParaRPr/>
          </a:p>
        </p:txBody>
      </p:sp>
      <p:sp>
        <p:nvSpPr>
          <p:cNvPr id="804" name="b804"/>
          <p:cNvSpPr>
            <a:spLocks noGrp="1"/>
          </p:cNvSpPr>
          <p:nvPr/>
        </p:nvSpPr>
        <p:spPr>
          <a:xfrm>
            <a:off x="2667000" y="838200"/>
            <a:ext cx="4318000" cy="381000"/>
          </a:xfrm>
          <a:prstGeom prst="rect">
            <a:avLst/>
          </a:prstGeom>
          <a:solidFill>
            <a:srgbClr val="1A237E"/>
          </a:solidFill>
          <a:ln w="6350">
            <a:solidFill>
              <a:srgbClr val="3949A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5" name="t805"/>
          <p:cNvSpPr txBox="1">
            <a:spLocks noGrp="1"/>
          </p:cNvSpPr>
          <p:nvPr/>
        </p:nvSpPr>
        <p:spPr>
          <a:xfrm>
            <a:off x="2768600" y="9271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ctr">
              <a:buNone/>
            </a:pPr>
            <a:r>
              <a:rPr lang="en-US" sz="1100" b="1" i="0" dirty="0">
                <a:solidFill>
                  <a:srgbClr val="90CAF9"/>
                </a:solidFill>
              </a:rPr>
              <a:t>HTTP</a:t>
            </a:r>
          </a:p>
        </p:txBody>
      </p:sp>
      <p:sp>
        <p:nvSpPr>
          <p:cNvPr id="806" name="b806"/>
          <p:cNvSpPr>
            <a:spLocks noGrp="1"/>
          </p:cNvSpPr>
          <p:nvPr/>
        </p:nvSpPr>
        <p:spPr>
          <a:xfrm>
            <a:off x="6985000" y="838200"/>
            <a:ext cx="4445000" cy="381000"/>
          </a:xfrm>
          <a:prstGeom prst="rect">
            <a:avLst/>
          </a:prstGeom>
          <a:solidFill>
            <a:srgbClr val="0D3B2E"/>
          </a:solidFill>
          <a:ln w="6350">
            <a:solidFill>
              <a:srgbClr val="2E7D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7" name="t807"/>
          <p:cNvSpPr txBox="1">
            <a:spLocks noGrp="1"/>
          </p:cNvSpPr>
          <p:nvPr/>
        </p:nvSpPr>
        <p:spPr>
          <a:xfrm>
            <a:off x="7086600" y="927100"/>
            <a:ext cx="42418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ctr">
              <a:buNone/>
            </a:pPr>
            <a:r>
              <a:rPr lang="en-US" sz="1100" b="1" i="0" dirty="0">
                <a:solidFill>
                  <a:srgbClr val="A5D6A7"/>
                </a:solidFill>
              </a:rPr>
              <a:t>MassTransit Request/Response</a:t>
            </a:r>
          </a:p>
        </p:txBody>
      </p:sp>
      <p:sp>
        <p:nvSpPr>
          <p:cNvPr id="808" name="b808"/>
          <p:cNvSpPr>
            <a:spLocks noGrp="1"/>
          </p:cNvSpPr>
          <p:nvPr/>
        </p:nvSpPr>
        <p:spPr>
          <a:xfrm>
            <a:off x="508000" y="1219200"/>
            <a:ext cx="2159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9" name="b809"/>
          <p:cNvSpPr>
            <a:spLocks noGrp="1"/>
          </p:cNvSpPr>
          <p:nvPr/>
        </p:nvSpPr>
        <p:spPr>
          <a:xfrm>
            <a:off x="2667000" y="1219200"/>
            <a:ext cx="4318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0" name="b810"/>
          <p:cNvSpPr>
            <a:spLocks noGrp="1"/>
          </p:cNvSpPr>
          <p:nvPr/>
        </p:nvSpPr>
        <p:spPr>
          <a:xfrm>
            <a:off x="6985000" y="1219200"/>
            <a:ext cx="4445000" cy="584200"/>
          </a:xfrm>
          <a:prstGeom prst="rect">
            <a:avLst/>
          </a:prstGeom>
          <a:solidFill>
            <a:srgbClr val="071612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1" name="t811"/>
          <p:cNvSpPr txBox="1">
            <a:spLocks noGrp="1"/>
          </p:cNvSpPr>
          <p:nvPr/>
        </p:nvSpPr>
        <p:spPr>
          <a:xfrm>
            <a:off x="584200" y="1397000"/>
            <a:ext cx="200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50" b="1" i="0" dirty="0">
                <a:solidFill>
                  <a:srgbClr val="FFC000"/>
                </a:solidFill>
              </a:rPr>
              <a:t>Protocol</a:t>
            </a:r>
          </a:p>
        </p:txBody>
      </p:sp>
      <p:sp>
        <p:nvSpPr>
          <p:cNvPr id="812" name="t812"/>
          <p:cNvSpPr txBox="1">
            <a:spLocks noGrp="1"/>
          </p:cNvSpPr>
          <p:nvPr/>
        </p:nvSpPr>
        <p:spPr>
          <a:xfrm>
            <a:off x="2743200" y="1397000"/>
            <a:ext cx="416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90A4AE"/>
                </a:solidFill>
              </a:rPr>
              <a:t>TCP + HTTP (port 80/443)</a:t>
            </a:r>
          </a:p>
        </p:txBody>
      </p:sp>
      <p:sp>
        <p:nvSpPr>
          <p:cNvPr id="813" name="t813"/>
          <p:cNvSpPr txBox="1">
            <a:spLocks noGrp="1"/>
          </p:cNvSpPr>
          <p:nvPr/>
        </p:nvSpPr>
        <p:spPr>
          <a:xfrm>
            <a:off x="7061200" y="13970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90CAF9"/>
                </a:solidFill>
              </a:rPr>
              <a:t>TCP + AMQP (port 5672)</a:t>
            </a:r>
          </a:p>
        </p:txBody>
      </p:sp>
      <p:sp>
        <p:nvSpPr>
          <p:cNvPr id="814" name="b814"/>
          <p:cNvSpPr>
            <a:spLocks noGrp="1"/>
          </p:cNvSpPr>
          <p:nvPr/>
        </p:nvSpPr>
        <p:spPr>
          <a:xfrm>
            <a:off x="508000" y="1803400"/>
            <a:ext cx="2159000" cy="584200"/>
          </a:xfrm>
          <a:prstGeom prst="rect">
            <a:avLst/>
          </a:prstGeom>
          <a:solidFill>
            <a:srgbClr val="1A0A0A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5" name="b815"/>
          <p:cNvSpPr>
            <a:spLocks noGrp="1"/>
          </p:cNvSpPr>
          <p:nvPr/>
        </p:nvSpPr>
        <p:spPr>
          <a:xfrm>
            <a:off x="2667000" y="1803400"/>
            <a:ext cx="4318000" cy="584200"/>
          </a:xfrm>
          <a:prstGeom prst="rect">
            <a:avLst/>
          </a:prstGeom>
          <a:solidFill>
            <a:srgbClr val="1A0A0A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6" name="b816"/>
          <p:cNvSpPr>
            <a:spLocks noGrp="1"/>
          </p:cNvSpPr>
          <p:nvPr/>
        </p:nvSpPr>
        <p:spPr>
          <a:xfrm>
            <a:off x="6985000" y="1803400"/>
            <a:ext cx="4445000" cy="584200"/>
          </a:xfrm>
          <a:prstGeom prst="rect">
            <a:avLst/>
          </a:prstGeom>
          <a:solidFill>
            <a:srgbClr val="071612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7" name="t817"/>
          <p:cNvSpPr txBox="1">
            <a:spLocks noGrp="1"/>
          </p:cNvSpPr>
          <p:nvPr/>
        </p:nvSpPr>
        <p:spPr>
          <a:xfrm>
            <a:off x="584200" y="1981200"/>
            <a:ext cx="200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50" b="1" i="0" dirty="0">
                <a:solidFill>
                  <a:srgbClr val="FFC000"/>
                </a:solidFill>
              </a:rPr>
              <a:t>Coupling</a:t>
            </a:r>
          </a:p>
        </p:txBody>
      </p:sp>
      <p:sp>
        <p:nvSpPr>
          <p:cNvPr id="818" name="t818"/>
          <p:cNvSpPr txBox="1">
            <a:spLocks noGrp="1"/>
          </p:cNvSpPr>
          <p:nvPr/>
        </p:nvSpPr>
        <p:spPr>
          <a:xfrm>
            <a:off x="2743200" y="1981200"/>
            <a:ext cx="416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EF9A9A"/>
                </a:solidFill>
              </a:rPr>
              <a:t>Publisher must know Consumer's URL</a:t>
            </a:r>
          </a:p>
        </p:txBody>
      </p:sp>
      <p:sp>
        <p:nvSpPr>
          <p:cNvPr id="819" name="t819"/>
          <p:cNvSpPr txBox="1">
            <a:spLocks noGrp="1"/>
          </p:cNvSpPr>
          <p:nvPr/>
        </p:nvSpPr>
        <p:spPr>
          <a:xfrm>
            <a:off x="7061200" y="19812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A5D6A7"/>
                </a:solidFill>
              </a:rPr>
              <a:t>Publisher only knows the message type</a:t>
            </a:r>
          </a:p>
        </p:txBody>
      </p:sp>
      <p:sp>
        <p:nvSpPr>
          <p:cNvPr id="820" name="b820"/>
          <p:cNvSpPr>
            <a:spLocks noGrp="1"/>
          </p:cNvSpPr>
          <p:nvPr/>
        </p:nvSpPr>
        <p:spPr>
          <a:xfrm>
            <a:off x="508000" y="2387600"/>
            <a:ext cx="2159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1" name="b821"/>
          <p:cNvSpPr>
            <a:spLocks noGrp="1"/>
          </p:cNvSpPr>
          <p:nvPr/>
        </p:nvSpPr>
        <p:spPr>
          <a:xfrm>
            <a:off x="2667000" y="2387600"/>
            <a:ext cx="4318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2" name="b822"/>
          <p:cNvSpPr>
            <a:spLocks noGrp="1"/>
          </p:cNvSpPr>
          <p:nvPr/>
        </p:nvSpPr>
        <p:spPr>
          <a:xfrm>
            <a:off x="6985000" y="2387600"/>
            <a:ext cx="4445000" cy="584200"/>
          </a:xfrm>
          <a:prstGeom prst="rect">
            <a:avLst/>
          </a:prstGeom>
          <a:solidFill>
            <a:srgbClr val="071612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3" name="t823"/>
          <p:cNvSpPr txBox="1">
            <a:spLocks noGrp="1"/>
          </p:cNvSpPr>
          <p:nvPr/>
        </p:nvSpPr>
        <p:spPr>
          <a:xfrm>
            <a:off x="584200" y="2565400"/>
            <a:ext cx="200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50" b="1" i="0" dirty="0">
                <a:solidFill>
                  <a:srgbClr val="FFC000"/>
                </a:solidFill>
              </a:rPr>
              <a:t>Broker</a:t>
            </a:r>
          </a:p>
        </p:txBody>
      </p:sp>
      <p:sp>
        <p:nvSpPr>
          <p:cNvPr id="824" name="t824"/>
          <p:cNvSpPr txBox="1">
            <a:spLocks noGrp="1"/>
          </p:cNvSpPr>
          <p:nvPr/>
        </p:nvSpPr>
        <p:spPr>
          <a:xfrm>
            <a:off x="2743200" y="2565400"/>
            <a:ext cx="416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90A4AE"/>
                </a:solidFill>
              </a:rPr>
              <a:t>No broker — direct connection</a:t>
            </a:r>
          </a:p>
        </p:txBody>
      </p:sp>
      <p:sp>
        <p:nvSpPr>
          <p:cNvPr id="825" name="t825"/>
          <p:cNvSpPr txBox="1">
            <a:spLocks noGrp="1"/>
          </p:cNvSpPr>
          <p:nvPr/>
        </p:nvSpPr>
        <p:spPr>
          <a:xfrm>
            <a:off x="7061200" y="25654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A5D6A7"/>
                </a:solidFill>
              </a:rPr>
              <a:t>Yes — RabbitMQ buffers the request</a:t>
            </a:r>
          </a:p>
        </p:txBody>
      </p:sp>
      <p:sp>
        <p:nvSpPr>
          <p:cNvPr id="826" name="b826"/>
          <p:cNvSpPr>
            <a:spLocks noGrp="1"/>
          </p:cNvSpPr>
          <p:nvPr/>
        </p:nvSpPr>
        <p:spPr>
          <a:xfrm>
            <a:off x="508000" y="2971800"/>
            <a:ext cx="2159000" cy="584200"/>
          </a:xfrm>
          <a:prstGeom prst="rect">
            <a:avLst/>
          </a:prstGeom>
          <a:solidFill>
            <a:srgbClr val="1A0A0A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7" name="b827"/>
          <p:cNvSpPr>
            <a:spLocks noGrp="1"/>
          </p:cNvSpPr>
          <p:nvPr/>
        </p:nvSpPr>
        <p:spPr>
          <a:xfrm>
            <a:off x="2667000" y="2971800"/>
            <a:ext cx="4318000" cy="584200"/>
          </a:xfrm>
          <a:prstGeom prst="rect">
            <a:avLst/>
          </a:prstGeom>
          <a:solidFill>
            <a:srgbClr val="1A0A0A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8" name="b828"/>
          <p:cNvSpPr>
            <a:spLocks noGrp="1"/>
          </p:cNvSpPr>
          <p:nvPr/>
        </p:nvSpPr>
        <p:spPr>
          <a:xfrm>
            <a:off x="6985000" y="2971800"/>
            <a:ext cx="4445000" cy="584200"/>
          </a:xfrm>
          <a:prstGeom prst="rect">
            <a:avLst/>
          </a:prstGeom>
          <a:solidFill>
            <a:srgbClr val="071612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9" name="t829"/>
          <p:cNvSpPr txBox="1">
            <a:spLocks noGrp="1"/>
          </p:cNvSpPr>
          <p:nvPr/>
        </p:nvSpPr>
        <p:spPr>
          <a:xfrm>
            <a:off x="584200" y="3149600"/>
            <a:ext cx="200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50" b="1" i="0" dirty="0">
                <a:solidFill>
                  <a:srgbClr val="FFC000"/>
                </a:solidFill>
              </a:rPr>
              <a:t>Consumer offline</a:t>
            </a:r>
          </a:p>
        </p:txBody>
      </p:sp>
      <p:sp>
        <p:nvSpPr>
          <p:cNvPr id="830" name="t830"/>
          <p:cNvSpPr txBox="1">
            <a:spLocks noGrp="1"/>
          </p:cNvSpPr>
          <p:nvPr/>
        </p:nvSpPr>
        <p:spPr>
          <a:xfrm>
            <a:off x="2743200" y="3149600"/>
            <a:ext cx="416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EF9A9A"/>
                </a:solidFill>
              </a:rPr>
              <a:t>Request fails immediately</a:t>
            </a:r>
          </a:p>
        </p:txBody>
      </p:sp>
      <p:sp>
        <p:nvSpPr>
          <p:cNvPr id="831" name="t831"/>
          <p:cNvSpPr txBox="1">
            <a:spLocks noGrp="1"/>
          </p:cNvSpPr>
          <p:nvPr/>
        </p:nvSpPr>
        <p:spPr>
          <a:xfrm>
            <a:off x="7061200" y="31496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A5D6A7"/>
                </a:solidFill>
              </a:rPr>
              <a:t>Message stays in queue until Consumer comes up</a:t>
            </a:r>
          </a:p>
        </p:txBody>
      </p:sp>
      <p:sp>
        <p:nvSpPr>
          <p:cNvPr id="832" name="b832"/>
          <p:cNvSpPr>
            <a:spLocks noGrp="1"/>
          </p:cNvSpPr>
          <p:nvPr/>
        </p:nvSpPr>
        <p:spPr>
          <a:xfrm>
            <a:off x="508000" y="3556000"/>
            <a:ext cx="2159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3" name="b833"/>
          <p:cNvSpPr>
            <a:spLocks noGrp="1"/>
          </p:cNvSpPr>
          <p:nvPr/>
        </p:nvSpPr>
        <p:spPr>
          <a:xfrm>
            <a:off x="2667000" y="3556000"/>
            <a:ext cx="4318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4" name="b834"/>
          <p:cNvSpPr>
            <a:spLocks noGrp="1"/>
          </p:cNvSpPr>
          <p:nvPr/>
        </p:nvSpPr>
        <p:spPr>
          <a:xfrm>
            <a:off x="6985000" y="3556000"/>
            <a:ext cx="4445000" cy="584200"/>
          </a:xfrm>
          <a:prstGeom prst="rect">
            <a:avLst/>
          </a:prstGeom>
          <a:solidFill>
            <a:srgbClr val="071612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5" name="t835"/>
          <p:cNvSpPr txBox="1">
            <a:spLocks noGrp="1"/>
          </p:cNvSpPr>
          <p:nvPr/>
        </p:nvSpPr>
        <p:spPr>
          <a:xfrm>
            <a:off x="584200" y="3733800"/>
            <a:ext cx="200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50" b="1" i="0" dirty="0">
                <a:solidFill>
                  <a:srgbClr val="FFC000"/>
                </a:solidFill>
              </a:rPr>
              <a:t>Correlation</a:t>
            </a:r>
          </a:p>
        </p:txBody>
      </p:sp>
      <p:sp>
        <p:nvSpPr>
          <p:cNvPr id="836" name="t836"/>
          <p:cNvSpPr txBox="1">
            <a:spLocks noGrp="1"/>
          </p:cNvSpPr>
          <p:nvPr/>
        </p:nvSpPr>
        <p:spPr>
          <a:xfrm>
            <a:off x="2743200" y="3733800"/>
            <a:ext cx="416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90A4AE"/>
                </a:solidFill>
              </a:rPr>
              <a:t>Implicit — same socket/connection</a:t>
            </a:r>
          </a:p>
        </p:txBody>
      </p:sp>
      <p:sp>
        <p:nvSpPr>
          <p:cNvPr id="837" name="t837"/>
          <p:cNvSpPr txBox="1">
            <a:spLocks noGrp="1"/>
          </p:cNvSpPr>
          <p:nvPr/>
        </p:nvSpPr>
        <p:spPr>
          <a:xfrm>
            <a:off x="7061200" y="37338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80DEEA"/>
                </a:solidFill>
              </a:rPr>
              <a:t>Explicit GUID in message header</a:t>
            </a:r>
          </a:p>
        </p:txBody>
      </p:sp>
      <p:sp>
        <p:nvSpPr>
          <p:cNvPr id="838" name="b838"/>
          <p:cNvSpPr>
            <a:spLocks noGrp="1"/>
          </p:cNvSpPr>
          <p:nvPr/>
        </p:nvSpPr>
        <p:spPr>
          <a:xfrm>
            <a:off x="508000" y="4140200"/>
            <a:ext cx="2159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9" name="b839"/>
          <p:cNvSpPr>
            <a:spLocks noGrp="1"/>
          </p:cNvSpPr>
          <p:nvPr/>
        </p:nvSpPr>
        <p:spPr>
          <a:xfrm>
            <a:off x="2667000" y="4140200"/>
            <a:ext cx="4318000" cy="5842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0" name="b840"/>
          <p:cNvSpPr>
            <a:spLocks noGrp="1"/>
          </p:cNvSpPr>
          <p:nvPr/>
        </p:nvSpPr>
        <p:spPr>
          <a:xfrm>
            <a:off x="6985000" y="4140200"/>
            <a:ext cx="4445000" cy="584200"/>
          </a:xfrm>
          <a:prstGeom prst="rect">
            <a:avLst/>
          </a:prstGeom>
          <a:solidFill>
            <a:srgbClr val="071612"/>
          </a:solidFill>
          <a:ln w="6350">
            <a:solidFill>
              <a:srgbClr val="1E2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1" name="t841"/>
          <p:cNvSpPr txBox="1">
            <a:spLocks noGrp="1"/>
          </p:cNvSpPr>
          <p:nvPr/>
        </p:nvSpPr>
        <p:spPr>
          <a:xfrm>
            <a:off x="584200" y="4318000"/>
            <a:ext cx="200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50" b="1" i="0" dirty="0">
                <a:solidFill>
                  <a:srgbClr val="FFC000"/>
                </a:solidFill>
              </a:rPr>
              <a:t>Reply address</a:t>
            </a:r>
          </a:p>
        </p:txBody>
      </p:sp>
      <p:sp>
        <p:nvSpPr>
          <p:cNvPr id="842" name="t842"/>
          <p:cNvSpPr txBox="1">
            <a:spLocks noGrp="1"/>
          </p:cNvSpPr>
          <p:nvPr/>
        </p:nvSpPr>
        <p:spPr>
          <a:xfrm>
            <a:off x="2743200" y="4318000"/>
            <a:ext cx="416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90A4AE"/>
                </a:solidFill>
              </a:rPr>
              <a:t>HTTP response on same socket</a:t>
            </a:r>
          </a:p>
        </p:txBody>
      </p:sp>
      <p:sp>
        <p:nvSpPr>
          <p:cNvPr id="843" name="t843"/>
          <p:cNvSpPr txBox="1">
            <a:spLocks noGrp="1"/>
          </p:cNvSpPr>
          <p:nvPr/>
        </p:nvSpPr>
        <p:spPr>
          <a:xfrm>
            <a:off x="7061200" y="43180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80DEEA"/>
                </a:solidFill>
              </a:rPr>
              <a:t>Separate temporary reply queue</a:t>
            </a:r>
          </a:p>
        </p:txBody>
      </p:sp>
      <p:sp>
        <p:nvSpPr>
          <p:cNvPr id="844" name="b844"/>
          <p:cNvSpPr>
            <a:spLocks noGrp="1"/>
          </p:cNvSpPr>
          <p:nvPr/>
        </p:nvSpPr>
        <p:spPr>
          <a:xfrm>
            <a:off x="508000" y="4876800"/>
            <a:ext cx="10922000" cy="762000"/>
          </a:xfrm>
          <a:prstGeom prst="roundRect">
            <a:avLst/>
          </a:prstGeom>
          <a:solidFill>
            <a:srgbClr val="102027"/>
          </a:solidFill>
          <a:ln w="6350">
            <a:solidFill>
              <a:srgbClr val="546E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5" name="t845"/>
          <p:cNvSpPr txBox="1">
            <a:spLocks noGrp="1"/>
          </p:cNvSpPr>
          <p:nvPr/>
        </p:nvSpPr>
        <p:spPr>
          <a:xfrm>
            <a:off x="660400" y="4927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1000" b="1" i="0" dirty="0">
                <a:solidFill>
                  <a:srgbClr val="FFC000"/>
                </a:solidFill>
              </a:rPr>
              <a:t>Core idea</a:t>
            </a:r>
          </a:p>
        </p:txBody>
      </p:sp>
      <p:sp>
        <p:nvSpPr>
          <p:cNvPr id="846" name="t846"/>
          <p:cNvSpPr txBox="1">
            <a:spLocks noGrp="1"/>
          </p:cNvSpPr>
          <p:nvPr/>
        </p:nvSpPr>
        <p:spPr>
          <a:xfrm>
            <a:off x="660400" y="5130800"/>
            <a:ext cx="10617200" cy="1778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B0BEC5"/>
                </a:solidFill>
              </a:rPr>
              <a:t>MassTransit turns two one-way queue messages (request → consumer queue, response → reply queue)</a:t>
            </a:r>
          </a:p>
        </p:txBody>
      </p:sp>
      <p:sp>
        <p:nvSpPr>
          <p:cNvPr id="847" name="t847"/>
          <p:cNvSpPr txBox="1">
            <a:spLocks noGrp="1"/>
          </p:cNvSpPr>
          <p:nvPr/>
        </p:nvSpPr>
        <p:spPr>
          <a:xfrm>
            <a:off x="660400" y="5295900"/>
            <a:ext cx="10617200" cy="1778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0"/>
          <a:lstStyle/>
          <a:p>
            <a:pPr algn="l">
              <a:buNone/>
            </a:pPr>
            <a:r>
              <a:rPr lang="en-US" sz="900" b="0" i="0" dirty="0">
                <a:solidFill>
                  <a:srgbClr val="80DEEA"/>
                </a:solidFill>
              </a:rPr>
              <a:t>into something that looks like a synchronous await from the caller's perspective.</a:t>
            </a:r>
          </a:p>
        </p:txBody>
      </p:sp>
    </p:spTree>
    <p:extLst>
      <p:ext uri="{BB962C8B-B14F-4D97-AF65-F5344CB8AC3E}">
        <p14:creationId xmlns:p14="http://schemas.microsoft.com/office/powerpoint/2010/main" val="2665167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8359-B45E-2E5A-12EF-7B2DC441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/>
              <a:t>Reliability: Retries, Redelivery &amp; Outbox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01E2D-CC97-A43B-A34F-D2A3393AF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6B35"/>
                </a:solidFill>
              </a:rPr>
              <a:t>Retries</a:t>
            </a:r>
          </a:p>
          <a:p>
            <a:pPr marL="342900" indent="-342900">
              <a:buFont typeface="Arial"/>
              <a:buChar char="–"/>
            </a:pPr>
            <a:r>
              <a:rPr lang="en-US" sz="1500" dirty="0">
                <a:solidFill>
                  <a:srgbClr val="B0BEC5"/>
                </a:solidFill>
              </a:rPr>
              <a:t>Immediate retry on transient failures — </a:t>
            </a:r>
            <a:r>
              <a:rPr lang="en-US" sz="1500" dirty="0">
                <a:solidFill>
                  <a:srgbClr val="00C9A7"/>
                </a:solidFill>
                <a:latin typeface="Cascadia Code"/>
              </a:rPr>
              <a:t>UseMessageRetry(r =&gt; r.Interval(3, 5000))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6B35"/>
                </a:solidFill>
              </a:rPr>
              <a:t>Delayed Redelivery</a:t>
            </a:r>
          </a:p>
          <a:p>
            <a:pPr marL="342900" indent="-342900">
              <a:buFont typeface="Arial"/>
              <a:buChar char="–"/>
            </a:pPr>
            <a:r>
              <a:rPr lang="en-US" sz="1500" dirty="0">
                <a:solidFill>
                  <a:srgbClr val="B0BEC5"/>
                </a:solidFill>
              </a:rPr>
              <a:t>Re-queues after delay (needs RabbitMQ delayed exchange plugin) — </a:t>
            </a:r>
            <a:r>
              <a:rPr lang="en-US" sz="1500" dirty="0">
                <a:solidFill>
                  <a:srgbClr val="00C9A7"/>
                </a:solidFill>
                <a:latin typeface="Cascadia Code"/>
              </a:rPr>
              <a:t>UseScheduledRedelivery(...)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6B35"/>
                </a:solidFill>
              </a:rPr>
              <a:t>Outbox Pattern</a:t>
            </a:r>
          </a:p>
          <a:p>
            <a:pPr marL="342900" indent="-342900">
              <a:buFont typeface="Arial"/>
              <a:buChar char="–"/>
            </a:pPr>
            <a:r>
              <a:rPr lang="en-US" sz="1500" dirty="0">
                <a:solidFill>
                  <a:srgbClr val="B0BEC5"/>
                </a:solidFill>
              </a:rPr>
              <a:t>Prevents messages publishing before saga state persists</a:t>
            </a:r>
          </a:p>
          <a:p>
            <a:pPr marL="342900" indent="-342900">
              <a:buFont typeface="Arial"/>
              <a:buChar char="–"/>
            </a:pPr>
            <a:r>
              <a:rPr lang="en-US" sz="1500" dirty="0">
                <a:solidFill>
                  <a:srgbClr val="B0BEC5"/>
                </a:solidFill>
              </a:rPr>
              <a:t>Buffers published messages; dispatches after successful persistence</a:t>
            </a:r>
          </a:p>
          <a:p>
            <a:pPr marL="342900" indent="-342900">
              <a:buFont typeface="Arial"/>
              <a:buChar char="–"/>
            </a:pPr>
            <a:r>
              <a:rPr lang="en-US" sz="1500" dirty="0">
                <a:solidFill>
                  <a:srgbClr val="B0BEC5"/>
                </a:solidFill>
              </a:rPr>
              <a:t>Eliminates race conditions in saga workflows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FF6B35"/>
                </a:solidFill>
              </a:rPr>
              <a:t>Fault Queues</a:t>
            </a:r>
          </a:p>
          <a:p>
            <a:pPr marL="342900" indent="-342900">
              <a:buFont typeface="Arial"/>
              <a:buChar char="–"/>
            </a:pPr>
            <a:r>
              <a:rPr lang="en-US" sz="1500" dirty="0">
                <a:solidFill>
                  <a:srgbClr val="B0BEC5"/>
                </a:solidFill>
              </a:rPr>
              <a:t>Failed messages move to </a:t>
            </a:r>
            <a:r>
              <a:rPr lang="en-US" sz="1500" dirty="0">
                <a:solidFill>
                  <a:srgbClr val="00C9A7"/>
                </a:solidFill>
                <a:latin typeface="Cascadia Code"/>
              </a:rPr>
              <a:t>&lt;queue&gt;_error</a:t>
            </a:r>
            <a:r>
              <a:rPr lang="en-US" sz="1500" dirty="0">
                <a:solidFill>
                  <a:srgbClr val="B0BEC5"/>
                </a:solidFill>
              </a:rPr>
              <a:t> after exhausting retries; </a:t>
            </a:r>
            <a:r>
              <a:rPr lang="en-US" sz="1500" dirty="0">
                <a:solidFill>
                  <a:srgbClr val="00C9A7"/>
                </a:solidFill>
                <a:latin typeface="Cascadia Code"/>
              </a:rPr>
              <a:t>Fault&lt;T&gt;</a:t>
            </a:r>
            <a:r>
              <a:rPr lang="en-US" sz="1500" dirty="0">
                <a:solidFill>
                  <a:srgbClr val="B0BEC5"/>
                </a:solidFill>
              </a:rPr>
              <a:t> event published</a:t>
            </a:r>
          </a:p>
        </p:txBody>
      </p:sp>
    </p:spTree>
    <p:extLst>
      <p:ext uri="{BB962C8B-B14F-4D97-AF65-F5344CB8AC3E}">
        <p14:creationId xmlns:p14="http://schemas.microsoft.com/office/powerpoint/2010/main" val="2329793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Box"/>
          <p:cNvSpPr txBox="1"/>
          <p:nvPr/>
        </p:nvSpPr>
        <p:spPr>
          <a:xfrm>
            <a:off x="457200" y="280000"/>
            <a:ext cx="8686800" cy="860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Saga Pattern</a:t>
            </a:r>
          </a:p>
        </p:txBody>
      </p:sp>
      <p:sp>
        <p:nvSpPr>
          <p:cNvPr id="6" name="SubtitleBox"/>
          <p:cNvSpPr txBox="1"/>
          <p:nvPr/>
        </p:nvSpPr>
        <p:spPr>
          <a:xfrm>
            <a:off x="457200" y="1200000"/>
            <a:ext cx="8686800" cy="58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dirty="0">
                <a:solidFill>
                  <a:srgbClr val="CBD5E0"/>
                </a:solidFill>
              </a:rPr>
              <a:t>Managing distributed transactions across microservices without a global lock</a:t>
            </a:r>
          </a:p>
        </p:txBody>
      </p:sp>
      <p:sp>
        <p:nvSpPr>
          <p:cNvPr id="7" name="LabelBox"/>
          <p:cNvSpPr txBox="1"/>
          <p:nvPr/>
        </p:nvSpPr>
        <p:spPr>
          <a:xfrm>
            <a:off x="457200" y="1870000"/>
            <a:ext cx="3600000" cy="38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1" dirty="0">
                <a:solidFill>
                  <a:srgbClr val="ED7D31"/>
                </a:solidFill>
              </a:rPr>
              <a:t>Two main approaches:</a:t>
            </a:r>
          </a:p>
        </p:txBody>
      </p:sp>
      <p:sp>
        <p:nvSpPr>
          <p:cNvPr id="8" name="ChoCard"/>
          <p:cNvSpPr/>
          <p:nvPr/>
        </p:nvSpPr>
        <p:spPr>
          <a:xfrm>
            <a:off x="457200" y="2350000"/>
            <a:ext cx="8686800" cy="700000"/>
          </a:xfrm>
          <a:prstGeom prst="roundRect">
            <a:avLst/>
          </a:prstGeom>
          <a:solidFill>
            <a:srgbClr val="0D2137"/>
          </a:solidFill>
          <a:ln w="19050">
            <a:solidFill>
              <a:srgbClr val="4FC3F7"/>
            </a:solidFill>
          </a:ln>
        </p:spPr>
        <p:txBody>
          <a:bodyPr anchor="ctr"/>
          <a:lstStyle/>
          <a:p>
            <a:pPr marL="228600" indent="0">
              <a:buNone/>
            </a:pPr>
            <a:r>
              <a:rPr lang="en-US" sz="1800" b="1" dirty="0">
                <a:solidFill>
                  <a:srgbClr val="4FC3F7"/>
                </a:solidFill>
              </a:rPr>
              <a:t>Choreography  </a:t>
            </a:r>
            <a:r>
              <a:rPr lang="en-US" sz="1800" dirty="0">
                <a:solidFill>
                  <a:srgbClr val="FFFFFF"/>
                </a:solidFill>
              </a:rPr>
              <a:t>— services react to events autonomously; no central controller</a:t>
            </a:r>
          </a:p>
        </p:txBody>
      </p:sp>
      <p:sp>
        <p:nvSpPr>
          <p:cNvPr id="9" name="OrchCard"/>
          <p:cNvSpPr/>
          <p:nvPr/>
        </p:nvSpPr>
        <p:spPr>
          <a:xfrm>
            <a:off x="457200" y="3130000"/>
            <a:ext cx="8686800" cy="700000"/>
          </a:xfrm>
          <a:prstGeom prst="roundRect">
            <a:avLst/>
          </a:prstGeom>
          <a:solidFill>
            <a:srgbClr val="0D2407"/>
          </a:solidFill>
          <a:ln w="19050">
            <a:solidFill>
              <a:srgbClr val="70AD47"/>
            </a:solidFill>
          </a:ln>
        </p:spPr>
        <p:txBody>
          <a:bodyPr anchor="ctr"/>
          <a:lstStyle/>
          <a:p>
            <a:pPr marL="228600" indent="0">
              <a:buNone/>
            </a:pPr>
            <a:r>
              <a:rPr lang="en-US" sz="1800" b="1" dirty="0">
                <a:solidFill>
                  <a:srgbClr val="A5D6A7"/>
                </a:solidFill>
              </a:rPr>
              <a:t>Orchestration  </a:t>
            </a:r>
            <a:r>
              <a:rPr lang="en-US" sz="1800" dirty="0">
                <a:solidFill>
                  <a:srgbClr val="FFFFFF"/>
                </a:solidFill>
              </a:rPr>
              <a:t>— a central Saga orchestrator directs each step explicitly</a:t>
            </a:r>
          </a:p>
        </p:txBody>
      </p:sp>
      <p:sp>
        <p:nvSpPr>
          <p:cNvPr id="10" name="NoteBox"/>
          <p:cNvSpPr txBox="1"/>
          <p:nvPr/>
        </p:nvSpPr>
        <p:spPr>
          <a:xfrm>
            <a:off x="457200" y="3950000"/>
            <a:ext cx="8686800" cy="43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600" dirty="0">
                <a:solidFill>
                  <a:srgbClr val="CBD5E0"/>
                </a:solidFill>
              </a:rPr>
              <a:t>Each step publishes compensating transactions on failure to maintain eventual consistency</a:t>
            </a:r>
          </a:p>
        </p:txBody>
      </p:sp>
    </p:spTree>
    <p:extLst>
      <p:ext uri="{BB962C8B-B14F-4D97-AF65-F5344CB8AC3E}">
        <p14:creationId xmlns:p14="http://schemas.microsoft.com/office/powerpoint/2010/main" val="3257417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457200" y="160000"/>
            <a:ext cx="8686800" cy="6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Saga: Choreography</a:t>
            </a:r>
          </a:p>
        </p:txBody>
      </p:sp>
      <p:sp>
        <p:nvSpPr>
          <p:cNvPr id="10" name="svc10"/>
          <p:cNvSpPr/>
          <p:nvPr/>
        </p:nvSpPr>
        <p:spPr>
          <a:xfrm>
            <a:off x="200000" y="920000"/>
            <a:ext cx="1750000" cy="42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 Service</a:t>
            </a:r>
          </a:p>
        </p:txBody>
      </p:sp>
      <p:sp>
        <p:nvSpPr>
          <p:cNvPr id="11" name="svc11"/>
          <p:cNvSpPr/>
          <p:nvPr/>
        </p:nvSpPr>
        <p:spPr>
          <a:xfrm>
            <a:off x="2350000" y="920000"/>
            <a:ext cx="1750000" cy="42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Payment Service</a:t>
            </a:r>
          </a:p>
        </p:txBody>
      </p:sp>
      <p:sp>
        <p:nvSpPr>
          <p:cNvPr id="12" name="svc12"/>
          <p:cNvSpPr/>
          <p:nvPr/>
        </p:nvSpPr>
        <p:spPr>
          <a:xfrm>
            <a:off x="4500000" y="920000"/>
            <a:ext cx="1750000" cy="52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Inventory Service</a:t>
            </a:r>
          </a:p>
        </p:txBody>
      </p:sp>
      <p:sp>
        <p:nvSpPr>
          <p:cNvPr id="13" name="svc13"/>
          <p:cNvSpPr/>
          <p:nvPr/>
        </p:nvSpPr>
        <p:spPr>
          <a:xfrm>
            <a:off x="6650000" y="920000"/>
            <a:ext cx="1750000" cy="42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Shipping Service</a:t>
            </a:r>
          </a:p>
        </p:txBody>
      </p:sp>
      <p:sp>
        <p:nvSpPr>
          <p:cNvPr id="30" name="arr0"/>
          <p:cNvSpPr/>
          <p:nvPr/>
        </p:nvSpPr>
        <p:spPr>
          <a:xfrm>
            <a:off x="2010000" y="1060000"/>
            <a:ext cx="280000" cy="24000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arr1"/>
          <p:cNvSpPr/>
          <p:nvPr/>
        </p:nvSpPr>
        <p:spPr>
          <a:xfrm>
            <a:off x="4160000" y="1060000"/>
            <a:ext cx="280000" cy="24000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arr2"/>
          <p:cNvSpPr/>
          <p:nvPr/>
        </p:nvSpPr>
        <p:spPr>
          <a:xfrm>
            <a:off x="6310000" y="1060000"/>
            <a:ext cx="280000" cy="24000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vt0"/>
          <p:cNvSpPr/>
          <p:nvPr/>
        </p:nvSpPr>
        <p:spPr>
          <a:xfrm>
            <a:off x="100000" y="1660000"/>
            <a:ext cx="1950000" cy="380000"/>
          </a:xfrm>
          <a:prstGeom prst="roundRect">
            <a:avLst/>
          </a:prstGeom>
          <a:solidFill>
            <a:srgbClr val="1B4332"/>
          </a:solidFill>
          <a:ln w="19050">
            <a:solidFill>
              <a:srgbClr val="70AD4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A5D6A7"/>
                </a:solidFill>
              </a:rPr>
              <a:t>OrderCreated</a:t>
            </a:r>
          </a:p>
        </p:txBody>
      </p:sp>
      <p:sp>
        <p:nvSpPr>
          <p:cNvPr id="21" name="evt1"/>
          <p:cNvSpPr/>
          <p:nvPr/>
        </p:nvSpPr>
        <p:spPr>
          <a:xfrm>
            <a:off x="2250000" y="1660000"/>
            <a:ext cx="1950000" cy="380000"/>
          </a:xfrm>
          <a:prstGeom prst="roundRect">
            <a:avLst/>
          </a:prstGeom>
          <a:solidFill>
            <a:srgbClr val="1B4332"/>
          </a:solidFill>
          <a:ln w="19050">
            <a:solidFill>
              <a:srgbClr val="70AD4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A5D6A7"/>
                </a:solidFill>
              </a:rPr>
              <a:t>PaymentProcessed</a:t>
            </a:r>
          </a:p>
        </p:txBody>
      </p:sp>
      <p:sp>
        <p:nvSpPr>
          <p:cNvPr id="22" name="evt2"/>
          <p:cNvSpPr/>
          <p:nvPr/>
        </p:nvSpPr>
        <p:spPr>
          <a:xfrm>
            <a:off x="4400000" y="1660000"/>
            <a:ext cx="1950000" cy="380000"/>
          </a:xfrm>
          <a:prstGeom prst="roundRect">
            <a:avLst/>
          </a:prstGeom>
          <a:solidFill>
            <a:srgbClr val="1B4332"/>
          </a:solidFill>
          <a:ln w="19050">
            <a:solidFill>
              <a:srgbClr val="70AD4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A5D6A7"/>
                </a:solidFill>
              </a:rPr>
              <a:t>InventoryReserved</a:t>
            </a:r>
          </a:p>
        </p:txBody>
      </p:sp>
      <p:sp>
        <p:nvSpPr>
          <p:cNvPr id="23" name="evt3"/>
          <p:cNvSpPr/>
          <p:nvPr/>
        </p:nvSpPr>
        <p:spPr>
          <a:xfrm>
            <a:off x="6550000" y="1660000"/>
            <a:ext cx="1950000" cy="380000"/>
          </a:xfrm>
          <a:prstGeom prst="roundRect">
            <a:avLst/>
          </a:prstGeom>
          <a:solidFill>
            <a:srgbClr val="1B4332"/>
          </a:solidFill>
          <a:ln w="19050">
            <a:solidFill>
              <a:srgbClr val="70AD4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A5D6A7"/>
                </a:solidFill>
              </a:rPr>
              <a:t>ShippingCompleted</a:t>
            </a:r>
          </a:p>
        </p:txBody>
      </p:sp>
      <p:sp>
        <p:nvSpPr>
          <p:cNvPr id="40" name="div"/>
          <p:cNvSpPr/>
          <p:nvPr/>
        </p:nvSpPr>
        <p:spPr>
          <a:xfrm>
            <a:off x="200000" y="2220000"/>
            <a:ext cx="8700000" cy="50000"/>
          </a:xfrm>
          <a:prstGeom prst="rect">
            <a:avLst/>
          </a:prstGeom>
          <a:solidFill>
            <a:srgbClr val="2A3A5E"/>
          </a:solidFill>
        </p:spPr>
        <p:txBody>
          <a:bodyPr/>
          <a:lstStyle/>
          <a:p>
            <a:endParaRPr/>
          </a:p>
        </p:txBody>
      </p:sp>
      <p:sp>
        <p:nvSpPr>
          <p:cNvPr id="50" name="pros"/>
          <p:cNvSpPr txBox="1"/>
          <p:nvPr/>
        </p:nvSpPr>
        <p:spPr>
          <a:xfrm>
            <a:off x="200000" y="2350000"/>
            <a:ext cx="4200000" cy="2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600" b="1" dirty="0">
                <a:solidFill>
                  <a:srgbClr val="70AD47"/>
                </a:solidFill>
              </a:rPr>
              <a:t>✔  Pros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No central coordinator — loosely coupled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Add services by subscribing to events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No single point of failure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Natural fit for event-driven architecture</a:t>
            </a:r>
          </a:p>
        </p:txBody>
      </p:sp>
      <p:sp>
        <p:nvSpPr>
          <p:cNvPr id="51" name="cons"/>
          <p:cNvSpPr txBox="1"/>
          <p:nvPr/>
        </p:nvSpPr>
        <p:spPr>
          <a:xfrm>
            <a:off x="4700000" y="2350000"/>
            <a:ext cx="4200000" cy="2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600" b="1" dirty="0">
                <a:solidFill>
                  <a:srgbClr val="FF5252"/>
                </a:solidFill>
              </a:rPr>
              <a:t>✘  Cons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Hard to track overall transaction state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Business logic scattered — hard to debug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Cyclic dependency risk between services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Compensating transactions still required</a:t>
            </a:r>
          </a:p>
        </p:txBody>
      </p:sp>
    </p:spTree>
    <p:extLst>
      <p:ext uri="{BB962C8B-B14F-4D97-AF65-F5344CB8AC3E}">
        <p14:creationId xmlns:p14="http://schemas.microsoft.com/office/powerpoint/2010/main" val="806941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457200" y="160000"/>
            <a:ext cx="86868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Saga: Orchestration</a:t>
            </a:r>
          </a:p>
        </p:txBody>
      </p:sp>
      <p:sp>
        <p:nvSpPr>
          <p:cNvPr id="10" name="orch"/>
          <p:cNvSpPr/>
          <p:nvPr/>
        </p:nvSpPr>
        <p:spPr>
          <a:xfrm>
            <a:off x="3272000" y="900000"/>
            <a:ext cx="2600000" cy="520000"/>
          </a:xfrm>
          <a:prstGeom prst="roundRect">
            <a:avLst/>
          </a:prstGeom>
          <a:solidFill>
            <a:srgbClr val="4A2060"/>
          </a:solidFill>
          <a:ln w="28000">
            <a:solidFill>
              <a:srgbClr val="CE93D8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Saga Orchestrator</a:t>
            </a:r>
          </a:p>
          <a:p>
            <a:pPr algn="ctr">
              <a:buNone/>
            </a:pPr>
            <a:r>
              <a:rPr lang="en-US" sz="1200" dirty="0">
                <a:solidFill>
                  <a:srgbClr val="CE93D8"/>
                </a:solidFill>
              </a:rPr>
              <a:t>(StateMachine)</a:t>
            </a:r>
          </a:p>
        </p:txBody>
      </p:sp>
      <p:sp>
        <p:nvSpPr>
          <p:cNvPr id="20" name="svc0"/>
          <p:cNvSpPr/>
          <p:nvPr/>
        </p:nvSpPr>
        <p:spPr>
          <a:xfrm>
            <a:off x="722000" y="2170000"/>
            <a:ext cx="1700000" cy="46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 Service</a:t>
            </a:r>
          </a:p>
        </p:txBody>
      </p:sp>
      <p:sp>
        <p:nvSpPr>
          <p:cNvPr id="21" name="svc1"/>
          <p:cNvSpPr/>
          <p:nvPr/>
        </p:nvSpPr>
        <p:spPr>
          <a:xfrm>
            <a:off x="2722000" y="2170000"/>
            <a:ext cx="1700000" cy="46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Payment Service</a:t>
            </a:r>
          </a:p>
        </p:txBody>
      </p:sp>
      <p:sp>
        <p:nvSpPr>
          <p:cNvPr id="22" name="svc2"/>
          <p:cNvSpPr/>
          <p:nvPr/>
        </p:nvSpPr>
        <p:spPr>
          <a:xfrm>
            <a:off x="4722000" y="2170000"/>
            <a:ext cx="1700000" cy="46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Inventory Service</a:t>
            </a:r>
          </a:p>
        </p:txBody>
      </p:sp>
      <p:sp>
        <p:nvSpPr>
          <p:cNvPr id="23" name="svc3"/>
          <p:cNvSpPr/>
          <p:nvPr/>
        </p:nvSpPr>
        <p:spPr>
          <a:xfrm>
            <a:off x="6722000" y="2170000"/>
            <a:ext cx="1700000" cy="460000"/>
          </a:xfrm>
          <a:prstGeom prst="roundRect">
            <a:avLst/>
          </a:prstGeom>
          <a:solidFill>
            <a:srgbClr val="1E3A5F"/>
          </a:solidFill>
          <a:ln w="2286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Shipping Service</a:t>
            </a:r>
          </a:p>
        </p:txBody>
      </p:sp>
      <p:sp>
        <p:nvSpPr>
          <p:cNvPr id="100" name="vline_orch"/>
          <p:cNvSpPr/>
          <p:nvPr/>
        </p:nvSpPr>
        <p:spPr>
          <a:xfrm>
            <a:off x="4555000" y="1420000"/>
            <a:ext cx="35000" cy="350000"/>
          </a:xfrm>
          <a:prstGeom prst="rect">
            <a:avLst/>
          </a:prstGeom>
          <a:solidFill>
            <a:srgbClr val="CE93D8"/>
          </a:solidFill>
        </p:spPr>
        <p:txBody>
          <a:bodyPr/>
          <a:lstStyle/>
          <a:p>
            <a:endParaRPr/>
          </a:p>
        </p:txBody>
      </p:sp>
      <p:sp>
        <p:nvSpPr>
          <p:cNvPr id="101" name="hbus"/>
          <p:cNvSpPr/>
          <p:nvPr/>
        </p:nvSpPr>
        <p:spPr>
          <a:xfrm>
            <a:off x="1555000" y="1770000"/>
            <a:ext cx="6035000" cy="35000"/>
          </a:xfrm>
          <a:prstGeom prst="rect">
            <a:avLst/>
          </a:prstGeom>
          <a:solidFill>
            <a:srgbClr val="CE93D8"/>
          </a:solidFill>
        </p:spPr>
        <p:txBody>
          <a:bodyPr/>
          <a:lstStyle/>
          <a:p>
            <a:endParaRPr/>
          </a:p>
        </p:txBody>
      </p:sp>
      <p:sp>
        <p:nvSpPr>
          <p:cNvPr id="110" name="vline0"/>
          <p:cNvSpPr/>
          <p:nvPr/>
        </p:nvSpPr>
        <p:spPr>
          <a:xfrm>
            <a:off x="1555000" y="1805000"/>
            <a:ext cx="35000" cy="365000"/>
          </a:xfrm>
          <a:prstGeom prst="rect">
            <a:avLst/>
          </a:prstGeom>
          <a:solidFill>
            <a:srgbClr val="CE93D8"/>
          </a:solidFill>
        </p:spPr>
        <p:txBody>
          <a:bodyPr/>
          <a:lstStyle/>
          <a:p>
            <a:endParaRPr/>
          </a:p>
        </p:txBody>
      </p:sp>
      <p:sp>
        <p:nvSpPr>
          <p:cNvPr id="111" name="vline1"/>
          <p:cNvSpPr/>
          <p:nvPr/>
        </p:nvSpPr>
        <p:spPr>
          <a:xfrm>
            <a:off x="3555000" y="1805000"/>
            <a:ext cx="35000" cy="365000"/>
          </a:xfrm>
          <a:prstGeom prst="rect">
            <a:avLst/>
          </a:prstGeom>
          <a:solidFill>
            <a:srgbClr val="CE93D8"/>
          </a:solidFill>
        </p:spPr>
        <p:txBody>
          <a:bodyPr/>
          <a:lstStyle/>
          <a:p>
            <a:endParaRPr/>
          </a:p>
        </p:txBody>
      </p:sp>
      <p:sp>
        <p:nvSpPr>
          <p:cNvPr id="112" name="vline2"/>
          <p:cNvSpPr/>
          <p:nvPr/>
        </p:nvSpPr>
        <p:spPr>
          <a:xfrm>
            <a:off x="5555000" y="1805000"/>
            <a:ext cx="35000" cy="365000"/>
          </a:xfrm>
          <a:prstGeom prst="rect">
            <a:avLst/>
          </a:prstGeom>
          <a:solidFill>
            <a:srgbClr val="CE93D8"/>
          </a:solidFill>
        </p:spPr>
        <p:txBody>
          <a:bodyPr/>
          <a:lstStyle/>
          <a:p>
            <a:endParaRPr/>
          </a:p>
        </p:txBody>
      </p:sp>
      <p:sp>
        <p:nvSpPr>
          <p:cNvPr id="113" name="vline3"/>
          <p:cNvSpPr/>
          <p:nvPr/>
        </p:nvSpPr>
        <p:spPr>
          <a:xfrm>
            <a:off x="7555000" y="1805000"/>
            <a:ext cx="35000" cy="365000"/>
          </a:xfrm>
          <a:prstGeom prst="rect">
            <a:avLst/>
          </a:prstGeom>
          <a:solidFill>
            <a:srgbClr val="CE93D8"/>
          </a:solidFill>
        </p:spPr>
        <p:txBody>
          <a:bodyPr/>
          <a:lstStyle/>
          <a:p>
            <a:endParaRPr/>
          </a:p>
        </p:txBody>
      </p:sp>
      <p:sp>
        <p:nvSpPr>
          <p:cNvPr id="40" name="div"/>
          <p:cNvSpPr/>
          <p:nvPr/>
        </p:nvSpPr>
        <p:spPr>
          <a:xfrm>
            <a:off x="200000" y="2930000"/>
            <a:ext cx="8700000" cy="45000"/>
          </a:xfrm>
          <a:prstGeom prst="rect">
            <a:avLst/>
          </a:prstGeom>
          <a:solidFill>
            <a:srgbClr val="2A3A5E"/>
          </a:solidFill>
        </p:spPr>
        <p:txBody>
          <a:bodyPr/>
          <a:lstStyle/>
          <a:p>
            <a:endParaRPr/>
          </a:p>
        </p:txBody>
      </p:sp>
      <p:sp>
        <p:nvSpPr>
          <p:cNvPr id="50" name="pros"/>
          <p:cNvSpPr txBox="1"/>
          <p:nvPr/>
        </p:nvSpPr>
        <p:spPr>
          <a:xfrm>
            <a:off x="200000" y="3090000"/>
            <a:ext cx="4250000" cy="360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0AD47"/>
                </a:solidFill>
              </a:rPr>
              <a:t>✔  Pros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Centralized control — easy to track state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Clear business flow in one place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Easier debugging — audit trail in state machine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MassTransit StateMachine built-in support</a:t>
            </a:r>
          </a:p>
        </p:txBody>
      </p:sp>
      <p:sp>
        <p:nvSpPr>
          <p:cNvPr id="51" name="cons"/>
          <p:cNvSpPr txBox="1"/>
          <p:nvPr/>
        </p:nvSpPr>
        <p:spPr>
          <a:xfrm>
            <a:off x="4700000" y="3090000"/>
            <a:ext cx="4250000" cy="360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5252"/>
                </a:solidFill>
              </a:rPr>
              <a:t>✘  Cons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Orchestrator is a single point of failure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Tighter coupling — services know orchestrator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More complex initial setup</a:t>
            </a:r>
          </a:p>
          <a:p>
            <a:pPr marL="342900" indent="-342900"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Risk of orchestrator becoming a bottleneck</a:t>
            </a:r>
          </a:p>
        </p:txBody>
      </p:sp>
    </p:spTree>
    <p:extLst>
      <p:ext uri="{BB962C8B-B14F-4D97-AF65-F5344CB8AC3E}">
        <p14:creationId xmlns:p14="http://schemas.microsoft.com/office/powerpoint/2010/main" val="2500244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3AD8-40F9-9701-A58D-CB591F1F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Sagas &amp; State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D2EEF-A6B0-8DAF-6F12-BF5052F7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Sagas manage long-running, multi-step distributed processes
Each saga instance is identified by a unique </a:t>
            </a:r>
            <a:r>
              <a:rPr lang="en-US" sz="1500" dirty="0" err="1"/>
              <a:t>CorrelationId</a:t>
            </a:r>
            <a:r>
              <a:rPr lang="en-US" sz="1500" dirty="0"/>
              <a:t> (</a:t>
            </a:r>
            <a:r>
              <a:rPr lang="en-US" sz="1500" dirty="0" err="1"/>
              <a:t>Guid</a:t>
            </a:r>
            <a:r>
              <a:rPr lang="en-US" sz="1500" dirty="0"/>
              <a:t>)
Two styles:
     Consumer Saga — class implements </a:t>
            </a:r>
            <a:r>
              <a:rPr lang="en-US" sz="1500" dirty="0" err="1"/>
              <a:t>ISaga</a:t>
            </a:r>
            <a:r>
              <a:rPr lang="en-US" sz="1500" dirty="0"/>
              <a:t> + handler interfaces
     State Machine Saga — class derives from </a:t>
            </a:r>
            <a:r>
              <a:rPr lang="en-US" sz="1500" dirty="0" err="1"/>
              <a:t>MassTransitStateMachine</a:t>
            </a:r>
            <a:r>
              <a:rPr lang="en-US" sz="1500" dirty="0"/>
              <a:t>&lt;T&gt;
State machine components:
     States — conditions (Initial, Submitted, Processing, Final)
     Events — messages that trigger transitions
     Behaviors — actions executed on event receipt
Saga persistence: In-Memory (dev), EF Core, MongoDB, Redis, Marten
Outbox is strongly recommended for sagas to avoid concurrency issues
Built-in: fault tolerance, state visibility, loose coupling,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1483933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0000" y="60000"/>
            <a:ext cx="8744000" cy="5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Saga Example: Order Flow</a:t>
            </a:r>
          </a:p>
        </p:txBody>
      </p:sp>
      <p:sp>
        <p:nvSpPr>
          <p:cNvPr id="10" name="hp0"/>
          <p:cNvSpPr/>
          <p:nvPr/>
        </p:nvSpPr>
        <p:spPr>
          <a:xfrm>
            <a:off x="200000" y="680000"/>
            <a:ext cx="1476800" cy="380000"/>
          </a:xfrm>
          <a:prstGeom prst="roundRect">
            <a:avLst/>
          </a:prstGeom>
          <a:solidFill>
            <a:srgbClr val="FF8C00">
              <a:alpha val="15000"/>
            </a:srgbClr>
          </a:solidFill>
          <a:ln w="2286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SubmitOrder</a:t>
            </a:r>
          </a:p>
        </p:txBody>
      </p:sp>
      <p:sp>
        <p:nvSpPr>
          <p:cNvPr id="20" name="ar0"/>
          <p:cNvSpPr/>
          <p:nvPr/>
        </p:nvSpPr>
        <p:spPr>
          <a:xfrm>
            <a:off x="1736800" y="770000"/>
            <a:ext cx="22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hp1"/>
          <p:cNvSpPr/>
          <p:nvPr/>
        </p:nvSpPr>
        <p:spPr>
          <a:xfrm>
            <a:off x="2016800" y="680000"/>
            <a:ext cx="1476800" cy="380000"/>
          </a:xfrm>
          <a:prstGeom prst="roundRect">
            <a:avLst/>
          </a:prstGeom>
          <a:solidFill>
            <a:srgbClr val="FF8C00">
              <a:alpha val="15000"/>
            </a:srgbClr>
          </a:solidFill>
          <a:ln w="2286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ReserveInventory</a:t>
            </a:r>
          </a:p>
        </p:txBody>
      </p:sp>
      <p:sp>
        <p:nvSpPr>
          <p:cNvPr id="21" name="ar1"/>
          <p:cNvSpPr/>
          <p:nvPr/>
        </p:nvSpPr>
        <p:spPr>
          <a:xfrm>
            <a:off x="3553600" y="770000"/>
            <a:ext cx="22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hp2"/>
          <p:cNvSpPr/>
          <p:nvPr/>
        </p:nvSpPr>
        <p:spPr>
          <a:xfrm>
            <a:off x="3833600" y="680000"/>
            <a:ext cx="1476800" cy="380000"/>
          </a:xfrm>
          <a:prstGeom prst="roundRect">
            <a:avLst/>
          </a:prstGeom>
          <a:solidFill>
            <a:srgbClr val="FF8C00">
              <a:alpha val="15000"/>
            </a:srgbClr>
          </a:solidFill>
          <a:ln w="2286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ProcessPayment</a:t>
            </a:r>
          </a:p>
        </p:txBody>
      </p:sp>
      <p:sp>
        <p:nvSpPr>
          <p:cNvPr id="22" name="ar2"/>
          <p:cNvSpPr/>
          <p:nvPr/>
        </p:nvSpPr>
        <p:spPr>
          <a:xfrm>
            <a:off x="5370400" y="770000"/>
            <a:ext cx="22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hp3"/>
          <p:cNvSpPr/>
          <p:nvPr/>
        </p:nvSpPr>
        <p:spPr>
          <a:xfrm>
            <a:off x="5650400" y="680000"/>
            <a:ext cx="1476800" cy="380000"/>
          </a:xfrm>
          <a:prstGeom prst="roundRect">
            <a:avLst/>
          </a:prstGeom>
          <a:solidFill>
            <a:srgbClr val="FF8C00">
              <a:alpha val="15000"/>
            </a:srgbClr>
          </a:solidFill>
          <a:ln w="2286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CreateShipment</a:t>
            </a:r>
          </a:p>
        </p:txBody>
      </p:sp>
      <p:sp>
        <p:nvSpPr>
          <p:cNvPr id="23" name="ar3"/>
          <p:cNvSpPr/>
          <p:nvPr/>
        </p:nvSpPr>
        <p:spPr>
          <a:xfrm>
            <a:off x="7187200" y="770000"/>
            <a:ext cx="22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hp4"/>
          <p:cNvSpPr/>
          <p:nvPr/>
        </p:nvSpPr>
        <p:spPr>
          <a:xfrm>
            <a:off x="7467200" y="680000"/>
            <a:ext cx="1476800" cy="380000"/>
          </a:xfrm>
          <a:prstGeom prst="roundRect">
            <a:avLst/>
          </a:prstGeom>
          <a:solidFill>
            <a:srgbClr val="4CAF50">
              <a:alpha val="15000"/>
            </a:srgbClr>
          </a:solidFill>
          <a:ln w="22860">
            <a:solidFill>
              <a:srgbClr val="4CAF5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4CAF50"/>
                </a:solidFill>
              </a:rPr>
              <a:t>Shipped ✓</a:t>
            </a:r>
          </a:p>
        </p:txBody>
      </p:sp>
      <p:sp>
        <p:nvSpPr>
          <p:cNvPr id="30" name="fl1"/>
          <p:cNvSpPr/>
          <p:nvPr/>
        </p:nvSpPr>
        <p:spPr>
          <a:xfrm>
            <a:off x="6371800" y="1060000"/>
            <a:ext cx="35000" cy="160000"/>
          </a:xfrm>
          <a:prstGeom prst="rect">
            <a:avLst/>
          </a:prstGeom>
          <a:solidFill>
            <a:srgbClr val="FF5252"/>
          </a:solidFill>
        </p:spPr>
        <p:txBody>
          <a:bodyPr/>
          <a:lstStyle/>
          <a:p>
            <a:endParaRPr/>
          </a:p>
        </p:txBody>
      </p:sp>
      <p:sp>
        <p:nvSpPr>
          <p:cNvPr id="31" name="sfbox"/>
          <p:cNvSpPr/>
          <p:nvPr/>
        </p:nvSpPr>
        <p:spPr>
          <a:xfrm>
            <a:off x="5650400" y="1220000"/>
            <a:ext cx="1476800" cy="320000"/>
          </a:xfrm>
          <a:prstGeom prst="roundRect">
            <a:avLst/>
          </a:prstGeom>
          <a:solidFill>
            <a:srgbClr val="FF5252">
              <a:alpha val="15000"/>
            </a:srgbClr>
          </a:solidFill>
          <a:ln w="22860">
            <a:solidFill>
              <a:srgbClr val="FF525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ShipmentFailed</a:t>
            </a:r>
          </a:p>
        </p:txBody>
      </p:sp>
      <p:sp>
        <p:nvSpPr>
          <p:cNvPr id="32" name="fl2"/>
          <p:cNvSpPr/>
          <p:nvPr/>
        </p:nvSpPr>
        <p:spPr>
          <a:xfrm>
            <a:off x="6371800" y="1540000"/>
            <a:ext cx="35000" cy="2000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endParaRPr/>
          </a:p>
        </p:txBody>
      </p:sp>
      <p:sp>
        <p:nvSpPr>
          <p:cNvPr id="33" name="hb1"/>
          <p:cNvSpPr/>
          <p:nvPr/>
        </p:nvSpPr>
        <p:spPr>
          <a:xfrm>
            <a:off x="4555000" y="1740000"/>
            <a:ext cx="1851800" cy="350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endParaRPr/>
          </a:p>
        </p:txBody>
      </p:sp>
      <p:sp>
        <p:nvSpPr>
          <p:cNvPr id="34" name="fl3"/>
          <p:cNvSpPr/>
          <p:nvPr/>
        </p:nvSpPr>
        <p:spPr>
          <a:xfrm>
            <a:off x="4555000" y="1775000"/>
            <a:ext cx="35000" cy="450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endParaRPr/>
          </a:p>
        </p:txBody>
      </p:sp>
      <p:sp>
        <p:nvSpPr>
          <p:cNvPr id="35" name="rp"/>
          <p:cNvSpPr/>
          <p:nvPr/>
        </p:nvSpPr>
        <p:spPr>
          <a:xfrm>
            <a:off x="3833600" y="1820000"/>
            <a:ext cx="1476800" cy="320000"/>
          </a:xfrm>
          <a:prstGeom prst="roundRect">
            <a:avLst/>
          </a:prstGeom>
          <a:solidFill>
            <a:srgbClr val="FF8C00">
              <a:alpha val="15000"/>
            </a:srgbClr>
          </a:solidFill>
          <a:ln w="2286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RefundPayment</a:t>
            </a:r>
          </a:p>
        </p:txBody>
      </p:sp>
      <p:sp>
        <p:nvSpPr>
          <p:cNvPr id="38" name="fl4"/>
          <p:cNvSpPr/>
          <p:nvPr/>
        </p:nvSpPr>
        <p:spPr>
          <a:xfrm>
            <a:off x="4555000" y="2140000"/>
            <a:ext cx="35000" cy="2000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endParaRPr/>
          </a:p>
        </p:txBody>
      </p:sp>
      <p:sp>
        <p:nvSpPr>
          <p:cNvPr id="39" name="hb2"/>
          <p:cNvSpPr/>
          <p:nvPr/>
        </p:nvSpPr>
        <p:spPr>
          <a:xfrm>
            <a:off x="2738200" y="2340000"/>
            <a:ext cx="1851800" cy="350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endParaRPr/>
          </a:p>
        </p:txBody>
      </p:sp>
      <p:sp>
        <p:nvSpPr>
          <p:cNvPr id="40" name="fl5"/>
          <p:cNvSpPr/>
          <p:nvPr/>
        </p:nvSpPr>
        <p:spPr>
          <a:xfrm>
            <a:off x="2738200" y="2375000"/>
            <a:ext cx="35000" cy="450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endParaRPr/>
          </a:p>
        </p:txBody>
      </p:sp>
      <p:sp>
        <p:nvSpPr>
          <p:cNvPr id="41" name="ri"/>
          <p:cNvSpPr/>
          <p:nvPr/>
        </p:nvSpPr>
        <p:spPr>
          <a:xfrm>
            <a:off x="2016800" y="2420000"/>
            <a:ext cx="1476800" cy="320000"/>
          </a:xfrm>
          <a:prstGeom prst="roundRect">
            <a:avLst/>
          </a:prstGeom>
          <a:solidFill>
            <a:srgbClr val="FF8C00">
              <a:alpha val="15000"/>
            </a:srgbClr>
          </a:solidFill>
          <a:ln w="2286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ReleaseInventory</a:t>
            </a:r>
          </a:p>
        </p:txBody>
      </p:sp>
      <p:sp>
        <p:nvSpPr>
          <p:cNvPr id="43" name="fail"/>
          <p:cNvSpPr/>
          <p:nvPr/>
        </p:nvSpPr>
        <p:spPr>
          <a:xfrm>
            <a:off x="7467200" y="2420000"/>
            <a:ext cx="1476800" cy="320000"/>
          </a:xfrm>
          <a:prstGeom prst="roundRect">
            <a:avLst/>
          </a:prstGeom>
          <a:solidFill>
            <a:srgbClr val="FF5252">
              <a:alpha val="15000"/>
            </a:srgbClr>
          </a:solidFill>
          <a:ln w="22860">
            <a:solidFill>
              <a:srgbClr val="FF525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Failed ✗</a:t>
            </a:r>
          </a:p>
        </p:txBody>
      </p:sp>
      <p:sp>
        <p:nvSpPr>
          <p:cNvPr id="44" name="hfl"/>
          <p:cNvSpPr/>
          <p:nvPr/>
        </p:nvSpPr>
        <p:spPr>
          <a:xfrm>
            <a:off x="3573600" y="2563000"/>
            <a:ext cx="3693600" cy="35000"/>
          </a:xfrm>
          <a:prstGeom prst="rect">
            <a:avLst/>
          </a:prstGeom>
          <a:solidFill>
            <a:srgbClr val="FF5252"/>
          </a:solidFill>
        </p:spPr>
        <p:txBody>
          <a:bodyPr/>
          <a:lstStyle/>
          <a:p>
            <a:endParaRPr/>
          </a:p>
        </p:txBody>
      </p:sp>
      <p:sp>
        <p:nvSpPr>
          <p:cNvPr id="45" name="tfa"/>
          <p:cNvSpPr/>
          <p:nvPr/>
        </p:nvSpPr>
        <p:spPr>
          <a:xfrm>
            <a:off x="7267200" y="2480000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div"/>
          <p:cNvSpPr/>
          <p:nvPr/>
        </p:nvSpPr>
        <p:spPr>
          <a:xfrm>
            <a:off x="200000" y="2840000"/>
            <a:ext cx="8744000" cy="35000"/>
          </a:xfrm>
          <a:prstGeom prst="rect">
            <a:avLst/>
          </a:prstGeom>
          <a:solidFill>
            <a:srgbClr val="2A3A5E"/>
          </a:solidFill>
        </p:spPr>
        <p:txBody>
          <a:bodyPr/>
          <a:lstStyle/>
          <a:p>
            <a:endParaRPr/>
          </a:p>
        </p:txBody>
      </p:sp>
      <p:sp>
        <p:nvSpPr>
          <p:cNvPr id="47" name="codelbl"/>
          <p:cNvSpPr txBox="1"/>
          <p:nvPr/>
        </p:nvSpPr>
        <p:spPr>
          <a:xfrm>
            <a:off x="200000" y="2920000"/>
            <a:ext cx="4000000" cy="2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200" b="1" dirty="0">
                <a:solidFill>
                  <a:srgbClr val="FF8C00"/>
                </a:solidFill>
              </a:rPr>
              <a:t>MassTransit StateMachine (C#)</a:t>
            </a:r>
          </a:p>
        </p:txBody>
      </p:sp>
      <p:sp>
        <p:nvSpPr>
          <p:cNvPr id="48" name="cbg"/>
          <p:cNvSpPr/>
          <p:nvPr/>
        </p:nvSpPr>
        <p:spPr>
          <a:xfrm>
            <a:off x="200000" y="3200000"/>
            <a:ext cx="8744000" cy="3578000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/>
          </a:p>
        </p:txBody>
      </p:sp>
      <p:sp>
        <p:nvSpPr>
          <p:cNvPr id="49" name="c1"/>
          <p:cNvSpPr txBox="1"/>
          <p:nvPr/>
        </p:nvSpPr>
        <p:spPr>
          <a:xfrm>
            <a:off x="400000" y="3300000"/>
            <a:ext cx="4072000" cy="337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public class OrderStateMachine :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/>
              </a:rPr>
              <a:t>  MassTransitStateMachine&lt;OrderState&gt;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marL="0" indent="0">
              <a:lnSpc>
                <a:spcPts val="1200"/>
              </a:lnSpc>
              <a:buNone/>
            </a:pPr>
            <a:endParaRPr lang="en-US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/>
              </a:rPr>
              <a:t>  // States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State Reserved;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State PaymentProcessed;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State Compensating;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State Failed;</a:t>
            </a:r>
          </a:p>
          <a:p>
            <a:pPr marL="0" indent="0">
              <a:lnSpc>
                <a:spcPts val="1200"/>
              </a:lnSpc>
              <a:buNone/>
            </a:pPr>
            <a:endParaRPr lang="en-US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/>
              </a:rPr>
              <a:t>  // Events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Event&lt;SubmitOrder&gt;       SubmitOrder;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Event&lt;InventoryReserved&gt; Inventory;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Event&lt;PaymentProcessed&gt;  Payment;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Event&lt;ShipmentFailed&gt;    ShipFailed;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Event&lt;PaymentRefunded&gt;   Refunded;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/>
              </a:rPr>
              <a:t>  public Event&lt;InventoryReleased&gt; Released;</a:t>
            </a:r>
          </a:p>
        </p:txBody>
      </p:sp>
      <p:sp>
        <p:nvSpPr>
          <p:cNvPr id="50" name="c2"/>
          <p:cNvSpPr txBox="1"/>
          <p:nvPr/>
        </p:nvSpPr>
        <p:spPr>
          <a:xfrm>
            <a:off x="4672000" y="3300000"/>
            <a:ext cx="4072000" cy="337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During(Initial,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When(SubmitOrder)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.Publish(ctx =&gt; new ReserveInventory(...))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.TransitionTo(Reserved));</a:t>
            </a:r>
          </a:p>
          <a:p>
            <a:pPr marL="0" indent="0">
              <a:lnSpc>
                <a:spcPts val="1200"/>
              </a:lnSpc>
              <a:buNone/>
            </a:pP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During(Reserved,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When(InventoryReserved)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.Publish(ctx =&gt; new ProcessPayment(...))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.TransitionTo(PaymentProcessed));</a:t>
            </a:r>
          </a:p>
          <a:p>
            <a:pPr marL="0" indent="0">
              <a:lnSpc>
                <a:spcPts val="1200"/>
              </a:lnSpc>
              <a:buNone/>
            </a:pP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During(PaymentProcessed,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When(ShipmentFailed)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.Publish(ctx =&gt; new RefundPayment(...))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.TransitionTo(Compensating));</a:t>
            </a:r>
          </a:p>
          <a:p>
            <a:pPr marL="0" indent="0">
              <a:lnSpc>
                <a:spcPts val="1200"/>
              </a:lnSpc>
              <a:buNone/>
            </a:pP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During(Compensating,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When(PaymentRefunded)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.Publish(ctx =&gt; new ReleaseInventory(...)),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When(InventoryReleased)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.TransitionTo(Failed)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/>
              </a:rPr>
              <a:t>      .Finalize());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5466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tl"/>
          <p:cNvSpPr txBox="1"/>
          <p:nvPr/>
        </p:nvSpPr>
        <p:spPr>
          <a:xfrm>
            <a:off x="177800" y="101600"/>
            <a:ext cx="8788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Outbox Pattern — Fixing Saga Crash Consistency</a:t>
            </a:r>
          </a:p>
        </p:txBody>
      </p:sp>
      <p:sp>
        <p:nvSpPr>
          <p:cNvPr id="2" name="h1"/>
          <p:cNvSpPr txBox="1"/>
          <p:nvPr/>
        </p:nvSpPr>
        <p:spPr>
          <a:xfrm>
            <a:off x="177800" y="533400"/>
            <a:ext cx="4279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b="1" dirty="0">
                <a:solidFill>
                  <a:srgbClr val="FF5252"/>
                </a:solidFill>
              </a:rPr>
              <a:t>Problem — Without Outbox</a:t>
            </a:r>
          </a:p>
        </p:txBody>
      </p:sp>
      <p:sp>
        <p:nvSpPr>
          <p:cNvPr id="3" name="h2"/>
          <p:cNvSpPr txBox="1"/>
          <p:nvPr/>
        </p:nvSpPr>
        <p:spPr>
          <a:xfrm>
            <a:off x="4686300" y="533400"/>
            <a:ext cx="4279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400" b="1" dirty="0">
                <a:solidFill>
                  <a:srgbClr val="4CAF50"/>
                </a:solidFill>
              </a:rPr>
              <a:t>Solution — With Outbox</a:t>
            </a:r>
          </a:p>
        </p:txBody>
      </p:sp>
      <p:sp>
        <p:nvSpPr>
          <p:cNvPr id="4" name="dv"/>
          <p:cNvSpPr/>
          <p:nvPr/>
        </p:nvSpPr>
        <p:spPr>
          <a:xfrm>
            <a:off x="4546600" y="889000"/>
            <a:ext cx="50800" cy="4064000"/>
          </a:xfrm>
          <a:prstGeom prst="rect">
            <a:avLst/>
          </a:prstGeom>
          <a:solidFill>
            <a:srgbClr val="2A3A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b0"/>
          <p:cNvSpPr/>
          <p:nvPr/>
        </p:nvSpPr>
        <p:spPr>
          <a:xfrm>
            <a:off x="304800" y="889000"/>
            <a:ext cx="4025900" cy="508000"/>
          </a:xfrm>
          <a:prstGeom prst="roundRect">
            <a:avLst/>
          </a:prstGeom>
          <a:solidFill>
            <a:srgbClr val="1A3A5A">
              <a:alpha val="30000"/>
            </a:srgbClr>
          </a:solidFill>
          <a:ln w="19050">
            <a:solidFill>
              <a:srgbClr val="4FC3F7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4FC3F7"/>
                </a:solidFill>
              </a:rPr>
              <a:t>1. Receive InventoryReserved</a:t>
            </a:r>
          </a:p>
        </p:txBody>
      </p:sp>
      <p:sp>
        <p:nvSpPr>
          <p:cNvPr id="20" name="la0"/>
          <p:cNvSpPr/>
          <p:nvPr/>
        </p:nvSpPr>
        <p:spPr>
          <a:xfrm>
            <a:off x="2279650" y="1397000"/>
            <a:ext cx="76200" cy="127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ah0"/>
          <p:cNvSpPr/>
          <p:nvPr/>
        </p:nvSpPr>
        <p:spPr>
          <a:xfrm>
            <a:off x="2241550" y="1473200"/>
            <a:ext cx="152400" cy="1016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b1"/>
          <p:cNvSpPr/>
          <p:nvPr/>
        </p:nvSpPr>
        <p:spPr>
          <a:xfrm>
            <a:off x="304800" y="1574800"/>
            <a:ext cx="4025900" cy="508000"/>
          </a:xfrm>
          <a:prstGeom prst="roundRect">
            <a:avLst/>
          </a:prstGeom>
          <a:solidFill>
            <a:srgbClr val="1A3A1A">
              <a:alpha val="30000"/>
            </a:srgbClr>
          </a:solidFill>
          <a:ln w="19050">
            <a:solidFill>
              <a:srgbClr val="4CAF5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2. UPDATE DB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   CurrentState = WaitingForPayment ✓</a:t>
            </a:r>
          </a:p>
        </p:txBody>
      </p:sp>
      <p:sp>
        <p:nvSpPr>
          <p:cNvPr id="21" name="la1"/>
          <p:cNvSpPr/>
          <p:nvPr/>
        </p:nvSpPr>
        <p:spPr>
          <a:xfrm>
            <a:off x="2279650" y="2082800"/>
            <a:ext cx="76200" cy="127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h1"/>
          <p:cNvSpPr/>
          <p:nvPr/>
        </p:nvSpPr>
        <p:spPr>
          <a:xfrm>
            <a:off x="2241550" y="2159000"/>
            <a:ext cx="152400" cy="1016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lb2"/>
          <p:cNvSpPr/>
          <p:nvPr/>
        </p:nvSpPr>
        <p:spPr>
          <a:xfrm>
            <a:off x="304800" y="2260600"/>
            <a:ext cx="4025900" cy="508000"/>
          </a:xfrm>
          <a:prstGeom prst="roundRect">
            <a:avLst/>
          </a:prstGeom>
          <a:solidFill>
            <a:srgbClr val="3A1010">
              <a:alpha val="30000"/>
            </a:srgbClr>
          </a:solidFill>
          <a:ln w="19050">
            <a:solidFill>
              <a:srgbClr val="FF525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3.  ✷  CRASH  ✷</a:t>
            </a:r>
          </a:p>
        </p:txBody>
      </p:sp>
      <p:sp>
        <p:nvSpPr>
          <p:cNvPr id="22" name="la2"/>
          <p:cNvSpPr/>
          <p:nvPr/>
        </p:nvSpPr>
        <p:spPr>
          <a:xfrm>
            <a:off x="2279650" y="2768600"/>
            <a:ext cx="76200" cy="1270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ah2"/>
          <p:cNvSpPr/>
          <p:nvPr/>
        </p:nvSpPr>
        <p:spPr>
          <a:xfrm>
            <a:off x="2241550" y="2844800"/>
            <a:ext cx="152400" cy="1016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lb3"/>
          <p:cNvSpPr/>
          <p:nvPr/>
        </p:nvSpPr>
        <p:spPr>
          <a:xfrm>
            <a:off x="304800" y="2946400"/>
            <a:ext cx="4025900" cy="508000"/>
          </a:xfrm>
          <a:prstGeom prst="roundRect">
            <a:avLst/>
          </a:prstGeom>
          <a:solidFill>
            <a:srgbClr val="3A1010">
              <a:alpha val="30000"/>
            </a:srgbClr>
          </a:solidFill>
          <a:ln w="19050">
            <a:solidFill>
              <a:srgbClr val="FF525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4. Publish(RequestPayment)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   ✗ NEVER EXECUTES</a:t>
            </a:r>
          </a:p>
        </p:txBody>
      </p:sp>
      <p:sp>
        <p:nvSpPr>
          <p:cNvPr id="24" name="rst"/>
          <p:cNvSpPr txBox="1"/>
          <p:nvPr/>
        </p:nvSpPr>
        <p:spPr>
          <a:xfrm>
            <a:off x="177800" y="3632200"/>
            <a:ext cx="42799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050" dirty="0">
                <a:solidFill>
                  <a:srgbClr val="708090"/>
                </a:solidFill>
              </a:rPr>
              <a:t>─── SagaHost restarts ───</a:t>
            </a:r>
          </a:p>
        </p:txBody>
      </p:sp>
      <p:sp>
        <p:nvSpPr>
          <p:cNvPr id="30" name="lb20"/>
          <p:cNvSpPr/>
          <p:nvPr/>
        </p:nvSpPr>
        <p:spPr>
          <a:xfrm>
            <a:off x="304800" y="3962400"/>
            <a:ext cx="4025900" cy="508000"/>
          </a:xfrm>
          <a:prstGeom prst="roundRect">
            <a:avLst/>
          </a:prstGeom>
          <a:solidFill>
            <a:srgbClr val="3A2000">
              <a:alpha val="30000"/>
            </a:srgbClr>
          </a:solidFill>
          <a:ln w="1905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8C00"/>
                </a:solidFill>
              </a:rPr>
              <a:t>5. RabbitMQ redelivers InventoryReserved</a:t>
            </a:r>
          </a:p>
        </p:txBody>
      </p:sp>
      <p:sp>
        <p:nvSpPr>
          <p:cNvPr id="40" name="la20"/>
          <p:cNvSpPr/>
          <p:nvPr/>
        </p:nvSpPr>
        <p:spPr>
          <a:xfrm>
            <a:off x="2279650" y="4470400"/>
            <a:ext cx="76200" cy="1270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ah20"/>
          <p:cNvSpPr/>
          <p:nvPr/>
        </p:nvSpPr>
        <p:spPr>
          <a:xfrm>
            <a:off x="2241550" y="4546600"/>
            <a:ext cx="152400" cy="1016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lb21"/>
          <p:cNvSpPr/>
          <p:nvPr/>
        </p:nvSpPr>
        <p:spPr>
          <a:xfrm>
            <a:off x="304800" y="4648200"/>
            <a:ext cx="4025900" cy="508000"/>
          </a:xfrm>
          <a:prstGeom prst="roundRect">
            <a:avLst/>
          </a:prstGeom>
          <a:solidFill>
            <a:srgbClr val="3A1010">
              <a:alpha val="30000"/>
            </a:srgbClr>
          </a:solidFill>
          <a:ln w="19050">
            <a:solidFill>
              <a:srgbClr val="FF525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6. DB = WaitingForPayment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   During(Submitted,..) → NO MATCH</a:t>
            </a:r>
          </a:p>
        </p:txBody>
      </p:sp>
      <p:sp>
        <p:nvSpPr>
          <p:cNvPr id="41" name="la21"/>
          <p:cNvSpPr/>
          <p:nvPr/>
        </p:nvSpPr>
        <p:spPr>
          <a:xfrm>
            <a:off x="2279650" y="5156200"/>
            <a:ext cx="76200" cy="1270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ah21"/>
          <p:cNvSpPr/>
          <p:nvPr/>
        </p:nvSpPr>
        <p:spPr>
          <a:xfrm>
            <a:off x="2241550" y="5232400"/>
            <a:ext cx="152400" cy="1016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b22"/>
          <p:cNvSpPr/>
          <p:nvPr/>
        </p:nvSpPr>
        <p:spPr>
          <a:xfrm>
            <a:off x="304800" y="5334000"/>
            <a:ext cx="4025900" cy="508000"/>
          </a:xfrm>
          <a:prstGeom prst="roundRect">
            <a:avLst/>
          </a:prstGeom>
          <a:solidFill>
            <a:srgbClr val="3A1010">
              <a:alpha val="30000"/>
            </a:srgbClr>
          </a:solidFill>
          <a:ln w="19050">
            <a:solidFill>
              <a:srgbClr val="FF5252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7. Message dropped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FF5252"/>
                </a:solidFill>
              </a:rPr>
              <a:t>   Order stuck forever 🔴</a:t>
            </a:r>
          </a:p>
        </p:txBody>
      </p:sp>
      <p:sp>
        <p:nvSpPr>
          <p:cNvPr id="59" name="txnbg"/>
          <p:cNvSpPr/>
          <p:nvPr/>
        </p:nvSpPr>
        <p:spPr>
          <a:xfrm>
            <a:off x="4686300" y="838200"/>
            <a:ext cx="4279900" cy="2260600"/>
          </a:xfrm>
          <a:prstGeom prst="rect">
            <a:avLst/>
          </a:prstGeom>
          <a:solidFill>
            <a:srgbClr val="14281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l"/>
          <p:cNvSpPr txBox="1"/>
          <p:nvPr/>
        </p:nvSpPr>
        <p:spPr>
          <a:xfrm>
            <a:off x="4787900" y="850900"/>
            <a:ext cx="40767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000" b="1" dirty="0">
                <a:solidFill>
                  <a:srgbClr val="4CAF50"/>
                </a:solidFill>
              </a:rPr>
              <a:t>BEGIN TRANSACTION</a:t>
            </a:r>
          </a:p>
        </p:txBody>
      </p:sp>
      <p:sp>
        <p:nvSpPr>
          <p:cNvPr id="70" name="rb0"/>
          <p:cNvSpPr/>
          <p:nvPr/>
        </p:nvSpPr>
        <p:spPr>
          <a:xfrm>
            <a:off x="4813300" y="889000"/>
            <a:ext cx="4025900" cy="508000"/>
          </a:xfrm>
          <a:prstGeom prst="roundRect">
            <a:avLst/>
          </a:prstGeom>
          <a:solidFill>
            <a:srgbClr val="1A3A1A">
              <a:alpha val="30000"/>
            </a:srgbClr>
          </a:solidFill>
          <a:ln w="19050">
            <a:solidFill>
              <a:srgbClr val="4CAF5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UPDATE order_states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CurrentState = 'WaitingForPayment'</a:t>
            </a:r>
          </a:p>
        </p:txBody>
      </p:sp>
      <p:sp>
        <p:nvSpPr>
          <p:cNvPr id="80" name="ra0"/>
          <p:cNvSpPr/>
          <p:nvPr/>
        </p:nvSpPr>
        <p:spPr>
          <a:xfrm>
            <a:off x="6788150" y="1397000"/>
            <a:ext cx="76200" cy="127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rh0"/>
          <p:cNvSpPr/>
          <p:nvPr/>
        </p:nvSpPr>
        <p:spPr>
          <a:xfrm>
            <a:off x="6750050" y="1473200"/>
            <a:ext cx="152400" cy="10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rb1"/>
          <p:cNvSpPr/>
          <p:nvPr/>
        </p:nvSpPr>
        <p:spPr>
          <a:xfrm>
            <a:off x="4813300" y="1574800"/>
            <a:ext cx="4025900" cy="508000"/>
          </a:xfrm>
          <a:prstGeom prst="roundRect">
            <a:avLst/>
          </a:prstGeom>
          <a:solidFill>
            <a:srgbClr val="1A3A1A">
              <a:alpha val="30000"/>
            </a:srgbClr>
          </a:solidFill>
          <a:ln w="19050">
            <a:solidFill>
              <a:srgbClr val="4CAF5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INSERT INTO outbox_messages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payload = RequestPayment</a:t>
            </a:r>
          </a:p>
        </p:txBody>
      </p:sp>
      <p:sp>
        <p:nvSpPr>
          <p:cNvPr id="81" name="ra1"/>
          <p:cNvSpPr/>
          <p:nvPr/>
        </p:nvSpPr>
        <p:spPr>
          <a:xfrm>
            <a:off x="6788150" y="2082800"/>
            <a:ext cx="76200" cy="127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rh1"/>
          <p:cNvSpPr/>
          <p:nvPr/>
        </p:nvSpPr>
        <p:spPr>
          <a:xfrm>
            <a:off x="6750050" y="2159000"/>
            <a:ext cx="152400" cy="10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rb2"/>
          <p:cNvSpPr/>
          <p:nvPr/>
        </p:nvSpPr>
        <p:spPr>
          <a:xfrm>
            <a:off x="4813300" y="2260600"/>
            <a:ext cx="4025900" cy="508000"/>
          </a:xfrm>
          <a:prstGeom prst="roundRect">
            <a:avLst/>
          </a:prstGeom>
          <a:solidFill>
            <a:srgbClr val="1A3A1A">
              <a:alpha val="30000"/>
            </a:srgbClr>
          </a:solidFill>
          <a:ln w="19050">
            <a:solidFill>
              <a:srgbClr val="4CAF5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COMMIT  ✓  (atomic — both or neither)</a:t>
            </a:r>
          </a:p>
        </p:txBody>
      </p:sp>
      <p:sp>
        <p:nvSpPr>
          <p:cNvPr id="89" name="dh"/>
          <p:cNvSpPr txBox="1"/>
          <p:nvPr/>
        </p:nvSpPr>
        <p:spPr>
          <a:xfrm>
            <a:off x="4686300" y="3200400"/>
            <a:ext cx="42799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en-US" sz="1100" b="1" dirty="0">
                <a:solidFill>
                  <a:srgbClr val="FF8C00"/>
                </a:solidFill>
              </a:rPr>
              <a:t>Outbox Dispatcher (on restart):</a:t>
            </a:r>
          </a:p>
        </p:txBody>
      </p:sp>
      <p:sp>
        <p:nvSpPr>
          <p:cNvPr id="90" name="db0"/>
          <p:cNvSpPr/>
          <p:nvPr/>
        </p:nvSpPr>
        <p:spPr>
          <a:xfrm>
            <a:off x="4813300" y="3530600"/>
            <a:ext cx="4025900" cy="508000"/>
          </a:xfrm>
          <a:prstGeom prst="roundRect">
            <a:avLst/>
          </a:prstGeom>
          <a:solidFill>
            <a:srgbClr val="3A2000">
              <a:alpha val="30000"/>
            </a:srgbClr>
          </a:solidFill>
          <a:ln w="1905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8C00"/>
                </a:solidFill>
              </a:rPr>
              <a:t>Read pending outbox rows</a:t>
            </a:r>
          </a:p>
        </p:txBody>
      </p:sp>
      <p:sp>
        <p:nvSpPr>
          <p:cNvPr id="95" name="da0"/>
          <p:cNvSpPr/>
          <p:nvPr/>
        </p:nvSpPr>
        <p:spPr>
          <a:xfrm>
            <a:off x="6788150" y="4038600"/>
            <a:ext cx="76200" cy="127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dh0"/>
          <p:cNvSpPr/>
          <p:nvPr/>
        </p:nvSpPr>
        <p:spPr>
          <a:xfrm>
            <a:off x="6750050" y="4114800"/>
            <a:ext cx="152400" cy="10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db1"/>
          <p:cNvSpPr/>
          <p:nvPr/>
        </p:nvSpPr>
        <p:spPr>
          <a:xfrm>
            <a:off x="4813300" y="4216400"/>
            <a:ext cx="4025900" cy="508000"/>
          </a:xfrm>
          <a:prstGeom prst="roundRect">
            <a:avLst/>
          </a:prstGeom>
          <a:solidFill>
            <a:srgbClr val="3A2000">
              <a:alpha val="30000"/>
            </a:srgbClr>
          </a:solidFill>
          <a:ln w="19050">
            <a:solidFill>
              <a:srgbClr val="FF8C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FF8C00"/>
                </a:solidFill>
              </a:rPr>
              <a:t>Publish RequestPayment → RabbitMQ</a:t>
            </a:r>
          </a:p>
          <a:p>
            <a:pPr algn="ctr">
              <a:buNone/>
            </a:pPr>
            <a:r>
              <a:rPr lang="en-US" sz="1050" b="1" dirty="0">
                <a:solidFill>
                  <a:srgbClr val="FF8C00"/>
                </a:solidFill>
              </a:rPr>
              <a:t>Delete from outbox</a:t>
            </a:r>
          </a:p>
        </p:txBody>
      </p:sp>
      <p:sp>
        <p:nvSpPr>
          <p:cNvPr id="96" name="da1"/>
          <p:cNvSpPr/>
          <p:nvPr/>
        </p:nvSpPr>
        <p:spPr>
          <a:xfrm>
            <a:off x="6788150" y="4724400"/>
            <a:ext cx="76200" cy="127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" name="dh1"/>
          <p:cNvSpPr/>
          <p:nvPr/>
        </p:nvSpPr>
        <p:spPr>
          <a:xfrm>
            <a:off x="6750050" y="4800600"/>
            <a:ext cx="152400" cy="10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db2"/>
          <p:cNvSpPr/>
          <p:nvPr/>
        </p:nvSpPr>
        <p:spPr>
          <a:xfrm>
            <a:off x="4813300" y="4902200"/>
            <a:ext cx="4025900" cy="508000"/>
          </a:xfrm>
          <a:prstGeom prst="roundRect">
            <a:avLst/>
          </a:prstGeom>
          <a:solidFill>
            <a:srgbClr val="1A3A1A">
              <a:alpha val="30000"/>
            </a:srgbClr>
          </a:solidFill>
          <a:ln w="19050">
            <a:solidFill>
              <a:srgbClr val="4CAF5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50" b="1" dirty="0">
                <a:solidFill>
                  <a:srgbClr val="4CAF50"/>
                </a:solidFill>
              </a:rPr>
              <a:t>DB state + message in sync  ✅</a:t>
            </a:r>
          </a:p>
        </p:txBody>
      </p:sp>
      <p:sp>
        <p:nvSpPr>
          <p:cNvPr id="200" name="sum1"/>
          <p:cNvSpPr txBox="1"/>
          <p:nvPr/>
        </p:nvSpPr>
        <p:spPr>
          <a:xfrm>
            <a:off x="177800" y="5867400"/>
            <a:ext cx="4279900" cy="889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F5252"/>
            </a:solidFill>
          </a:ln>
        </p:spPr>
        <p:txBody>
          <a:bodyPr wrap="square" anchor="ctr"/>
          <a:lstStyle/>
          <a:p>
            <a:pPr marL="60000" indent="-60000" algn="l">
              <a:buNone/>
            </a:pPr>
            <a:r>
              <a:rPr lang="en-US" sz="1100" dirty="0">
                <a:solidFill>
                  <a:srgbClr val="FF9090"/>
                </a:solidFill>
              </a:rPr>
              <a:t>❌ Crash before publish:</a:t>
            </a:r>
          </a:p>
          <a:p>
            <a:pPr marL="60000" indent="-6000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F9090"/>
                </a:solidFill>
              </a:rPr>
              <a:t>    DB committed, message never sent</a:t>
            </a:r>
          </a:p>
          <a:p>
            <a:pPr marL="60000" indent="-6000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F9090"/>
                </a:solidFill>
              </a:rPr>
              <a:t>    State = WaitingForPayment but</a:t>
            </a:r>
          </a:p>
          <a:p>
            <a:pPr marL="60000" indent="-6000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F9090"/>
                </a:solidFill>
              </a:rPr>
              <a:t>    no payment requested → stuck forever</a:t>
            </a:r>
          </a:p>
        </p:txBody>
      </p:sp>
      <p:sp>
        <p:nvSpPr>
          <p:cNvPr id="201" name="sum2"/>
          <p:cNvSpPr txBox="1"/>
          <p:nvPr/>
        </p:nvSpPr>
        <p:spPr>
          <a:xfrm>
            <a:off x="4686300" y="5867400"/>
            <a:ext cx="4279900" cy="889000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</a:ln>
        </p:spPr>
        <p:txBody>
          <a:bodyPr wrap="square" anchor="ctr"/>
          <a:lstStyle/>
          <a:p>
            <a:pPr marL="60000" indent="-60000" algn="l">
              <a:buNone/>
            </a:pPr>
            <a:r>
              <a:rPr lang="en-US" sz="1100" dirty="0">
                <a:solidFill>
                  <a:srgbClr val="90EE90"/>
                </a:solidFill>
              </a:rPr>
              <a:t>✅ Outbox atomicity guarantee:</a:t>
            </a:r>
          </a:p>
          <a:p>
            <a:pPr marL="60000" indent="-6000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90EE90"/>
                </a:solidFill>
              </a:rPr>
              <a:t>    Crash before COMMIT → nothing happens</a:t>
            </a:r>
          </a:p>
          <a:p>
            <a:pPr marL="60000" indent="-6000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90EE90"/>
                </a:solidFill>
              </a:rPr>
              <a:t>    Crash after COMMIT → dispatcher sends</a:t>
            </a:r>
          </a:p>
          <a:p>
            <a:pPr marL="60000" indent="-6000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90EE90"/>
                </a:solidFill>
              </a:rPr>
              <a:t>    Crash during send → retry from outbox</a:t>
            </a:r>
          </a:p>
        </p:txBody>
      </p:sp>
    </p:spTree>
    <p:extLst>
      <p:ext uri="{BB962C8B-B14F-4D97-AF65-F5344CB8AC3E}">
        <p14:creationId xmlns:p14="http://schemas.microsoft.com/office/powerpoint/2010/main" val="3954143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4669-C632-D03E-B378-36C1726E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State Machine Example: Order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EF61-0AF6-44F9-DFFF-33269698A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000"/>
            <a:ext cx="10515600" cy="46355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public class OrderStateMachine : MassTransitStateMachine&lt;OrderState&gt;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{</a:t>
            </a:r>
          </a:p>
          <a:p>
            <a:pPr>
              <a:buNone/>
            </a:pPr>
            <a:r>
              <a:rPr lang="en-US" sz="1200" dirty="0">
                <a:solidFill>
                  <a:srgbClr val="4A90D9"/>
                </a:solidFill>
                <a:latin typeface="Cascadia Code"/>
              </a:rPr>
              <a:t>  public State </a:t>
            </a:r>
            <a:r>
              <a:rPr lang="en-US" sz="1200" dirty="0">
                <a:solidFill>
                  <a:srgbClr val="00C9A7"/>
                </a:solidFill>
                <a:latin typeface="Cascadia Code"/>
              </a:rPr>
              <a:t>Submitted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 { get; private set; }</a:t>
            </a:r>
          </a:p>
          <a:p>
            <a:pPr>
              <a:buNone/>
            </a:pPr>
            <a:r>
              <a:rPr lang="en-US" sz="1200" dirty="0">
                <a:solidFill>
                  <a:srgbClr val="4A90D9"/>
                </a:solidFill>
                <a:latin typeface="Cascadia Code"/>
              </a:rPr>
              <a:t>  public Event&lt;OrderSubmitted&gt; </a:t>
            </a:r>
            <a:r>
              <a:rPr lang="en-US" sz="1200" dirty="0">
                <a:solidFill>
                  <a:srgbClr val="00C9A7"/>
                </a:solidFill>
                <a:latin typeface="Cascadia Code"/>
              </a:rPr>
              <a:t>OrderSubmitted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 { get; private set; }</a:t>
            </a:r>
          </a:p>
          <a:p>
            <a:pPr>
              <a:buNone/>
            </a:pPr>
            <a:r>
              <a:rPr lang="en-US" sz="1200" dirty="0">
                <a:solidFill>
                  <a:srgbClr val="4A90D9"/>
                </a:solidFill>
                <a:latin typeface="Cascadia Code"/>
              </a:rPr>
              <a:t>  public Event&lt;PaymentProcessed&gt; </a:t>
            </a:r>
            <a:r>
              <a:rPr lang="en-US" sz="1200" dirty="0">
                <a:solidFill>
                  <a:srgbClr val="00C9A7"/>
                </a:solidFill>
                <a:latin typeface="Cascadia Code"/>
              </a:rPr>
              <a:t>PaymentProcessed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 { get; private set; }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public OrderStateMachine() {</a:t>
            </a:r>
          </a:p>
          <a:p>
            <a:pPr>
              <a:buNone/>
            </a:pPr>
            <a:r>
              <a:rPr lang="en-US" sz="1200" dirty="0">
                <a:solidFill>
                  <a:srgbClr val="F7B731"/>
                </a:solidFill>
                <a:latin typeface="Cascadia Code"/>
              </a:rPr>
              <a:t>    Event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(() =&gt; OrderSubmitted, x =&gt; x.CorrelateById(m =&gt; m.Message.OrderId));</a:t>
            </a:r>
          </a:p>
          <a:p>
            <a:pPr>
              <a:buNone/>
            </a:pPr>
            <a:r>
              <a:rPr lang="en-US" sz="1200" dirty="0">
                <a:solidFill>
                  <a:srgbClr val="F7B731"/>
                </a:solidFill>
                <a:latin typeface="Cascadia Code"/>
              </a:rPr>
              <a:t>    Initially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(When(OrderSubmitted).TransitionTo(Submitted));</a:t>
            </a:r>
          </a:p>
          <a:p>
            <a:pPr>
              <a:buNone/>
            </a:pPr>
            <a:r>
              <a:rPr lang="en-US" sz="1200" dirty="0">
                <a:solidFill>
                  <a:srgbClr val="F7B731"/>
                </a:solidFill>
                <a:latin typeface="Cascadia Code"/>
              </a:rPr>
              <a:t>    During</a:t>
            </a:r>
            <a:r>
              <a:rPr lang="en-US" sz="1200" dirty="0">
                <a:solidFill>
                  <a:srgbClr val="E8EDF2"/>
                </a:solidFill>
                <a:latin typeface="Cascadia Code"/>
              </a:rPr>
              <a:t>(Submitted,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    When(PaymentProcessed).TransitionTo(Processing),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      When(OrderFailed).Finalize()); }</a:t>
            </a:r>
          </a:p>
          <a:p>
            <a:pPr>
              <a:buNone/>
            </a:pPr>
            <a:r>
              <a:rPr lang="en-US" sz="1200" dirty="0">
                <a:solidFill>
                  <a:srgbClr val="E8EDF2"/>
                </a:solidFill>
                <a:latin typeface="Cascadia Cod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0097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706E-28A1-1F6E-7A84-FBDD6DB2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Configuration &amp;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A51AE-665F-4063-8EC4-24A41AF52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300" dirty="0">
                <a:solidFill>
                  <a:srgbClr val="F7B731"/>
                </a:solidFill>
                <a:latin typeface="Cascadia Code"/>
              </a:rPr>
              <a:t>// 1. Install NuGet packages</a:t>
            </a:r>
          </a:p>
          <a:p>
            <a:pPr>
              <a:buNone/>
            </a:pPr>
            <a:r>
              <a:rPr lang="en-US" sz="1300" dirty="0">
                <a:solidFill>
                  <a:srgbClr val="00C9A7"/>
                </a:solidFill>
                <a:latin typeface="Cascadia Code"/>
              </a:rPr>
              <a:t>dotnet add package MassTransit.RabbitMQ</a:t>
            </a:r>
          </a:p>
          <a:p>
            <a:pPr>
              <a:spcBef>
                <a:spcPts val="800"/>
              </a:spcBef>
              <a:buNone/>
            </a:pPr>
            <a:r>
              <a:rPr lang="en-US" sz="1300" dirty="0">
                <a:solidFill>
                  <a:srgbClr val="F7B731"/>
                </a:solidFill>
                <a:latin typeface="Cascadia Code"/>
              </a:rPr>
              <a:t>// 2. Register in Program.cs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builder.Services.AddMassTransit(x =&gt;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{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x.AddConsumer&lt;OrderSubmittedConsumer&gt;();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x.AddSagaStateMachine&lt;OrderStateMachine, OrderState&gt;()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  .InMemoryRepository();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x.UsingRabbitMq((ctx, cfg) =&gt;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{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  cfg.Host("localhost", "/", h =&gt; { h.Username("guest"); h.Password("guest"); });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  cfg.UseMessageRetry(r =&gt; r.Interval(3, 5000));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  cfg.UseInMemoryOutbox();  cfg.ConfigureEndpoints(ctx);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  });</a:t>
            </a:r>
          </a:p>
          <a:p>
            <a:pPr>
              <a:buNone/>
            </a:pPr>
            <a:r>
              <a:rPr lang="en-US" sz="1300" dirty="0">
                <a:solidFill>
                  <a:srgbClr val="E8EDF2"/>
                </a:solidFill>
                <a:latin typeface="Cascadia Code"/>
              </a:rPr>
              <a:t>});</a:t>
            </a:r>
          </a:p>
          <a:p>
            <a:pPr>
              <a:spcBef>
                <a:spcPts val="800"/>
              </a:spcBef>
              <a:buNone/>
            </a:pPr>
            <a:r>
              <a:rPr lang="en-US" sz="1300" dirty="0">
                <a:solidFill>
                  <a:srgbClr val="F7B731"/>
                </a:solidFill>
                <a:latin typeface="Cascadia Code"/>
              </a:rPr>
              <a:t>// Docker: docker run -p 15672:15672 -p 5672:5672 masstransit/rabbitmq</a:t>
            </a:r>
          </a:p>
        </p:txBody>
      </p:sp>
    </p:spTree>
    <p:extLst>
      <p:ext uri="{BB962C8B-B14F-4D97-AF65-F5344CB8AC3E}">
        <p14:creationId xmlns:p14="http://schemas.microsoft.com/office/powerpoint/2010/main" val="1965683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A587-C45B-1C4B-3936-8C9FBA5B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D8309-C09D-37EB-0A79-A6FDFAE72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Isolate message contracts in a shared assembly — ensures publisher/consumer consistency
Register </a:t>
            </a:r>
            <a:r>
              <a:rPr lang="en-US" sz="1500" dirty="0" err="1"/>
              <a:t>MassTransit</a:t>
            </a:r>
            <a:r>
              <a:rPr lang="en-US" sz="1500" dirty="0"/>
              <a:t> as a singleton — prevents duplicate RabbitMQ connections
Design thoughtful exchange/queue topology — avoid routing everything to one queue
Implement dead-letter queues — gracefully handle poison messages
Use durable queues and publish confirmations — enhance reliability
Use Outbox for sagas — prevents concurrency and lost-message issues
Always set </a:t>
            </a:r>
            <a:r>
              <a:rPr lang="en-US" sz="1500" dirty="0" err="1"/>
              <a:t>CorrelationId</a:t>
            </a:r>
            <a:r>
              <a:rPr lang="en-US" sz="1500" dirty="0"/>
              <a:t> as the primary key on saga tables — optimizes performance
Start listeners before publishing events — or use durable queues from day one
Prefer </a:t>
            </a:r>
            <a:r>
              <a:rPr lang="en-US" sz="1500" dirty="0" err="1"/>
              <a:t>ConfigureEndpoints</a:t>
            </a:r>
            <a:r>
              <a:rPr lang="en-US" sz="1500" dirty="0"/>
              <a:t>() — auto-discovers consumers, sagas, and activities
Use the built-in test harness for unit testing consumers and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2596154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09600" y="0"/>
            <a:ext cx="115824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778240" y="3657600"/>
            <a:ext cx="4876800" cy="4876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10363200" y="-975360"/>
            <a:ext cx="3413760" cy="341376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975360" y="1097280"/>
            <a:ext cx="2438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975360" y="109728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dirty="0">
                <a:solidFill>
                  <a:srgbClr val="0F172A"/>
                </a:solidFill>
              </a:rPr>
              <a:t>MASSTRANSIT SETUP</a:t>
            </a:r>
            <a:endParaRPr lang="en-US" sz="1133" dirty="0"/>
          </a:p>
        </p:txBody>
      </p:sp>
      <p:sp>
        <p:nvSpPr>
          <p:cNvPr id="8" name="Text 6"/>
          <p:cNvSpPr/>
          <p:nvPr/>
        </p:nvSpPr>
        <p:spPr>
          <a:xfrm>
            <a:off x="975360" y="168249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FFFFFF"/>
                </a:solidFill>
                <a:latin typeface="Calibri" pitchFamily="34" charset="0"/>
              </a:rPr>
              <a:t>Using NuGet to</a:t>
            </a:r>
            <a:endParaRPr lang="en-US" sz="5067" dirty="0"/>
          </a:p>
        </p:txBody>
      </p:sp>
      <p:sp>
        <p:nvSpPr>
          <p:cNvPr id="9" name="Text 7"/>
          <p:cNvSpPr/>
          <p:nvPr/>
        </p:nvSpPr>
        <p:spPr>
          <a:xfrm>
            <a:off x="975360" y="249936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FFFFFF"/>
                </a:solidFill>
                <a:latin typeface="Calibri" pitchFamily="34" charset="0"/>
              </a:rPr>
              <a:t>Bootstrap</a:t>
            </a:r>
            <a:endParaRPr lang="en-US" sz="5067" dirty="0"/>
          </a:p>
        </p:txBody>
      </p:sp>
      <p:sp>
        <p:nvSpPr>
          <p:cNvPr id="10" name="Text 8"/>
          <p:cNvSpPr/>
          <p:nvPr/>
        </p:nvSpPr>
        <p:spPr>
          <a:xfrm>
            <a:off x="975360" y="331622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2DD4BF"/>
                </a:solidFill>
                <a:latin typeface="Calibri" pitchFamily="34" charset="0"/>
              </a:rPr>
              <a:t>MassTransit</a:t>
            </a:r>
            <a:endParaRPr lang="en-US" sz="5067" dirty="0"/>
          </a:p>
        </p:txBody>
      </p:sp>
      <p:sp>
        <p:nvSpPr>
          <p:cNvPr id="11" name="Text 9"/>
          <p:cNvSpPr/>
          <p:nvPr/>
        </p:nvSpPr>
        <p:spPr>
          <a:xfrm>
            <a:off x="975360" y="432816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94A3B8"/>
                </a:solidFill>
              </a:rPr>
              <a:t>One package install · No manual copying · Consistent across all projects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975360" y="4974336"/>
            <a:ext cx="7315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975360" y="5145024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64748B"/>
                </a:solidFill>
              </a:rPr>
              <a:t>2026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074086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AGENDA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09600" y="1609344"/>
            <a:ext cx="34747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1609344"/>
            <a:ext cx="85344" cy="20482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1755648"/>
            <a:ext cx="792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9056" y="2499360"/>
            <a:ext cx="307238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</a:rPr>
              <a:t>What is NuGet?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9056" y="2950464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Package manager for .NET, repository types &amp; concepts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4364736" y="1609344"/>
            <a:ext cx="34747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364736" y="1609344"/>
            <a:ext cx="85344" cy="20482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608576" y="1755648"/>
            <a:ext cx="792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84192" y="2499360"/>
            <a:ext cx="307238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</a:rPr>
              <a:t>Local NuGet Repository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4192" y="2950464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Create and register a local package feed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8119872" y="1609344"/>
            <a:ext cx="34747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8119872" y="1609344"/>
            <a:ext cx="85344" cy="20482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363712" y="1755648"/>
            <a:ext cx="792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39328" y="2499360"/>
            <a:ext cx="307238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</a:rPr>
              <a:t>GitHub Packages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9328" y="2950464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Host NuGet packages directly on GitHub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609600" y="3901440"/>
            <a:ext cx="34747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09600" y="3901440"/>
            <a:ext cx="85344" cy="2048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853440" y="4047744"/>
            <a:ext cx="792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29056" y="4791456"/>
            <a:ext cx="307238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</a:rPr>
              <a:t>Create a .NET Library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056" y="524256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Class library, project metadata &amp; target frameworks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4364736" y="3901440"/>
            <a:ext cx="34747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4364736" y="3901440"/>
            <a:ext cx="85344" cy="20482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4608576" y="4047744"/>
            <a:ext cx="792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584192" y="4791456"/>
            <a:ext cx="307238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</a:rPr>
              <a:t>Build &amp; Pack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84192" y="524256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dotnet pack, versioning &amp; .nupkg inspection</a:t>
            </a:r>
            <a:endParaRPr lang="en-US" sz="1267" dirty="0"/>
          </a:p>
        </p:txBody>
      </p:sp>
      <p:sp>
        <p:nvSpPr>
          <p:cNvPr id="31" name="Shape 29"/>
          <p:cNvSpPr/>
          <p:nvPr/>
        </p:nvSpPr>
        <p:spPr>
          <a:xfrm>
            <a:off x="8119872" y="3901440"/>
            <a:ext cx="34747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8119872" y="3901440"/>
            <a:ext cx="85344" cy="20482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8363712" y="4047744"/>
            <a:ext cx="792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339328" y="4791456"/>
            <a:ext cx="307238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</a:rPr>
              <a:t>Publish to GitHub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39328" y="524256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Authenticate, push &amp; verify your package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3437624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01 · NUGET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NuGet?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09600" y="1560576"/>
            <a:ext cx="682752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1560576"/>
            <a:ext cx="8534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1658112"/>
            <a:ext cx="633984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1E293B"/>
                </a:solidFill>
              </a:rPr>
              <a:t>NuGet is the official package manager for .NET. It enables developers to create, share, and consume reusable code libraries — similar to npm for Node.js or pip for Python.</a:t>
            </a:r>
          </a:p>
        </p:txBody>
      </p:sp>
      <p:sp>
        <p:nvSpPr>
          <p:cNvPr id="9" name="Shape 7"/>
          <p:cNvSpPr/>
          <p:nvPr/>
        </p:nvSpPr>
        <p:spPr>
          <a:xfrm>
            <a:off x="609600" y="30967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097280" y="304800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Package Format: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413760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</a:rPr>
              <a:t>.nupkg file containing compiled DLLs, XML docs &amp; metadata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609600" y="39502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97280" y="390144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Dependency Management: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267200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</a:rPr>
              <a:t>Automatically resolves and downloads transitive dependencies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09600" y="480364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Multiple Sources: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120640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</a:rPr>
              <a:t>nuget.org (public), GitHub Packages, Azure Artifacts, or local feed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09600" y="565708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097280" y="56083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.NET Toolchain: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5974080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</a:rPr>
              <a:t>Built into dotnet CLI, Visual Studio, MSBuild, and Rider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8229600" y="1560576"/>
            <a:ext cx="347472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229600" y="1682496"/>
            <a:ext cx="3474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300K+</a:t>
            </a:r>
            <a:endParaRPr lang="en-US" sz="4267" dirty="0"/>
          </a:p>
        </p:txBody>
      </p:sp>
      <p:sp>
        <p:nvSpPr>
          <p:cNvPr id="23" name="Text 21"/>
          <p:cNvSpPr/>
          <p:nvPr/>
        </p:nvSpPr>
        <p:spPr>
          <a:xfrm>
            <a:off x="8229600" y="2535936"/>
            <a:ext cx="347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Packages on nuget.org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229600" y="3243072"/>
            <a:ext cx="347472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8229600" y="3364992"/>
            <a:ext cx="3474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4267" dirty="0"/>
          </a:p>
        </p:txBody>
      </p:sp>
      <p:sp>
        <p:nvSpPr>
          <p:cNvPr id="26" name="Text 24"/>
          <p:cNvSpPr/>
          <p:nvPr/>
        </p:nvSpPr>
        <p:spPr>
          <a:xfrm>
            <a:off x="8229600" y="4218432"/>
            <a:ext cx="347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Year NuGet was released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8229600" y="4925568"/>
            <a:ext cx="347472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229600" y="5047488"/>
            <a:ext cx="3474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.nupkg</a:t>
            </a:r>
            <a:endParaRPr lang="en-US" sz="4267" dirty="0"/>
          </a:p>
        </p:txBody>
      </p:sp>
      <p:sp>
        <p:nvSpPr>
          <p:cNvPr id="29" name="Text 27"/>
          <p:cNvSpPr/>
          <p:nvPr/>
        </p:nvSpPr>
        <p:spPr>
          <a:xfrm>
            <a:off x="8229600" y="5900928"/>
            <a:ext cx="347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Package file format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1762417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02 · LOCAL FEED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Local NuGet Repository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600" y="152400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09600" y="1524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829056" y="1962912"/>
            <a:ext cx="0" cy="5608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243584" y="152400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Create a local folder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3584" y="1889760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341120" y="1901952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C:\LocalNuGet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609600" y="2523744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0960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829056" y="2962656"/>
            <a:ext cx="0" cy="5608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243584" y="252374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Register it as NuGet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3584" y="2889504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341120" y="2901696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nuget add source C:\LocalNuGet --name "LocalFeed"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609600" y="3523488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09600" y="3523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829056" y="3962400"/>
            <a:ext cx="0" cy="5608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243584" y="3523488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Verify registered sources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43584" y="3889248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341120" y="3901440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nuget list source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609600" y="4523232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09600" y="4523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6" name="Shape 24"/>
          <p:cNvSpPr/>
          <p:nvPr/>
        </p:nvSpPr>
        <p:spPr>
          <a:xfrm>
            <a:off x="829056" y="4962144"/>
            <a:ext cx="0" cy="5608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1243584" y="4523232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Copy .nupkg into the folder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43584" y="4888992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1341120" y="4901184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Place your .nupkg file inside C:\LocalNuGet</a:t>
            </a:r>
            <a:endParaRPr lang="en-US" sz="1267" dirty="0"/>
          </a:p>
        </p:txBody>
      </p:sp>
      <p:sp>
        <p:nvSpPr>
          <p:cNvPr id="30" name="Shape 28"/>
          <p:cNvSpPr/>
          <p:nvPr/>
        </p:nvSpPr>
        <p:spPr>
          <a:xfrm>
            <a:off x="609600" y="5522976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09600" y="5522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5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1243584" y="5522976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Install package from feed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43584" y="5888736"/>
            <a:ext cx="548640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1341120" y="5900928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MyLibrary --source "LocalFeed"</a:t>
            </a:r>
            <a:endParaRPr lang="en-US" sz="1267" dirty="0"/>
          </a:p>
        </p:txBody>
      </p:sp>
      <p:sp>
        <p:nvSpPr>
          <p:cNvPr id="35" name="Shape 33"/>
          <p:cNvSpPr/>
          <p:nvPr/>
        </p:nvSpPr>
        <p:spPr>
          <a:xfrm>
            <a:off x="7315200" y="1524000"/>
            <a:ext cx="4450080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7315200" y="1524000"/>
            <a:ext cx="85344" cy="4608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7583424" y="1731264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When to use a Local Feed?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83424" y="2255520"/>
            <a:ext cx="396240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64748B"/>
                </a:solidFill>
              </a:rPr>
              <a:t>Testing a package before publishing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64748B"/>
                </a:solidFill>
              </a:rPr>
              <a:t>No internet / air-gapped environments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64748B"/>
                </a:solidFill>
              </a:rPr>
              <a:t>Sharing packages within a small dev team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64748B"/>
                </a:solidFill>
              </a:rPr>
              <a:t>CI/CD pipeline build artifacts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64748B"/>
                </a:solidFill>
              </a:rPr>
              <a:t>Inner-loop development &amp; prototyping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64748B"/>
                </a:solidFill>
              </a:rPr>
              <a:t>Offline NuGet restore scenarios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609600" y="6364224"/>
            <a:ext cx="64617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731520" y="6376416"/>
            <a:ext cx="627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2400E"/>
                </a:solidFill>
              </a:rPr>
              <a:t>💡  NuGet.Config lives at %AppData%\NuGet\NuGet.Config (global) or per-solution nuget.config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16625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03 · GITHUB PACKAGES</a:t>
            </a:r>
            <a:endParaRPr lang="en-US" sz="1133" dirty="0"/>
          </a:p>
        </p:txBody>
      </p:sp>
      <p:sp>
        <p:nvSpPr>
          <p:cNvPr id="4" name="Text 2"/>
          <p:cNvSpPr/>
          <p:nvPr/>
        </p:nvSpPr>
        <p:spPr>
          <a:xfrm>
            <a:off x="609600" y="7071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GitHub Packages?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600" y="1463040"/>
            <a:ext cx="9753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94A3B8"/>
                </a:solidFill>
              </a:rPr>
              <a:t>A package hosting service fully integrated into your GitHub repository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" y="2011680"/>
            <a:ext cx="5486400" cy="1341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2011680"/>
            <a:ext cx="85344" cy="1341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29056" y="2133600"/>
            <a:ext cx="505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Multiple Package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9056" y="2560320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</a:rPr>
              <a:t>Supports NuGet, npm, Maven, RubyGems, Docker images and more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486400" cy="1341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85344" cy="1341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620256" y="2133600"/>
            <a:ext cx="505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Access Control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0256" y="2560320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</a:rPr>
              <a:t>Tied to GitHub repo permissions — private or public, same model as your 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" y="3572256"/>
            <a:ext cx="5486400" cy="1341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09600" y="3572256"/>
            <a:ext cx="85344" cy="1341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29056" y="3694176"/>
            <a:ext cx="505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Close to Source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056" y="4120896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</a:rPr>
              <a:t>Package lives next to the repo — same org, same permissions, same workflow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572256"/>
            <a:ext cx="5486400" cy="1341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400800" y="3572256"/>
            <a:ext cx="85344" cy="1341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620256" y="3694176"/>
            <a:ext cx="505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GitHub Actions Ready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0256" y="4120896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</a:rPr>
              <a:t>Publish directly from CI/CD pipeline using the built-in GITHUB_TOKEN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9600" y="5132832"/>
            <a:ext cx="5486400" cy="1341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609600" y="5132832"/>
            <a:ext cx="85344" cy="1341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29056" y="5254752"/>
            <a:ext cx="505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Free for Public Repos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056" y="5681472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</a:rPr>
              <a:t>Free unlimited storage &amp; bandwidth for public repos; quota for private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5132832"/>
            <a:ext cx="5486400" cy="1341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6400800" y="5132832"/>
            <a:ext cx="85344" cy="1341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620256" y="5254752"/>
            <a:ext cx="505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Registry URL Format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0256" y="5681472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</a:rPr>
              <a:t>https://nuget.pkg.github.com/{OWNER}/index.json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03 · SETUP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GitHub Packages for NuGet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600" y="1422400"/>
            <a:ext cx="5364480" cy="2097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1422400"/>
            <a:ext cx="85344" cy="20970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77824" y="1580895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</a:rPr>
              <a:t>Step 1 — Create a Personal Access Token (PAT)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877824" y="2117344"/>
            <a:ext cx="4754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</a:rPr>
              <a:t>1. GitHub → Settings → Developer settings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</a:rPr>
              <a:t>2. Personal access tokens → Tokens (classic)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</a:rPr>
              <a:t>3. Generate new token → select scopes:</a:t>
            </a:r>
            <a:endParaRPr lang="en-US" sz="1333" dirty="0"/>
          </a:p>
          <a:p>
            <a:r>
              <a:rPr lang="en-US" sz="1333" dirty="0">
                <a:solidFill>
                  <a:srgbClr val="64748B"/>
                </a:solidFill>
              </a:rPr>
              <a:t>      write:packages  read:packages  delete:packages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</a:rPr>
              <a:t>4. Copy and store your token securely!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217920" y="1422400"/>
            <a:ext cx="5425440" cy="2097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217920" y="1422400"/>
            <a:ext cx="85344" cy="20970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461760" y="1580895"/>
            <a:ext cx="4876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</a:rPr>
              <a:t>Step 2 — Add GitHub as NuGet Source</a:t>
            </a:r>
            <a:endParaRPr lang="en-US" sz="1533" dirty="0"/>
          </a:p>
        </p:txBody>
      </p:sp>
      <p:sp>
        <p:nvSpPr>
          <p:cNvPr id="13" name="Shape 11"/>
          <p:cNvSpPr/>
          <p:nvPr/>
        </p:nvSpPr>
        <p:spPr>
          <a:xfrm>
            <a:off x="6461760" y="2117344"/>
            <a:ext cx="4998720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461760" y="2117344"/>
            <a:ext cx="499872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571488" y="2178304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790944" y="2178304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7010400" y="2178304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608064" y="2385568"/>
            <a:ext cx="47304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nuget add source \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https://nuget.pkg.github.com/OWNER/index.json \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"github" \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--username YOUR_GITHUB_USERNAME \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--password YOUR_PAT_TOKEN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609600" y="3644900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Recommended for teams — use nuget.config file: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4064000"/>
            <a:ext cx="10972800" cy="241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09600" y="4064000"/>
            <a:ext cx="1097280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719328" y="4124960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938784" y="4124960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1158240" y="4124960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55904" y="4332224"/>
            <a:ext cx="10704576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&lt;?xml version="1.0" encoding="utf-8"?&gt;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&lt;configuration&gt;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&lt;packageSources&gt;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  &lt;add key="github"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       value="https://nuget.pkg.github.com/OWNER/index.json" /&gt;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&lt;/packageSources&gt;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&lt;packageSourceCredentials&gt;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  &lt;github&gt;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    &lt;add key="Username" value="GITHUB_USERNAME" /&gt;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    &lt;add key="ClearTextPassword" value="%GITHUB_TOKEN%" /&gt;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  &lt;/github&gt;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  &lt;/packageSourceCredentials&gt;</a:t>
            </a:r>
          </a:p>
          <a:p>
            <a:r>
              <a:rPr lang="en-US" sz="1100" dirty="0">
                <a:solidFill>
                  <a:srgbClr val="E6EDF3"/>
                </a:solidFill>
                <a:latin typeface="Consolas" pitchFamily="34" charset="0"/>
              </a:rPr>
              <a:t>&lt;/configuration&gt;</a:t>
            </a:r>
          </a:p>
        </p:txBody>
      </p:sp>
      <p:sp>
        <p:nvSpPr>
          <p:cNvPr id="26" name="Shape 24"/>
          <p:cNvSpPr/>
          <p:nvPr/>
        </p:nvSpPr>
        <p:spPr>
          <a:xfrm>
            <a:off x="609600" y="6489700"/>
            <a:ext cx="1097280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31520" y="6502400"/>
            <a:ext cx="10728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91B1B"/>
                </a:solidFill>
              </a:rPr>
              <a:t>⚠️  Never commit PAT tokens to source control — use environment variables or GitHub Secrets instead.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90705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04 · CREATE LIBRARY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.NET Class Library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14874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Step-by-Step Commands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1914144"/>
            <a:ext cx="5852160" cy="2865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1914144"/>
            <a:ext cx="585216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719328" y="1975104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938784" y="1975104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1158240" y="1975104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55904" y="2182368"/>
            <a:ext cx="5583936" cy="249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the class library project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new classlib -n MyAwesomeLib -f </a:t>
            </a:r>
            <a:r>
              <a:rPr lang="vi-VN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net10</a:t>
            </a:r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.0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Enter the project directory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MyAwesomeLib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(Recommended) Create a solution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new sln -n MyAwesomeLib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sln add MyAwesomeLib.csproj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Build to verify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build --configuration Release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6949440" y="1487424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Project Structure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6949440" y="1914144"/>
            <a:ext cx="4632960" cy="2865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949440" y="1914144"/>
            <a:ext cx="463296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7059168" y="1975104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7278624" y="1975104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7498080" y="1975104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095744" y="2182368"/>
            <a:ext cx="4364736" cy="249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MyAwesomeLib/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MyAwesomeLib.sln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MyAwesomeLib/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MyAwesomeLib.csproj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Class1.cs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bin/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Release/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└── net8.0/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├── MyAwesomeLib.dll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└── MyAwesomeLib.xml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09600" y="49743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Choosing the Right Target Framework: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609600" y="5462016"/>
            <a:ext cx="21945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09600" y="5462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vi-VN" sz="1333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net10</a:t>
            </a:r>
            <a:r>
              <a:rPr lang="en-US" sz="1333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.0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2987040" y="5462016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</a:rPr>
              <a:t>→  .NET 8 LTS — best for new projects; modern APIs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088692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04 · METADATA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Package Metadata in .csproj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1487424"/>
            <a:ext cx="670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MyAwesomeLib/MyAwesomeLib.csproj</a:t>
            </a:r>
            <a:endParaRPr lang="en-US" sz="1267" dirty="0"/>
          </a:p>
        </p:txBody>
      </p:sp>
      <p:sp>
        <p:nvSpPr>
          <p:cNvPr id="7" name="Shape 5"/>
          <p:cNvSpPr/>
          <p:nvPr/>
        </p:nvSpPr>
        <p:spPr>
          <a:xfrm>
            <a:off x="609600" y="1828800"/>
            <a:ext cx="6827520" cy="4754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682752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719328" y="1889760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938784" y="1889760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1158240" y="1889760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55904" y="2097024"/>
            <a:ext cx="65592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&lt;Project Sdk="Microsoft.NET.Sdk"&gt;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&lt;PropertyGroup&gt;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&lt;TargetFramework&gt;net8.0&lt;/TargetFramework&gt;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Package Identity --&gt;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&lt;PackageId&gt;MyAwesomeLib&lt;/PackageId&gt;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&lt;Version&gt;1.0.0&lt;/Version&gt;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&lt;Authors&gt;Binh Nguyen&lt;/Authors&gt;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&lt;Company&gt;Innova SW&lt;/Company&gt;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Package Details --&gt;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&lt;Description&gt;A reusable utility library for .NET apps&lt;/Description&gt;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&lt;PackageTags&gt;utilities;helpers;innova&lt;/PackageTags&gt;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&lt;PackageReadmeFile&gt;README.md&lt;/PackageReadmeFile&gt;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Source &amp; License --&gt;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&lt;RepositoryUrl&gt;https://github.com/OWNER/REPO&lt;/RepositoryUrl&gt;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&lt;PackageLicenseExpression&gt;MIT&lt;/PackageLicenseExpression&gt;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&lt;GeneratePackageOnBuild&gt;false&lt;/GeneratePackageOnBuild&gt;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&lt;/PropertyGroup&gt;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&lt;/Project&gt;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7802880" y="1487424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Property Reference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02880" y="1889760"/>
            <a:ext cx="3901440" cy="536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900416" y="1938528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PackageId</a:t>
            </a:r>
            <a:endParaRPr lang="en-US" sz="1133" dirty="0"/>
          </a:p>
        </p:txBody>
      </p:sp>
      <p:sp>
        <p:nvSpPr>
          <p:cNvPr id="16" name="Shape 14"/>
          <p:cNvSpPr/>
          <p:nvPr/>
        </p:nvSpPr>
        <p:spPr>
          <a:xfrm>
            <a:off x="9973056" y="1926336"/>
            <a:ext cx="451104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973056" y="1926336"/>
            <a:ext cx="45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1D4ED8"/>
                </a:solidFill>
              </a:rPr>
              <a:t>req</a:t>
            </a:r>
            <a:endParaRPr lang="en-US" sz="933" dirty="0"/>
          </a:p>
        </p:txBody>
      </p:sp>
      <p:sp>
        <p:nvSpPr>
          <p:cNvPr id="18" name="Text 16"/>
          <p:cNvSpPr/>
          <p:nvPr/>
        </p:nvSpPr>
        <p:spPr>
          <a:xfrm>
            <a:off x="7900416" y="2194560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Unique identifier on the registry</a:t>
            </a:r>
            <a:endParaRPr lang="en-US" sz="1133" dirty="0"/>
          </a:p>
        </p:txBody>
      </p:sp>
      <p:sp>
        <p:nvSpPr>
          <p:cNvPr id="19" name="Shape 17"/>
          <p:cNvSpPr/>
          <p:nvPr/>
        </p:nvSpPr>
        <p:spPr>
          <a:xfrm>
            <a:off x="7802880" y="2487168"/>
            <a:ext cx="3901440" cy="536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900416" y="2535936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133" dirty="0"/>
          </a:p>
        </p:txBody>
      </p:sp>
      <p:sp>
        <p:nvSpPr>
          <p:cNvPr id="21" name="Shape 19"/>
          <p:cNvSpPr/>
          <p:nvPr/>
        </p:nvSpPr>
        <p:spPr>
          <a:xfrm>
            <a:off x="9973056" y="2523744"/>
            <a:ext cx="451104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973056" y="2523744"/>
            <a:ext cx="45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1D4ED8"/>
                </a:solidFill>
              </a:rPr>
              <a:t>req</a:t>
            </a:r>
            <a:endParaRPr lang="en-US" sz="933" dirty="0"/>
          </a:p>
        </p:txBody>
      </p:sp>
      <p:sp>
        <p:nvSpPr>
          <p:cNvPr id="23" name="Text 21"/>
          <p:cNvSpPr/>
          <p:nvPr/>
        </p:nvSpPr>
        <p:spPr>
          <a:xfrm>
            <a:off x="7900416" y="2791968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SemVer: MAJOR.MINOR.PATCH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7802880" y="3084576"/>
            <a:ext cx="3901440" cy="536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900416" y="3133344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133" dirty="0"/>
          </a:p>
        </p:txBody>
      </p:sp>
      <p:sp>
        <p:nvSpPr>
          <p:cNvPr id="26" name="Text 24"/>
          <p:cNvSpPr/>
          <p:nvPr/>
        </p:nvSpPr>
        <p:spPr>
          <a:xfrm>
            <a:off x="7900416" y="3389376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Comma-separated author names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7802880" y="3681984"/>
            <a:ext cx="3901440" cy="536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7900416" y="3730752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1133" dirty="0"/>
          </a:p>
        </p:txBody>
      </p:sp>
      <p:sp>
        <p:nvSpPr>
          <p:cNvPr id="29" name="Text 27"/>
          <p:cNvSpPr/>
          <p:nvPr/>
        </p:nvSpPr>
        <p:spPr>
          <a:xfrm>
            <a:off x="7900416" y="3986784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Organisation / company name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7802880" y="4279392"/>
            <a:ext cx="3901440" cy="536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7900416" y="4328160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33" dirty="0"/>
          </a:p>
        </p:txBody>
      </p:sp>
      <p:sp>
        <p:nvSpPr>
          <p:cNvPr id="32" name="Text 30"/>
          <p:cNvSpPr/>
          <p:nvPr/>
        </p:nvSpPr>
        <p:spPr>
          <a:xfrm>
            <a:off x="7900416" y="4584192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Shown in NuGet browser and IDE</a:t>
            </a:r>
            <a:endParaRPr lang="en-US" sz="1133" dirty="0"/>
          </a:p>
        </p:txBody>
      </p:sp>
      <p:sp>
        <p:nvSpPr>
          <p:cNvPr id="33" name="Shape 31"/>
          <p:cNvSpPr/>
          <p:nvPr/>
        </p:nvSpPr>
        <p:spPr>
          <a:xfrm>
            <a:off x="7802880" y="4876800"/>
            <a:ext cx="3901440" cy="536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7900416" y="4925568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PackageTags</a:t>
            </a:r>
            <a:endParaRPr lang="en-US" sz="1133" dirty="0"/>
          </a:p>
        </p:txBody>
      </p:sp>
      <p:sp>
        <p:nvSpPr>
          <p:cNvPr id="35" name="Text 33"/>
          <p:cNvSpPr/>
          <p:nvPr/>
        </p:nvSpPr>
        <p:spPr>
          <a:xfrm>
            <a:off x="7900416" y="5181600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Semicolon-separated search keywords</a:t>
            </a:r>
            <a:endParaRPr lang="en-US" sz="1133" dirty="0"/>
          </a:p>
        </p:txBody>
      </p:sp>
      <p:sp>
        <p:nvSpPr>
          <p:cNvPr id="36" name="Shape 34"/>
          <p:cNvSpPr/>
          <p:nvPr/>
        </p:nvSpPr>
        <p:spPr>
          <a:xfrm>
            <a:off x="7802880" y="5474208"/>
            <a:ext cx="3901440" cy="536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7900416" y="5522976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RepositoryUrl</a:t>
            </a:r>
            <a:endParaRPr lang="en-US" sz="1133" dirty="0"/>
          </a:p>
        </p:txBody>
      </p:sp>
      <p:sp>
        <p:nvSpPr>
          <p:cNvPr id="38" name="Text 36"/>
          <p:cNvSpPr/>
          <p:nvPr/>
        </p:nvSpPr>
        <p:spPr>
          <a:xfrm>
            <a:off x="7900416" y="5779008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Link back to source code on GitHub</a:t>
            </a:r>
            <a:endParaRPr lang="en-US" sz="1133" dirty="0"/>
          </a:p>
        </p:txBody>
      </p:sp>
      <p:sp>
        <p:nvSpPr>
          <p:cNvPr id="39" name="Shape 37"/>
          <p:cNvSpPr/>
          <p:nvPr/>
        </p:nvSpPr>
        <p:spPr>
          <a:xfrm>
            <a:off x="7802880" y="6071616"/>
            <a:ext cx="3901440" cy="536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7900416" y="6120384"/>
            <a:ext cx="286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PackageLicenseExpression</a:t>
            </a:r>
            <a:endParaRPr lang="en-US" sz="1133" dirty="0"/>
          </a:p>
        </p:txBody>
      </p:sp>
      <p:sp>
        <p:nvSpPr>
          <p:cNvPr id="41" name="Text 39"/>
          <p:cNvSpPr/>
          <p:nvPr/>
        </p:nvSpPr>
        <p:spPr>
          <a:xfrm>
            <a:off x="7900416" y="6376416"/>
            <a:ext cx="36576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</a:rPr>
              <a:t>SPDX identifier, e.g. MIT, Apache-2.0</a:t>
            </a:r>
            <a:endParaRPr lang="en-US" sz="1133" dirty="0"/>
          </a:p>
        </p:txBody>
      </p:sp>
    </p:spTree>
    <p:extLst>
      <p:ext uri="{BB962C8B-B14F-4D97-AF65-F5344CB8AC3E}">
        <p14:creationId xmlns:p14="http://schemas.microsoft.com/office/powerpoint/2010/main" val="4022570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04 · VERSIONING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Versioning — Semantic Versioning (SemVer)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600" y="1560576"/>
            <a:ext cx="10972800" cy="1341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413760" y="1584960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33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933" dirty="0"/>
          </a:p>
        </p:txBody>
      </p:sp>
      <p:sp>
        <p:nvSpPr>
          <p:cNvPr id="8" name="Text 6"/>
          <p:cNvSpPr/>
          <p:nvPr/>
        </p:nvSpPr>
        <p:spPr>
          <a:xfrm>
            <a:off x="3413760" y="2474976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</a:rPr>
              <a:t>MAJOR</a:t>
            </a:r>
            <a:endParaRPr lang="en-US" sz="1067" dirty="0"/>
          </a:p>
        </p:txBody>
      </p:sp>
      <p:sp>
        <p:nvSpPr>
          <p:cNvPr id="9" name="Text 7"/>
          <p:cNvSpPr/>
          <p:nvPr/>
        </p:nvSpPr>
        <p:spPr>
          <a:xfrm>
            <a:off x="4754880" y="1584960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6933" dirty="0"/>
          </a:p>
        </p:txBody>
      </p:sp>
      <p:sp>
        <p:nvSpPr>
          <p:cNvPr id="10" name="Text 8"/>
          <p:cNvSpPr/>
          <p:nvPr/>
        </p:nvSpPr>
        <p:spPr>
          <a:xfrm>
            <a:off x="5486400" y="1584960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33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6933" dirty="0"/>
          </a:p>
        </p:txBody>
      </p:sp>
      <p:sp>
        <p:nvSpPr>
          <p:cNvPr id="11" name="Text 9"/>
          <p:cNvSpPr/>
          <p:nvPr/>
        </p:nvSpPr>
        <p:spPr>
          <a:xfrm>
            <a:off x="5486400" y="2474976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</a:rPr>
              <a:t>MINOR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6827520" y="1584960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6933" dirty="0"/>
          </a:p>
        </p:txBody>
      </p:sp>
      <p:sp>
        <p:nvSpPr>
          <p:cNvPr id="13" name="Text 11"/>
          <p:cNvSpPr/>
          <p:nvPr/>
        </p:nvSpPr>
        <p:spPr>
          <a:xfrm>
            <a:off x="7559040" y="1584960"/>
            <a:ext cx="1097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33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6933" dirty="0"/>
          </a:p>
        </p:txBody>
      </p:sp>
      <p:sp>
        <p:nvSpPr>
          <p:cNvPr id="14" name="Text 12"/>
          <p:cNvSpPr/>
          <p:nvPr/>
        </p:nvSpPr>
        <p:spPr>
          <a:xfrm>
            <a:off x="7559040" y="2474976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</a:rPr>
              <a:t>PATCH</a:t>
            </a:r>
            <a:endParaRPr lang="en-US" sz="1067" dirty="0"/>
          </a:p>
        </p:txBody>
      </p:sp>
      <p:sp>
        <p:nvSpPr>
          <p:cNvPr id="15" name="Shape 13"/>
          <p:cNvSpPr/>
          <p:nvPr/>
        </p:nvSpPr>
        <p:spPr>
          <a:xfrm>
            <a:off x="609600" y="3316224"/>
            <a:ext cx="268224" cy="2682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1036320" y="3194304"/>
            <a:ext cx="1463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F4444"/>
                </a:solidFill>
              </a:rPr>
              <a:t>MAJOR: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21280" y="3194304"/>
            <a:ext cx="8961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Breaking changes — API is not backwards compatible with previous version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4230624"/>
            <a:ext cx="268224" cy="2682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036320" y="4108704"/>
            <a:ext cx="1463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9E0B"/>
                </a:solidFill>
              </a:rPr>
              <a:t>MINOR: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21280" y="4108704"/>
            <a:ext cx="8961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New features — backwards compatible additions, no existing APIs removed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5145024"/>
            <a:ext cx="268224" cy="2682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036320" y="5023104"/>
            <a:ext cx="1463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0B981"/>
                </a:solidFill>
              </a:rPr>
              <a:t>PATCH: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21280" y="5023104"/>
            <a:ext cx="8961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Bug fixes only — backwards compatible fixes with no new functionality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6010656"/>
            <a:ext cx="1097280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09600" y="6010656"/>
            <a:ext cx="85344" cy="7071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914400" y="6144768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</a:rPr>
              <a:t>Pre-release: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2621280" y="6144768"/>
            <a:ext cx="8656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1.0.0-alpha  ·  1.0.0-beta.1  ·  1.0.0-rc.2   |   Set via &lt;Version&gt; tag or: dotnet pack --version-suffix beta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283077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05 · BUILD &amp; PACK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NuGet Package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5852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</a:rPr>
              <a:t>1.  Build in Release mode</a:t>
            </a:r>
            <a:endParaRPr lang="en-US" sz="1667" dirty="0"/>
          </a:p>
        </p:txBody>
      </p:sp>
      <p:sp>
        <p:nvSpPr>
          <p:cNvPr id="7" name="Shape 5"/>
          <p:cNvSpPr/>
          <p:nvPr/>
        </p:nvSpPr>
        <p:spPr>
          <a:xfrm>
            <a:off x="609600" y="1914144"/>
            <a:ext cx="5852160" cy="67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600" y="1914144"/>
            <a:ext cx="585216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719328" y="1975104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938784" y="1975104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1158240" y="1975104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55904" y="2182368"/>
            <a:ext cx="55839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build --configuration Release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609600" y="2767584"/>
            <a:ext cx="5852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</a:rPr>
              <a:t>2.  Create the NuGet package</a:t>
            </a:r>
            <a:endParaRPr lang="en-US" sz="1667" dirty="0"/>
          </a:p>
        </p:txBody>
      </p:sp>
      <p:sp>
        <p:nvSpPr>
          <p:cNvPr id="14" name="Shape 12"/>
          <p:cNvSpPr/>
          <p:nvPr/>
        </p:nvSpPr>
        <p:spPr>
          <a:xfrm>
            <a:off x="609600" y="3157728"/>
            <a:ext cx="5852160" cy="75590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09600" y="3157728"/>
            <a:ext cx="585216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719328" y="3218688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938784" y="3218688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1158240" y="3218688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55904" y="3425952"/>
            <a:ext cx="558393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pack --configuration Release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bin/Release/MyAwesomeLib.1.0.0.nupkg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09600" y="4096512"/>
            <a:ext cx="5852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</a:rPr>
              <a:t>3.  Pack with version override</a:t>
            </a:r>
            <a:endParaRPr lang="en-US" sz="1667" dirty="0"/>
          </a:p>
        </p:txBody>
      </p:sp>
      <p:sp>
        <p:nvSpPr>
          <p:cNvPr id="21" name="Shape 19"/>
          <p:cNvSpPr/>
          <p:nvPr/>
        </p:nvSpPr>
        <p:spPr>
          <a:xfrm>
            <a:off x="609600" y="4486656"/>
            <a:ext cx="5852160" cy="67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09600" y="4486656"/>
            <a:ext cx="585216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719328" y="4547616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938784" y="4547616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1158240" y="4547616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55904" y="4754880"/>
            <a:ext cx="55839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pack -p:Version=2.0.0 --configuration Release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609600" y="5340096"/>
            <a:ext cx="5852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</a:rPr>
              <a:t>4.  Combine in one command</a:t>
            </a:r>
            <a:endParaRPr lang="en-US" sz="1667" dirty="0"/>
          </a:p>
        </p:txBody>
      </p:sp>
      <p:sp>
        <p:nvSpPr>
          <p:cNvPr id="28" name="Shape 26"/>
          <p:cNvSpPr/>
          <p:nvPr/>
        </p:nvSpPr>
        <p:spPr>
          <a:xfrm>
            <a:off x="609600" y="5730240"/>
            <a:ext cx="5852160" cy="67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609600" y="5730240"/>
            <a:ext cx="585216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719328" y="5791200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938784" y="5791200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1158240" y="5791200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755904" y="5998464"/>
            <a:ext cx="55839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build &amp;&amp; dotnet pack -c Release -o ./artifacts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888480" y="1524000"/>
            <a:ext cx="4876800" cy="4876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7132320" y="1731264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</a:rPr>
              <a:t>What's inside a .nupkg?</a:t>
            </a:r>
            <a:endParaRPr lang="en-US" sz="1667" dirty="0"/>
          </a:p>
        </p:txBody>
      </p:sp>
      <p:sp>
        <p:nvSpPr>
          <p:cNvPr id="36" name="Shape 34"/>
          <p:cNvSpPr/>
          <p:nvPr/>
        </p:nvSpPr>
        <p:spPr>
          <a:xfrm>
            <a:off x="7132320" y="2194560"/>
            <a:ext cx="438912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7132320" y="2194560"/>
            <a:ext cx="4389120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7242048" y="2255520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7461504" y="2255520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7680960" y="2255520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7278624" y="2462784"/>
            <a:ext cx="412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MyAwesomeLib.1.0.0.nupkg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(it's a ZIP file!)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MyAwesomeLib.nuspec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 package metadata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net8.0/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MyAwesomeLib.dll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MyAwesomeLib.xml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[Content_Types].xml</a:t>
            </a:r>
            <a:endParaRPr lang="en-US" sz="1333" dirty="0"/>
          </a:p>
          <a:p>
            <a:r>
              <a:rPr lang="en-US" sz="13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_rels/.rels</a:t>
            </a:r>
            <a:endParaRPr lang="en-US" sz="1333" dirty="0"/>
          </a:p>
        </p:txBody>
      </p:sp>
      <p:sp>
        <p:nvSpPr>
          <p:cNvPr id="42" name="Text 40"/>
          <p:cNvSpPr/>
          <p:nvPr/>
        </p:nvSpPr>
        <p:spPr>
          <a:xfrm>
            <a:off x="7132320" y="5388864"/>
            <a:ext cx="43891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64748B"/>
                </a:solidFill>
              </a:rPr>
              <a:t>💡 Rename .nupkg → .zip to inspect it with any archive tool.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685577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06 · PUBLISH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GitHub Packages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600" y="1371600"/>
            <a:ext cx="5425440" cy="3390900"/>
          </a:xfrm>
          <a:prstGeom prst="rect">
            <a:avLst/>
          </a:prstGeom>
          <a:solidFill>
            <a:srgbClr val="1A253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1371600"/>
            <a:ext cx="85344" cy="33893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77824" y="155448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Option A — Push via dotnet CLI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2066544"/>
            <a:ext cx="4974336" cy="2590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877824" y="2066544"/>
            <a:ext cx="4974336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987552" y="2127504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1207008" y="2127504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426464" y="2127504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024128" y="2334768"/>
            <a:ext cx="4706112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nuget push \</a:t>
            </a:r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bin/Release/MyAwesomeLib.1.0.0.nupkg \</a:t>
            </a:r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"github" \</a:t>
            </a:r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--api-key YOUR_PAT_TOKEN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Wildcard — push all packages:</a:t>
            </a:r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nuget push bin/Release/*.nupkg \</a:t>
            </a:r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"github" \</a:t>
            </a:r>
            <a:endParaRPr lang="en-US" sz="1333" dirty="0"/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--api-key $GITHUB_TOKEN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278880" y="1371600"/>
            <a:ext cx="5425440" cy="3390900"/>
          </a:xfrm>
          <a:prstGeom prst="rect">
            <a:avLst/>
          </a:prstGeom>
          <a:solidFill>
            <a:srgbClr val="1A2533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278880" y="1371600"/>
            <a:ext cx="85344" cy="33893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547104" y="155448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Option B — GitHub Actions (CI/CD)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47104" y="2066544"/>
            <a:ext cx="4974336" cy="2590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547104" y="2066544"/>
            <a:ext cx="4974336" cy="243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656832" y="2127504"/>
            <a:ext cx="158496" cy="1584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876288" y="2127504"/>
            <a:ext cx="158496" cy="1584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7095744" y="2127504"/>
            <a:ext cx="158496" cy="1584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693408" y="2334768"/>
            <a:ext cx="4706112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name: Publish to GitHub Packages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on: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push: { tags: ['v*.*.*'] }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jobs: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publish: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runs-on: ubuntu-latest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steps: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- uses: actions/checkout@v4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- run: dotnet pack -c Release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- run: dotnet nuget push \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    **/*.nupkg --source github \</a:t>
            </a:r>
          </a:p>
          <a:p>
            <a:r>
              <a:rPr lang="en-US" sz="1333" dirty="0">
                <a:solidFill>
                  <a:srgbClr val="A8FF60"/>
                </a:solidFill>
                <a:latin typeface="Consolas" pitchFamily="34" charset="0"/>
              </a:rPr>
              <a:t>        --api-key ${{secrets.GITHUB_TOKEN}}</a:t>
            </a:r>
          </a:p>
        </p:txBody>
      </p:sp>
      <p:sp>
        <p:nvSpPr>
          <p:cNvPr id="24" name="Shape 22"/>
          <p:cNvSpPr/>
          <p:nvPr/>
        </p:nvSpPr>
        <p:spPr>
          <a:xfrm>
            <a:off x="426720" y="5105400"/>
            <a:ext cx="1975104" cy="63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426720" y="5105400"/>
            <a:ext cx="197510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Build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2401824" y="5105400"/>
            <a:ext cx="3413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2743200" y="5105400"/>
            <a:ext cx="1975104" cy="635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2743200" y="5105400"/>
            <a:ext cx="197510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Pack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4718304" y="5105400"/>
            <a:ext cx="3413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5059680" y="5105400"/>
            <a:ext cx="1975104" cy="63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5059680" y="5105400"/>
            <a:ext cx="197510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Authenticate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7034784" y="5105400"/>
            <a:ext cx="3413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7376160" y="5105400"/>
            <a:ext cx="1975104" cy="635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7376160" y="5105400"/>
            <a:ext cx="197510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Push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9351264" y="5105400"/>
            <a:ext cx="3413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9692640" y="5105400"/>
            <a:ext cx="1975104" cy="63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9692640" y="5105400"/>
            <a:ext cx="197510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Verify on GitHub</a:t>
            </a:r>
            <a:endParaRPr lang="en-US" sz="1467" dirty="0"/>
          </a:p>
        </p:txBody>
      </p:sp>
      <p:sp>
        <p:nvSpPr>
          <p:cNvPr id="38" name="Shape 36"/>
          <p:cNvSpPr/>
          <p:nvPr/>
        </p:nvSpPr>
        <p:spPr>
          <a:xfrm>
            <a:off x="609600" y="5867400"/>
            <a:ext cx="10972800" cy="633984"/>
          </a:xfrm>
          <a:prstGeom prst="rect">
            <a:avLst/>
          </a:prstGeom>
          <a:solidFill>
            <a:srgbClr val="0D4A42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853440" y="5867400"/>
            <a:ext cx="106070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2F8F5"/>
                </a:solidFill>
              </a:rPr>
              <a:t>✅  After pushing, navigate to your GitHub repo → click the Packages tab to see your published package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774074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93292-F795-51B3-64D9-73E12F88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85" y="315168"/>
            <a:ext cx="11916095" cy="637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53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94A3B8"/>
                </a:solidFill>
              </a:rPr>
              <a:t>From code to published package — step by step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365760" y="1487424"/>
            <a:ext cx="1804416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487424"/>
            <a:ext cx="1804416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926592" y="1731264"/>
            <a:ext cx="682752" cy="682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926592" y="173126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1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438912" y="2584704"/>
            <a:ext cx="16581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Create Library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3352800"/>
            <a:ext cx="1658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new classlib</a:t>
            </a:r>
            <a:endParaRPr lang="en-US" sz="1133" dirty="0"/>
          </a:p>
        </p:txBody>
      </p:sp>
      <p:sp>
        <p:nvSpPr>
          <p:cNvPr id="10" name="Shape 8"/>
          <p:cNvSpPr/>
          <p:nvPr/>
        </p:nvSpPr>
        <p:spPr>
          <a:xfrm>
            <a:off x="2170176" y="3230880"/>
            <a:ext cx="207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2377440" y="1487424"/>
            <a:ext cx="1804416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2377440" y="1487424"/>
            <a:ext cx="1804416" cy="853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2938272" y="1731264"/>
            <a:ext cx="682752" cy="6827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938272" y="173126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2</a:t>
            </a:r>
            <a:endParaRPr lang="en-US" sz="2667" dirty="0"/>
          </a:p>
        </p:txBody>
      </p:sp>
      <p:sp>
        <p:nvSpPr>
          <p:cNvPr id="15" name="Text 13"/>
          <p:cNvSpPr/>
          <p:nvPr/>
        </p:nvSpPr>
        <p:spPr>
          <a:xfrm>
            <a:off x="2450592" y="2584704"/>
            <a:ext cx="16581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Write &amp; Test 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50592" y="3352800"/>
            <a:ext cx="1658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your public API</a:t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4181856" y="3230880"/>
            <a:ext cx="207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4389120" y="1487424"/>
            <a:ext cx="1804416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4389120" y="1487424"/>
            <a:ext cx="1804416" cy="853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949952" y="1731264"/>
            <a:ext cx="682752" cy="6827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949952" y="173126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3</a:t>
            </a:r>
            <a:endParaRPr lang="en-US" sz="2667" dirty="0"/>
          </a:p>
        </p:txBody>
      </p:sp>
      <p:sp>
        <p:nvSpPr>
          <p:cNvPr id="22" name="Text 20"/>
          <p:cNvSpPr/>
          <p:nvPr/>
        </p:nvSpPr>
        <p:spPr>
          <a:xfrm>
            <a:off x="4462272" y="2584704"/>
            <a:ext cx="16581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Edit Metadata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2272" y="3352800"/>
            <a:ext cx="1658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PackageId, Version, Authors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6193536" y="3230880"/>
            <a:ext cx="207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400800" y="1487424"/>
            <a:ext cx="1804416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6400800" y="1487424"/>
            <a:ext cx="1804416" cy="85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6961632" y="1731264"/>
            <a:ext cx="682752" cy="682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961632" y="173126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4</a:t>
            </a:r>
            <a:endParaRPr lang="en-US" sz="2667" dirty="0"/>
          </a:p>
        </p:txBody>
      </p:sp>
      <p:sp>
        <p:nvSpPr>
          <p:cNvPr id="29" name="Text 27"/>
          <p:cNvSpPr/>
          <p:nvPr/>
        </p:nvSpPr>
        <p:spPr>
          <a:xfrm>
            <a:off x="6473952" y="2584704"/>
            <a:ext cx="16581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Build &amp; Pack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73952" y="3352800"/>
            <a:ext cx="1658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pack -c Release</a:t>
            </a:r>
            <a:endParaRPr lang="en-US" sz="1133" dirty="0"/>
          </a:p>
        </p:txBody>
      </p:sp>
      <p:sp>
        <p:nvSpPr>
          <p:cNvPr id="31" name="Shape 29"/>
          <p:cNvSpPr/>
          <p:nvPr/>
        </p:nvSpPr>
        <p:spPr>
          <a:xfrm>
            <a:off x="8205216" y="3230880"/>
            <a:ext cx="207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8412480" y="1487424"/>
            <a:ext cx="1804416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8412480" y="1487424"/>
            <a:ext cx="1804416" cy="853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8973312" y="1731264"/>
            <a:ext cx="682752" cy="6827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8973312" y="173126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5</a:t>
            </a:r>
            <a:endParaRPr lang="en-US" sz="2667" dirty="0"/>
          </a:p>
        </p:txBody>
      </p:sp>
      <p:sp>
        <p:nvSpPr>
          <p:cNvPr id="36" name="Text 34"/>
          <p:cNvSpPr/>
          <p:nvPr/>
        </p:nvSpPr>
        <p:spPr>
          <a:xfrm>
            <a:off x="8485632" y="2584704"/>
            <a:ext cx="16581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Authenticate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85632" y="3352800"/>
            <a:ext cx="1658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source + PAT token</a:t>
            </a:r>
            <a:endParaRPr lang="en-US" sz="1133" dirty="0"/>
          </a:p>
        </p:txBody>
      </p:sp>
      <p:sp>
        <p:nvSpPr>
          <p:cNvPr id="38" name="Shape 36"/>
          <p:cNvSpPr/>
          <p:nvPr/>
        </p:nvSpPr>
        <p:spPr>
          <a:xfrm>
            <a:off x="10216896" y="3230880"/>
            <a:ext cx="20726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10424160" y="1487424"/>
            <a:ext cx="1804416" cy="347472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10424160" y="1487424"/>
            <a:ext cx="1804416" cy="85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10984992" y="1731264"/>
            <a:ext cx="682752" cy="6827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10984992" y="173126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6</a:t>
            </a:r>
            <a:endParaRPr lang="en-US" sz="2667" dirty="0"/>
          </a:p>
        </p:txBody>
      </p:sp>
      <p:sp>
        <p:nvSpPr>
          <p:cNvPr id="43" name="Text 41"/>
          <p:cNvSpPr/>
          <p:nvPr/>
        </p:nvSpPr>
        <p:spPr>
          <a:xfrm>
            <a:off x="10497312" y="2584704"/>
            <a:ext cx="16581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Push Package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497312" y="3352800"/>
            <a:ext cx="16581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nuget push</a:t>
            </a:r>
            <a:endParaRPr lang="en-US" sz="1133" dirty="0"/>
          </a:p>
        </p:txBody>
      </p:sp>
      <p:sp>
        <p:nvSpPr>
          <p:cNvPr id="45" name="Shape 43"/>
          <p:cNvSpPr/>
          <p:nvPr/>
        </p:nvSpPr>
        <p:spPr>
          <a:xfrm>
            <a:off x="609600" y="5181600"/>
            <a:ext cx="10972800" cy="131673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6" name="Shape 44"/>
          <p:cNvSpPr/>
          <p:nvPr/>
        </p:nvSpPr>
        <p:spPr>
          <a:xfrm>
            <a:off x="609600" y="5181600"/>
            <a:ext cx="109728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853440" y="5388864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</a:rPr>
              <a:t>Package consumers install with:</a:t>
            </a:r>
            <a:endParaRPr lang="en-US" sz="1533" dirty="0"/>
          </a:p>
        </p:txBody>
      </p:sp>
      <p:sp>
        <p:nvSpPr>
          <p:cNvPr id="48" name="Text 46"/>
          <p:cNvSpPr/>
          <p:nvPr/>
        </p:nvSpPr>
        <p:spPr>
          <a:xfrm>
            <a:off x="5120640" y="5388864"/>
            <a:ext cx="6217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MyAwesomeLib --source "github"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53440" y="5876544"/>
            <a:ext cx="10607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&lt;PackageReference Include="MyAwesomeLib" Version="1.0.0" /&gt;</a:t>
            </a:r>
            <a:endParaRPr lang="en-US" sz="1333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292608"/>
            <a:ext cx="231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BEST PRACTICES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600" y="1584960"/>
            <a:ext cx="5364480" cy="2218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9600" y="1584960"/>
            <a:ext cx="5364480" cy="487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92480" y="16459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Versioning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853440" y="23164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170432" y="221894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Always follow Semantic Versioning (SemVer)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853440" y="280416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170432" y="270662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Bump MAJOR for any breaking API change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853440" y="32918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170432" y="319430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Use pre-release tags (alpha/beta/rc) for staging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400800" y="1584960"/>
            <a:ext cx="5364480" cy="2218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400800" y="1584960"/>
            <a:ext cx="5364480" cy="48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Security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6644640" y="23164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961632" y="221894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Never commit PAT tokens to source control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644640" y="280416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961632" y="270662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Use environment variables or GitHub Secrets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6644640" y="329184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961632" y="319430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Rotate tokens regularly and limit scopes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09600" y="4023360"/>
            <a:ext cx="5364480" cy="2218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09600" y="4023360"/>
            <a:ext cx="5364480" cy="48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92480" y="40843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Quality</a:t>
            </a:r>
            <a:endParaRPr lang="en-US" sz="1733" dirty="0"/>
          </a:p>
        </p:txBody>
      </p:sp>
      <p:sp>
        <p:nvSpPr>
          <p:cNvPr id="27" name="Shape 25"/>
          <p:cNvSpPr/>
          <p:nvPr/>
        </p:nvSpPr>
        <p:spPr>
          <a:xfrm>
            <a:off x="853440" y="47548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1170432" y="465734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Add XML doc comments to all public APIs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853440" y="52425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1170432" y="514502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Include a README.md in your package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853440" y="57302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1170432" y="563270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Write unit tests before publishing stable versions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6400800" y="4023360"/>
            <a:ext cx="5364480" cy="2218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6400800" y="4023360"/>
            <a:ext cx="5364480" cy="487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6583680" y="40843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CI / CD</a:t>
            </a:r>
            <a:endParaRPr lang="en-US" sz="1733" dirty="0"/>
          </a:p>
        </p:txBody>
      </p:sp>
      <p:sp>
        <p:nvSpPr>
          <p:cNvPr id="36" name="Shape 34"/>
          <p:cNvSpPr/>
          <p:nvPr/>
        </p:nvSpPr>
        <p:spPr>
          <a:xfrm>
            <a:off x="6644640" y="475488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6961632" y="465734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Automate publishing with GitHub Actions</a:t>
            </a:r>
            <a:endParaRPr lang="en-US" sz="1467" dirty="0"/>
          </a:p>
        </p:txBody>
      </p:sp>
      <p:sp>
        <p:nvSpPr>
          <p:cNvPr id="38" name="Shape 36"/>
          <p:cNvSpPr/>
          <p:nvPr/>
        </p:nvSpPr>
        <p:spPr>
          <a:xfrm>
            <a:off x="6644640" y="52425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6961632" y="514502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Trigger publish only on version tags (v*.*.*)</a:t>
            </a:r>
            <a:endParaRPr lang="en-US" sz="1467" dirty="0"/>
          </a:p>
        </p:txBody>
      </p:sp>
      <p:sp>
        <p:nvSpPr>
          <p:cNvPr id="40" name="Shape 38"/>
          <p:cNvSpPr/>
          <p:nvPr/>
        </p:nvSpPr>
        <p:spPr>
          <a:xfrm>
            <a:off x="6644640" y="57302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6961632" y="5632704"/>
            <a:ext cx="46085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Use GITHUB_TOKEN where possible — no PAT needed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5267332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EE49-5CAB-CB3D-2A6D-96F32E8A03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rgbClr val="E8EDF2"/>
                </a:solidFill>
              </a:rPr>
              <a:t>Key Takeaways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5E770-2BAB-6E8F-F4A7-CF9C30205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B0BEC5"/>
                </a:solidFill>
              </a:rPr>
              <a:t>MassTransit = consistent .NET messaging API across brokers</a:t>
            </a:r>
          </a:p>
          <a:p>
            <a:pPr algn="ctr">
              <a:buNone/>
            </a:pPr>
            <a:r>
              <a:rPr lang="en-US" sz="1600" dirty="0">
                <a:solidFill>
                  <a:srgbClr val="B0BEC5"/>
                </a:solidFill>
              </a:rPr>
              <a:t>RabbitMQ = exchanges + queues + exchange-to-exchange bindings</a:t>
            </a:r>
          </a:p>
          <a:p>
            <a:pPr algn="ctr">
              <a:buNone/>
            </a:pPr>
            <a:r>
              <a:rPr lang="en-US" sz="1600" dirty="0">
                <a:solidFill>
                  <a:srgbClr val="B0BEC5"/>
                </a:solidFill>
              </a:rPr>
              <a:t>Commands target queues — Events fan out to all subscribers</a:t>
            </a:r>
          </a:p>
          <a:p>
            <a:pPr algn="ctr">
              <a:buNone/>
            </a:pPr>
            <a:r>
              <a:rPr lang="en-US" sz="1600" dirty="0">
                <a:solidFill>
                  <a:srgbClr val="FF6B35"/>
                </a:solidFill>
              </a:rPr>
              <a:t>Reliability: Retries + Redelivery + Outbox + Fault Queues</a:t>
            </a:r>
          </a:p>
          <a:p>
            <a:pPr algn="ctr">
              <a:buNone/>
            </a:pPr>
            <a:r>
              <a:rPr lang="en-US" sz="1600" dirty="0">
                <a:solidFill>
                  <a:srgbClr val="FF6B35"/>
                </a:solidFill>
              </a:rPr>
              <a:t>Sagas: Long-running workflows via explicit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4202436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377D-3F58-D004-9B86-2AC113E39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C73C6-3FEC-6906-FE98-9DDFC3D47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1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638906048]">
  <a:themeElements>
    <a:clrScheme name="Office">
      <a:dk1>
        <a:srgbClr val="E8EDF2"/>
      </a:dk1>
      <a:lt1>
        <a:srgbClr val="0F1923"/>
      </a:lt1>
      <a:dk2>
        <a:srgbClr val="B0BEC5"/>
      </a:dk2>
      <a:lt2>
        <a:srgbClr val="1A2533"/>
      </a:lt2>
      <a:accent1>
        <a:srgbClr val="FF6B35"/>
      </a:accent1>
      <a:accent2>
        <a:srgbClr val="00C9A7"/>
      </a:accent2>
      <a:accent3>
        <a:srgbClr val="4A90D9"/>
      </a:accent3>
      <a:accent4>
        <a:srgbClr val="F7B731"/>
      </a:accent4>
      <a:accent5>
        <a:srgbClr val="9B59B6"/>
      </a:accent5>
      <a:accent6>
        <a:srgbClr val="E74C3C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7907074501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9F8B87-703B-4820-8609-0CE555C84ACF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ab7cb11-795e-4faa-a2b3-bde83ccb5d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5065</Words>
  <Application>Microsoft Office PowerPoint</Application>
  <PresentationFormat>Widescreen</PresentationFormat>
  <Paragraphs>805</Paragraphs>
  <Slides>46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Aptos</vt:lpstr>
      <vt:lpstr>Arial</vt:lpstr>
      <vt:lpstr>Calibri</vt:lpstr>
      <vt:lpstr>Cascadia Code</vt:lpstr>
      <vt:lpstr>Consolas</vt:lpstr>
      <vt:lpstr>Segoe UI</vt:lpstr>
      <vt:lpstr>Segoe UI Semibold</vt:lpstr>
      <vt:lpstr>Office Theme [1778638906048]</vt:lpstr>
      <vt:lpstr>Office Theme [1779070745011]</vt:lpstr>
      <vt:lpstr>PowerPoint Presentation</vt:lpstr>
      <vt:lpstr>Agenda</vt:lpstr>
      <vt:lpstr>What is MassTransit?</vt:lpstr>
      <vt:lpstr>RabbitMQ Overview</vt:lpstr>
      <vt:lpstr>Messages &amp; Contracts</vt:lpstr>
      <vt:lpstr>Producers &amp; Consumers</vt:lpstr>
      <vt:lpstr>Publish vs Send</vt:lpstr>
      <vt:lpstr>When to Use Publish vs Send</vt:lpstr>
      <vt:lpstr>PowerPoint Presentation</vt:lpstr>
      <vt:lpstr>PowerPoint Presentation</vt:lpstr>
      <vt:lpstr>PUBLISH — Event (fan-out)</vt:lpstr>
      <vt:lpstr>SEND — Command (point-to-point)</vt:lpstr>
      <vt:lpstr>Competing Consumers — Scale-out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Reliability: Retries, Redelivery &amp; Outbox</vt:lpstr>
      <vt:lpstr>PowerPoint Presentation</vt:lpstr>
      <vt:lpstr>PowerPoint Presentation</vt:lpstr>
      <vt:lpstr>PowerPoint Presentation</vt:lpstr>
      <vt:lpstr>Sagas &amp; State Machines</vt:lpstr>
      <vt:lpstr>PowerPoint Presentation</vt:lpstr>
      <vt:lpstr>PowerPoint Presentation</vt:lpstr>
      <vt:lpstr>State Machine Example: Order Flow</vt:lpstr>
      <vt:lpstr>Configuration &amp; Setup</vt:lpstr>
      <vt:lpstr>Best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Khoa Cao</dc:creator>
  <cp:lastModifiedBy>Khoa Cao</cp:lastModifiedBy>
  <cp:revision>11</cp:revision>
  <dcterms:created xsi:type="dcterms:W3CDTF">2026-05-13T02:21:45Z</dcterms:created>
  <dcterms:modified xsi:type="dcterms:W3CDTF">2026-05-27T06:16:59Z</dcterms:modified>
</cp:coreProperties>
</file>